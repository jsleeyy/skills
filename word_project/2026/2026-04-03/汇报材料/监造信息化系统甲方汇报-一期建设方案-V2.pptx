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4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512064"/>
            <a:ext cx="1051560" cy="73152"/>
          </a:xfrm>
          <a:prstGeom prst="rect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786384"/>
            <a:ext cx="11064240" cy="914400"/>
          </a:xfrm>
          <a:prstGeom prst="round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监造信息化系统甲方汇报PPT V2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500">
                <a:solidFill>
                  <a:srgbClr val="D7E6FF"/>
                </a:solidFill>
                <a:latin typeface="Microsoft YaHei"/>
              </a:defRPr>
            </a:pPr>
            <a:r>
              <a:t>按“封面→全景→模块→关系→SOP→软硬件→二期→收口”8页结构重构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74519"/>
            <a:ext cx="5559552" cy="749808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本次汇报核心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FFFFFF"/>
                </a:solidFill>
                <a:latin typeface="Microsoft YaHei"/>
              </a:defRPr>
            </a:pPr>
            <a:r>
              <a:t>你能直接看到：模块按钮对应实际工作动作，流程图可以落地，SOP和入场验收可执行。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874519"/>
            <a:ext cx="5559552" cy="749808"/>
          </a:xfrm>
          <a:prstGeom prst="roundRect">
            <a:avLst/>
          </a:prstGeom>
          <a:solidFill>
            <a:srgbClr val="1FA597"/>
          </a:solidFill>
          <a:ln w="12700">
            <a:solidFill>
              <a:srgbClr val="1FA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甲方关注点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FFFFFF"/>
                </a:solidFill>
                <a:latin typeface="Microsoft YaHei"/>
              </a:defRPr>
            </a:pPr>
            <a:r>
              <a:t>当前属于一期开发阶段，二期预留防造假管理、数据信息资源库及AI识别功能。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926080"/>
            <a:ext cx="3520440" cy="1783080"/>
          </a:xfrm>
          <a:prstGeom prst="roundRect">
            <a:avLst/>
          </a:prstGeom>
          <a:solidFill>
            <a:srgbClr val="133154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业务链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130">
                <a:solidFill>
                  <a:srgbClr val="E6F0FF"/>
                </a:solidFill>
                <a:latin typeface="Microsoft YaHei"/>
              </a:defRPr>
            </a:pPr>
            <a:r>
              <a:t>基础建模→执行准备→监督执行→交付收口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130">
                <a:solidFill>
                  <a:srgbClr val="E6F0FF"/>
                </a:solidFill>
                <a:latin typeface="Microsoft YaHei"/>
              </a:defRPr>
            </a:pPr>
            <a:r>
              <a:t>主业务链先闭环，系统先跑通用起来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62272" y="2926080"/>
            <a:ext cx="3520440" cy="1783080"/>
          </a:xfrm>
          <a:prstGeom prst="roundRect">
            <a:avLst/>
          </a:prstGeom>
          <a:solidFill>
            <a:srgbClr val="133154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项目链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130">
                <a:solidFill>
                  <a:srgbClr val="E6F0FF"/>
                </a:solidFill>
                <a:latin typeface="Microsoft YaHei"/>
              </a:defRPr>
            </a:pPr>
            <a:r>
              <a:t>10个SOP阶段、明确主责/配合/动作/Gate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130">
                <a:solidFill>
                  <a:srgbClr val="E6F0FF"/>
                </a:solidFill>
                <a:latin typeface="Microsoft YaHei"/>
              </a:defRPr>
            </a:pPr>
            <a:r>
              <a:t>不是“开发完就上线”，而是按周期节点推进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66176" y="2926080"/>
            <a:ext cx="3520440" cy="1783080"/>
          </a:xfrm>
          <a:prstGeom prst="roundRect">
            <a:avLst/>
          </a:prstGeom>
          <a:solidFill>
            <a:srgbClr val="133154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落地链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130">
                <a:solidFill>
                  <a:srgbClr val="E6F0FF"/>
                </a:solidFill>
                <a:latin typeface="Microsoft YaHei"/>
              </a:defRPr>
            </a:pPr>
            <a:r>
              <a:t>软硬件入场时机与验收标准逐项落地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130">
                <a:solidFill>
                  <a:srgbClr val="E6F0FF"/>
                </a:solidFill>
                <a:latin typeface="Microsoft YaHei"/>
              </a:defRPr>
            </a:pPr>
            <a:r>
              <a:t>环境、部署、联调、验收全都讲清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5074920"/>
            <a:ext cx="2542032" cy="868680"/>
          </a:xfrm>
          <a:prstGeom prst="roundRect">
            <a:avLst/>
          </a:prstGeom>
          <a:solidFill>
            <a:srgbClr val="0F2B4B"/>
          </a:solidFill>
          <a:ln w="12700">
            <a:solidFill>
              <a:srgbClr val="24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27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1000">
                <a:solidFill>
                  <a:srgbClr val="C6D7F5"/>
                </a:solidFill>
                <a:latin typeface="Microsoft YaHei"/>
              </a:defRPr>
            </a:pPr>
            <a:r>
              <a:t>原始需求模块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9856" y="5074920"/>
            <a:ext cx="2542032" cy="868680"/>
          </a:xfrm>
          <a:prstGeom prst="roundRect">
            <a:avLst/>
          </a:prstGeom>
          <a:solidFill>
            <a:srgbClr val="0F2B4B"/>
          </a:solidFill>
          <a:ln w="12700">
            <a:solidFill>
              <a:srgbClr val="24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1000">
                <a:solidFill>
                  <a:srgbClr val="C6D7F5"/>
                </a:solidFill>
                <a:latin typeface="Microsoft YaHei"/>
              </a:defRPr>
            </a:pPr>
            <a:r>
              <a:t>核心流程模块展开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5074920"/>
            <a:ext cx="2542032" cy="868680"/>
          </a:xfrm>
          <a:prstGeom prst="roundRect">
            <a:avLst/>
          </a:prstGeom>
          <a:solidFill>
            <a:srgbClr val="0F2B4B"/>
          </a:solidFill>
          <a:ln w="12700">
            <a:solidFill>
              <a:srgbClr val="24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1000">
                <a:solidFill>
                  <a:srgbClr val="C6D7F5"/>
                </a:solidFill>
                <a:latin typeface="Microsoft YaHei"/>
              </a:defRPr>
            </a:pPr>
            <a:r>
              <a:t>SOP阶段节点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42832" y="5074920"/>
            <a:ext cx="2542032" cy="868680"/>
          </a:xfrm>
          <a:prstGeom prst="roundRect">
            <a:avLst/>
          </a:prstGeom>
          <a:solidFill>
            <a:srgbClr val="0F2B4B"/>
          </a:solidFill>
          <a:ln w="12700">
            <a:solidFill>
              <a:srgbClr val="24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1000">
                <a:solidFill>
                  <a:srgbClr val="C6D7F5"/>
                </a:solidFill>
                <a:latin typeface="Microsoft YaHei"/>
              </a:defRPr>
            </a:pPr>
            <a:r>
              <a:t>软硬件对象大类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28016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业务全景总览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" y="804672"/>
            <a:ext cx="5715000" cy="640080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本页核心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FFFFFF"/>
                </a:solidFill>
                <a:latin typeface="Microsoft YaHei"/>
              </a:defRPr>
            </a:pPr>
            <a:r>
              <a:t>先让你看到5个阶段怎么串起来，以及每个阶段到底解决什么问题。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6208" y="804672"/>
            <a:ext cx="5605272" cy="640080"/>
          </a:xfrm>
          <a:prstGeom prst="roundRect">
            <a:avLst/>
          </a:prstGeom>
          <a:solidFill>
            <a:srgbClr val="1FA597"/>
          </a:solidFill>
          <a:ln w="12700">
            <a:solidFill>
              <a:srgbClr val="1FA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甲方关注点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FFFFFF"/>
                </a:solidFill>
                <a:latin typeface="Microsoft YaHei"/>
              </a:defRPr>
            </a:pPr>
            <a:r>
              <a:t>你看到的不是功能堆砌，而是一条可直接落地的监造业务主链。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664208"/>
            <a:ext cx="3401568" cy="160020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400" b="1">
                <a:solidFill>
                  <a:srgbClr val="2F6BFF"/>
                </a:solidFill>
                <a:latin typeface="Microsoft YaHei"/>
              </a:defRPr>
            </a:pPr>
            <a:r>
              <a:t>基础建模阶段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核心动作：先把规则、对象和任务边界立起来。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核心价值：你先把标准、合同、任务对象沉淀好，后续监造动作才有统一依据。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覆盖模块：体系文件管理 / 物资采购管理 / 任务分配管理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664208"/>
            <a:ext cx="3401568" cy="1600200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400" b="1">
                <a:solidFill>
                  <a:srgbClr val="1FA597"/>
                </a:solidFill>
                <a:latin typeface="Microsoft YaHei"/>
              </a:defRPr>
            </a:pPr>
            <a:r>
              <a:t>执行准备阶段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核心动作：先把执行规则准备好，再允许进入现场动作。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核心价值：你在进入现场前就把策划、受控文件和质量计划固化，避免现场动作无标准。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覆盖模块：策划管理 / 供方文件审核 / 质量计划标准建立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54112" y="1664208"/>
            <a:ext cx="340156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400" b="1">
                <a:solidFill>
                  <a:srgbClr val="0D2443"/>
                </a:solidFill>
                <a:latin typeface="Microsoft YaHei"/>
              </a:defRPr>
            </a:pPr>
            <a:r>
              <a:t>监督执行阶段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核心动作：围绕生产过程持续记录、检查、整改、沉淀。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核心价值：你能看到现场监督、问题整改和记录沉淀全部在线留痕，过程可追溯。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覆盖模块：监造过程监督和执行 / 监造质量问题处理 / 监造巡查管理 / 抽查复验管理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31136" y="3867912"/>
            <a:ext cx="3401568" cy="16002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400" b="1">
                <a:solidFill>
                  <a:srgbClr val="D97706"/>
                </a:solidFill>
                <a:latin typeface="Microsoft YaHei"/>
              </a:defRPr>
            </a:pPr>
            <a:r>
              <a:t>交付收口阶段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核心动作：把验收、放行、追溯和总结做成闭环。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核心价值：你能把验收、放行、追溯和总结做成正式闭环，项目收口有依据。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覆盖模块：监造完工管理 / 监造验收 / 监造放行 / 质量追溯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16168" y="3867912"/>
            <a:ext cx="3401568" cy="1600200"/>
          </a:xfrm>
          <a:prstGeom prst="roundRect">
            <a:avLst/>
          </a:prstGeom>
          <a:solidFill>
            <a:srgbClr val="FDEFE8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400" b="1">
                <a:solidFill>
                  <a:srgbClr val="C2410C"/>
                </a:solidFill>
                <a:latin typeface="Microsoft YaHei"/>
              </a:defRPr>
            </a:pPr>
            <a:r>
              <a:t>管理支撑阶段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核心动作：全程侧挂统计、预警、识别、经营和培训能力。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核心价值：你能同步拿到统计、预警、识别、经营和培训支撑，领导看得见、过程管得住。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覆盖模块：数据统计及质量趋势分析 / 产品进度跟踪及风险预警 / 防造假管理 / 可视化管理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5742432"/>
            <a:ext cx="1141171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00" b="1">
                <a:solidFill>
                  <a:srgbClr val="1F2937"/>
                </a:solidFill>
                <a:latin typeface="Microsoft YaHei"/>
              </a:defRPr>
            </a:pPr>
          </a:p>
          <a:p>
            <a:pPr algn="l">
              <a:lnSpc>
                <a:spcPct val="100000"/>
              </a:lnSpc>
              <a:spcAft>
                <a:spcPts val="200"/>
              </a:spcAft>
              <a:defRPr sz="1010">
                <a:solidFill>
                  <a:srgbClr val="1F2937"/>
                </a:solidFill>
                <a:latin typeface="Microsoft YaHei"/>
              </a:defRPr>
            </a:pPr>
            <a:r>
              <a:t>主业务顺序：01体系文件管理 → 02物资采购管理 → 03任务分配管理 → 04策划管理 → 05供方文件审核 → 06质量计划标准建立 → 07监督执行 → 08问题处理 → 13监造验收 → 15质量追溯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6419088"/>
            <a:ext cx="1147572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365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28016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业务模块分解（10个核心模块）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" y="804672"/>
            <a:ext cx="5715000" cy="640080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本页核心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FFFFFF"/>
                </a:solidFill>
                <a:latin typeface="Microsoft YaHei"/>
              </a:defRPr>
            </a:pPr>
            <a:r>
              <a:t>每个核心模块都复用原始HTML字段：流程节点、按钮、角色、上下游、执行顺序。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6208" y="804672"/>
            <a:ext cx="5605272" cy="640080"/>
          </a:xfrm>
          <a:prstGeom prst="roundRect">
            <a:avLst/>
          </a:prstGeom>
          <a:solidFill>
            <a:srgbClr val="1FA597"/>
          </a:solidFill>
          <a:ln w="12700">
            <a:solidFill>
              <a:srgbClr val="1FA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甲方关注点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FFFFFF"/>
                </a:solidFill>
                <a:latin typeface="Microsoft YaHei"/>
              </a:defRPr>
            </a:pPr>
            <a:r>
              <a:t>你能直接看到每个按钮对应什么工作动作，模块之间先后逻辑是什么，不会只停留在概念层。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01168" y="1572768"/>
          <a:ext cx="1179576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940"/>
                <a:gridCol w="2948940"/>
                <a:gridCol w="2948940"/>
                <a:gridCol w="2948940"/>
              </a:tblGrid>
              <a:tr h="473825"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顺序/模块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业务流程图描述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角色 + 按钮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上下游逻辑 / 先后顺序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</a:tr>
              <a:tr h="473825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01 体系文件管理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步骤1→步骤2→步骤3：目录规划 → 资料上传 → 编码归档 → 审核发布 → 引用复用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角色：监造管理部门、监造工程师、审查人/总监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按钮：新建目录/上传文件/提交审核/预览/下载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输入：法规标准、技术资料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输出：策划管理、质量计划标准建立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顺序：先做01，再为04策划管理和06质量计划标准建立提供依据。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02 物资采购管理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步骤1→步骤2→步骤3：合同建档 → 物资绑定 → 状态维护 → 权限控制 → 数据复用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角色：项目负责人/采购员、监造管理部门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按钮：新建合同/物资维护/导入/导出/归档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输入：采购合同、供应商信息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输出：任务分配管理、质量追溯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顺序：先做02，再进入03任务分配管理；没有合同和物资对象，后续任务无法落地。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</a:tr>
              <a:tr h="473825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03 任务分配管理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步骤1→步骤2→步骤3：项目建档 → 任务拆分 → 指定人员 → 审批下发 → 权限生效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角色：监造管理部门、项目负责人/采购员、监造工程师、审查人/总监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按钮：新建项目/分配任务/提交审批/发起变更/交接确认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输入：项目、采购包、合同、物资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输出：策划管理、监造过程监督和执行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顺序：承接02，再进入04策划管理和07监造过程监督和执行。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04 策划管理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步骤1→步骤2→步骤3：选择任务 → 绑定采购包 → 编制策划 → 分级审批 → 生效归档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角色：监造工程师、审查人/总监、监造管理部门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按钮：新建策划/保存草稿/提交审批/升版/查看历史版本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输入：已审批任务、采购包资料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输出：供方文件审核、质量计划标准建立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顺序：承接03，之后进入05供方文件审核和06质量计划标准建立。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</a:tr>
              <a:tr h="473825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05 供方文件审核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步骤1→步骤2→步骤3：资料提交 → 任务绑定 → 在线审查 → 审批处理 → 版本留存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角色：供应商/制造厂、监造工程师、审查人/总监、监造管理部门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按钮：上传资料/填写意见/提交审批/退回补正/查看版本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输入：供应商文件、采购包、任务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输出：质量计划标准建立、监造过程监督和执行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顺序：承接04，审核通过后才能把受控文件带入06和07。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06 质量计划标准建立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步骤1→步骤2→步骤3：计划创建 → 质控标注 → 双线审批 → 清单生成 → 版本管控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角色：供应商/制造厂、监造工程师、监造管理部门、审查人/总监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按钮：新建计划/标注质控点/提交审批/生成清单/升版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输入：物资品类、工序、标准文件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输出：监造过程监督和执行、监造验收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顺序：承接01和05，为07监督执行和13监造验收提供标准化清单。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</a:tr>
              <a:tr h="473825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07 监造过程监督和执行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步骤1→步骤2→步骤3：选择任务 → 执行监督 → 填报记录 → 上传佐证 → 更新状态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角色：监造工程师、供应商/制造厂、监造管理部门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按钮：填报日志/发起监督/上传附件/提交记录/更新进度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输入：任务、质量计划、见证点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输出：监造质量问题处理、监造记录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顺序：承接03和06，之后进入08问题处理和11监造记录。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08 监造质量问题处理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步骤1→步骤2→步骤3：问题发现 → 建单审批 → 供应商整改 → 监造复核 → 闭环回写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角色：监造工程师、供应商/制造厂、审查人/总监、监造管理部门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按钮：快捷建单/提交审批/发送整改/复核/关闭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输入：巡检/见证/验收问题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输出：监造巡查管理、监造验收、质量追溯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顺序：承接07，整改闭环结果继续影响13监造验收和15质量追溯。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</a:tr>
              <a:tr h="473825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13 监造验收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步骤1→步骤2→步骤3：预验收 → 遗留整改 → 正式验收 → 放行审核 → 统计沉淀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角色：监造工程师、供应商/制造厂、监造管理部门、审查人/总监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按钮：新建遗留项/提交关闭/发起验收/上传附件/查看统计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输入：完工成果、遗留问题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输出：监造放行、质量追溯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顺序：承接12完工成果和遗留项整改，之后进入14监造放行和15质量追溯。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73830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15 质量追溯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步骤1→步骤2→步骤3：输入编号 → 聚合数据 → 时间轴展示 → 节点查看 → 导出结果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角色：监造工程师、监造管理部门、项目负责人/采购员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按钮：联查/查看节点/下载文件/导出追溯结果/回溯定位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输入：合同、物项、问题、验收与放行数据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输出：数据统计及质量趋势分析、甲方追责与复盘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5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顺序：承接02物资对象、08问题闭环、13验收结论和14放行数据，形成全链收口。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01168" y="6291072"/>
            <a:ext cx="11795760" cy="256032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00" b="1">
                <a:solidFill>
                  <a:srgbClr val="1F2937"/>
                </a:solidFill>
                <a:latin typeface="Microsoft YaHei"/>
              </a:defRPr>
            </a:pPr>
          </a:p>
          <a:p>
            <a:pPr algn="l">
              <a:lnSpc>
                <a:spcPct val="100000"/>
              </a:lnSpc>
              <a:spcAft>
                <a:spcPts val="200"/>
              </a:spcAft>
              <a:defRPr sz="960">
                <a:solidFill>
                  <a:srgbClr val="1F2937"/>
                </a:solidFill>
                <a:latin typeface="Microsoft YaHei"/>
              </a:defRPr>
            </a:pPr>
            <a:r>
              <a:t>说明：本页重点展开10个核心模块；其余流程型模块将在“模块关系总图”页归位说明。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419088"/>
            <a:ext cx="1147572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365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28016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模块关系总图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" y="804672"/>
            <a:ext cx="5715000" cy="640080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本页核心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FFFFFF"/>
                </a:solidFill>
                <a:latin typeface="Microsoft YaHei"/>
              </a:defRPr>
            </a:pPr>
            <a:r>
              <a:t>主链向前走，支撑模块侧挂；你可以一眼判断“哪个模块先做、哪个模块支撑谁”。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6208" y="804672"/>
            <a:ext cx="5605272" cy="640080"/>
          </a:xfrm>
          <a:prstGeom prst="roundRect">
            <a:avLst/>
          </a:prstGeom>
          <a:solidFill>
            <a:srgbClr val="1FA597"/>
          </a:solidFill>
          <a:ln w="12700">
            <a:solidFill>
              <a:srgbClr val="1FA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甲方关注点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FFFFFF"/>
                </a:solidFill>
                <a:latin typeface="Microsoft YaHei"/>
              </a:defRPr>
            </a:pPr>
            <a:r>
              <a:t>一期10个支撑模块侧挂主链关键节点；S03和S10明确标注为二期规划，不挤占一期交付。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783080"/>
            <a:ext cx="2331720" cy="182880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spcAft>
                <a:spcPts val="300"/>
              </a:spcAft>
              <a:defRPr sz="1500" b="1">
                <a:solidFill>
                  <a:srgbClr val="2F6BFF"/>
                </a:solidFill>
                <a:latin typeface="Microsoft YaHei"/>
              </a:defRPr>
            </a:pPr>
            <a:r>
              <a:t>基础建模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1010">
                <a:solidFill>
                  <a:srgbClr val="1F2937"/>
                </a:solidFill>
                <a:latin typeface="Microsoft YaHei"/>
              </a:defRPr>
            </a:pPr>
            <a:r>
              <a:t>01体系文件</a:t>
            </a:r>
            <a:br/>
            <a:r>
              <a:t>02物资采购</a:t>
            </a:r>
            <a:br/>
            <a:r>
              <a:t>03任务分配</a:t>
            </a:r>
          </a:p>
        </p:txBody>
      </p:sp>
      <p:sp>
        <p:nvSpPr>
          <p:cNvPr id="7" name="Rectangle 6"/>
          <p:cNvSpPr/>
          <p:nvPr/>
        </p:nvSpPr>
        <p:spPr>
          <a:xfrm>
            <a:off x="2715768" y="2487168"/>
            <a:ext cx="384048" cy="164592"/>
          </a:xfrm>
          <a:prstGeom prst="rect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spcAft>
                <a:spcPts val="300"/>
              </a:spcAft>
              <a:defRPr sz="100" b="1">
                <a:solidFill>
                  <a:srgbClr val="1F2937"/>
                </a:solidFill>
                <a:latin typeface="Microsoft YaHei"/>
              </a:defRPr>
            </a:pPr>
          </a:p>
          <a:p>
            <a:pPr algn="ctr">
              <a:lnSpc>
                <a:spcPct val="100000"/>
              </a:lnSpc>
              <a:spcAft>
                <a:spcPts val="2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4408" y="1783080"/>
            <a:ext cx="2331720" cy="1828800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spcAft>
                <a:spcPts val="300"/>
              </a:spcAft>
              <a:defRPr sz="1500" b="1">
                <a:solidFill>
                  <a:srgbClr val="1FA597"/>
                </a:solidFill>
                <a:latin typeface="Microsoft YaHei"/>
              </a:defRPr>
            </a:pPr>
            <a:r>
              <a:t>执行准备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1010">
                <a:solidFill>
                  <a:srgbClr val="1F2937"/>
                </a:solidFill>
                <a:latin typeface="Microsoft YaHei"/>
              </a:defRPr>
            </a:pPr>
            <a:r>
              <a:t>04策划</a:t>
            </a:r>
            <a:br/>
            <a:r>
              <a:t>05供方文件审核</a:t>
            </a:r>
            <a:br/>
            <a:r>
              <a:t>06质量计划标准建立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6128" y="2487168"/>
            <a:ext cx="384048" cy="164592"/>
          </a:xfrm>
          <a:prstGeom prst="rect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spcAft>
                <a:spcPts val="300"/>
              </a:spcAft>
              <a:defRPr sz="100" b="1">
                <a:solidFill>
                  <a:srgbClr val="1F2937"/>
                </a:solidFill>
                <a:latin typeface="Microsoft YaHei"/>
              </a:defRPr>
            </a:pPr>
          </a:p>
          <a:p>
            <a:pPr algn="ctr">
              <a:lnSpc>
                <a:spcPct val="100000"/>
              </a:lnSpc>
              <a:spcAft>
                <a:spcPts val="2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783080"/>
            <a:ext cx="2331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spcAft>
                <a:spcPts val="300"/>
              </a:spcAft>
              <a:defRPr sz="1500" b="1">
                <a:solidFill>
                  <a:srgbClr val="0D2443"/>
                </a:solidFill>
                <a:latin typeface="Microsoft YaHei"/>
              </a:defRPr>
            </a:pPr>
            <a:r>
              <a:t>监督执行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1010">
                <a:solidFill>
                  <a:srgbClr val="1F2937"/>
                </a:solidFill>
                <a:latin typeface="Microsoft YaHei"/>
              </a:defRPr>
            </a:pPr>
            <a:r>
              <a:t>07监督执行</a:t>
            </a:r>
            <a:br/>
            <a:r>
              <a:t>08问题处理</a:t>
            </a:r>
            <a:br/>
            <a:r>
              <a:t>09巡查</a:t>
            </a:r>
            <a:br/>
            <a:r>
              <a:t>10抽查复验</a:t>
            </a:r>
            <a:br/>
            <a:r>
              <a:t>11监造记录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76488" y="2487168"/>
            <a:ext cx="384048" cy="164592"/>
          </a:xfrm>
          <a:prstGeom prst="rect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spcAft>
                <a:spcPts val="300"/>
              </a:spcAft>
              <a:defRPr sz="100" b="1">
                <a:solidFill>
                  <a:srgbClr val="1F2937"/>
                </a:solidFill>
                <a:latin typeface="Microsoft YaHei"/>
              </a:defRPr>
            </a:pPr>
          </a:p>
          <a:p>
            <a:pPr algn="ctr">
              <a:lnSpc>
                <a:spcPct val="100000"/>
              </a:lnSpc>
              <a:spcAft>
                <a:spcPts val="2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25128" y="1783080"/>
            <a:ext cx="2331720" cy="18288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spcAft>
                <a:spcPts val="300"/>
              </a:spcAft>
              <a:defRPr sz="1500" b="1">
                <a:solidFill>
                  <a:srgbClr val="D97706"/>
                </a:solidFill>
                <a:latin typeface="Microsoft YaHei"/>
              </a:defRPr>
            </a:pPr>
            <a:r>
              <a:t>交付收口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1010">
                <a:solidFill>
                  <a:srgbClr val="1F2937"/>
                </a:solidFill>
                <a:latin typeface="Microsoft YaHei"/>
              </a:defRPr>
            </a:pPr>
            <a:r>
              <a:t>12完工管理</a:t>
            </a:r>
            <a:br/>
            <a:r>
              <a:t>13监造验收</a:t>
            </a:r>
            <a:br/>
            <a:r>
              <a:t>14监造放行</a:t>
            </a:r>
            <a:br/>
            <a:r>
              <a:t>15质量追溯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160520"/>
            <a:ext cx="740664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400" b="1">
                <a:solidFill>
                  <a:srgbClr val="0D2443"/>
                </a:solidFill>
                <a:latin typeface="Microsoft YaHei"/>
              </a:defRPr>
            </a:pPr>
            <a:r>
              <a:t>一期侧挂支撑模块（10个）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30">
                <a:solidFill>
                  <a:srgbClr val="1F2937"/>
                </a:solidFill>
                <a:latin typeface="Microsoft YaHei"/>
              </a:defRPr>
            </a:pPr>
            <a:r>
              <a:t>数据统计及质量趋势分析 / 产品进度跟踪及风险预警 / 可视化管理 / 日常工作量化管理 / 产品二维码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30">
                <a:solidFill>
                  <a:srgbClr val="1F2937"/>
                </a:solidFill>
                <a:latin typeface="Microsoft YaHei"/>
              </a:defRPr>
            </a:pPr>
            <a:r>
              <a:t>电子签名 / 图文识别信息抓取 / 视频远程识别 / 付款台账 / 培训与考试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30">
                <a:solidFill>
                  <a:srgbClr val="1F2937"/>
                </a:solidFill>
                <a:latin typeface="Microsoft YaHei"/>
              </a:defRPr>
            </a:pPr>
            <a:r>
              <a:t>挂载逻辑：围绕“文件审核、监督执行、验收放行、质量追溯、经营统计”关键节点服务主链。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82712" y="4160520"/>
            <a:ext cx="3813048" cy="1444752"/>
          </a:xfrm>
          <a:prstGeom prst="roundRect">
            <a:avLst/>
          </a:prstGeom>
          <a:solidFill>
            <a:srgbClr val="FDEFE8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400" b="1">
                <a:solidFill>
                  <a:srgbClr val="C2410C"/>
                </a:solidFill>
                <a:latin typeface="Microsoft YaHei"/>
              </a:defRPr>
            </a:pPr>
            <a:r>
              <a:t>二期规划模块（2个）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S03 防造假管理：挂载供方文件审核 / 质量计划标准建立 / 监造验收。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S10 数据信息资源库及AI识别功能：挂载体系文件管理 / 图文识别信息抓取 / 防造假管理。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5806440"/>
            <a:ext cx="1141171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00" b="1">
                <a:solidFill>
                  <a:srgbClr val="1F2937"/>
                </a:solidFill>
                <a:latin typeface="Microsoft YaHei"/>
              </a:defRPr>
            </a:pPr>
          </a:p>
          <a:p>
            <a: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rgbClr val="1F2937"/>
                </a:solidFill>
                <a:latin typeface="Microsoft YaHei"/>
              </a:defRPr>
            </a:pPr>
            <a:r>
              <a:t>关系结论：先把规则和对象立起来，再把执行标准准备好，随后进入现场监督和问题闭环，最后完成验收放行和质量追溯；支撑模块全程侧挂，不打断主链。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419088"/>
            <a:ext cx="1147572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365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28016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开发SOP（周期 / 参与者 / 动作 / Gate）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" y="804672"/>
            <a:ext cx="5715000" cy="640080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本页核心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FFFFFF"/>
                </a:solidFill>
                <a:latin typeface="Microsoft YaHei"/>
              </a:defRPr>
            </a:pPr>
            <a:r>
              <a:t>按“阶段+周期节点+主责+配合+可执行动作+输出物+Gate”展开，直接对应项目推进逻辑。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6208" y="804672"/>
            <a:ext cx="5605272" cy="640080"/>
          </a:xfrm>
          <a:prstGeom prst="roundRect">
            <a:avLst/>
          </a:prstGeom>
          <a:solidFill>
            <a:srgbClr val="1FA597"/>
          </a:solidFill>
          <a:ln w="12700">
            <a:solidFill>
              <a:srgbClr val="1FA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甲方关注点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FFFFFF"/>
                </a:solidFill>
                <a:latin typeface="Microsoft YaHei"/>
              </a:defRPr>
            </a:pPr>
            <a:r>
              <a:t>你能看到每个SOP节点谁负责、谁配合、能干什么、交什么成果、通过哪个Gate进入下一阶段。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4592" y="1554480"/>
          <a:ext cx="11868912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8152"/>
                <a:gridCol w="1978152"/>
                <a:gridCol w="1978152"/>
                <a:gridCol w="1978152"/>
                <a:gridCol w="1978152"/>
                <a:gridCol w="1978152"/>
              </a:tblGrid>
              <a:tr h="394854"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周期节点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主责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配合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参与者能干的事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输出物 / Gate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</a:tr>
              <a:tr h="394854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项目启动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P1 / 5%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甲方项目负责人、乙方项目经理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业务部门、实施、集成商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甲方项目负责人组织启动；乙方项目经理锁定范围、责任和计划；集成商确认环境边界。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启动纪要、责任清单、范围确认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启动评审通过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94854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需求调研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P2 / 10%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产品经理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甲方业务部门、项目经理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产品经理组织调研、梳理流程、召开需求评审；业务部门确认边界。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需求清单、流程梳理、边界确认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需求评审通过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</a:tr>
              <a:tr h="394854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方案设计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P3 / 10%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架构师、产品经理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项目经理、甲方代表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架构师和产品经理输出总体方案、模块边界和软硬件建议；项目经理协调评审。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总体方案、模块边界、软硬件建议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方案评审通过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94854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系统设计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P4 / 10%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架构师、前后端负责人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产品经理、实施、测试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架构师、前后端负责人细化页面、接口、数据和部署设计；实施、测试参与评审。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页面设计、接口设计、数据设计、部署设计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设计评审通过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</a:tr>
              <a:tr h="394854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开发构建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P5 / 25%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前后端开发负责人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架构师、测试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开发负责人完成模块开发、自测和接口联调；架构师把控实现口径。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可运行版本、模块实现、联调接口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开发自测通过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94854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测试验证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P6 / 15%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测试负责人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开发、产品、安全团队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测试负责人组织功能测试、缺陷回归、安全扫描；开发和产品配合修正。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测试报告、缺陷清单、安全扫描结果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测试评审通过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</a:tr>
              <a:tr h="394854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部署实施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P7 / 10%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实施负责人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运维、集成商、开发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实施负责人完成环境部署、系统联调和上线准备；运维、集成商、开发协同。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环境部署记录、联调记录、上线方案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部署检查通过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94854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试运行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P8 / 8%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甲方试点负责人、实施负责人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产品、测试、运维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甲方试点负责人和实施负责人组织试运行；产品、测试、运维跟踪问题和修正项。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试运行问题清单、使用反馈、修正项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试运行评审通过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</a:tr>
              <a:tr h="394854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验收交付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P9 / 5%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甲方项目负责人、乙方项目经理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业务部门、测试、实施、安全团队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甲方项目负责人组织验收；乙方项目经理准备材料、培训记录和交付清单。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验收材料、培训记录、交付清单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验收签字通过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94860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运维优化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P10 / 2%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运维负责人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产品经理、甲方使用部门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运维负责人跟踪运行台账、优化计划和版本改进项；产品经理、使用部门反馈闭环。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运维台账、优化计划、版本改进清单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4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进入常态运维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64592" y="5998464"/>
            <a:ext cx="11868912" cy="65836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150" b="1">
                <a:solidFill>
                  <a:srgbClr val="2F6BFF"/>
                </a:solidFill>
                <a:latin typeface="Microsoft YaHei"/>
              </a:defRPr>
            </a:pPr>
            <a:r>
              <a:t>参与者能干的事（跨阶段统一口径）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60">
                <a:solidFill>
                  <a:srgbClr val="1F2937"/>
                </a:solidFill>
                <a:latin typeface="Microsoft YaHei"/>
              </a:defRPr>
            </a:pPr>
            <a:r>
              <a:t>监造管理部门：审批阶段成果、分配跨阶段协调任务、核定监造口径。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60">
                <a:solidFill>
                  <a:srgbClr val="1F2937"/>
                </a:solidFill>
                <a:latin typeface="Microsoft YaHei"/>
              </a:defRPr>
            </a:pPr>
            <a:r>
              <a:t>监造工程师：编制策划、执行监督、建单整改、形成记录和验收资料。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60">
                <a:solidFill>
                  <a:srgbClr val="1F2937"/>
                </a:solidFill>
                <a:latin typeface="Microsoft YaHei"/>
              </a:defRPr>
            </a:pPr>
            <a:r>
              <a:t>供应商/制造厂：提交供方文件、配合见证、整改问题、参加验收。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60">
                <a:solidFill>
                  <a:srgbClr val="1F2937"/>
                </a:solidFill>
                <a:latin typeface="Microsoft YaHei"/>
              </a:defRPr>
            </a:pPr>
            <a:r>
              <a:t>甲方项目负责人：确认范围、通过关键Gate、组织试运行和验收签字。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60">
                <a:solidFill>
                  <a:srgbClr val="1F2937"/>
                </a:solidFill>
                <a:latin typeface="Microsoft YaHei"/>
              </a:defRPr>
            </a:pPr>
            <a:r>
              <a:t>产品/架构/开发/测试/实施/运维：分别承担设计、实现、验证、部署和运行保障。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419088"/>
            <a:ext cx="1147572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365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28016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软硬件入场验收（入场时机 + 验收标准）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" y="804672"/>
            <a:ext cx="5715000" cy="640080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本页核心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FFFFFF"/>
                </a:solidFill>
                <a:latin typeface="Microsoft YaHei"/>
              </a:defRPr>
            </a:pPr>
            <a:r>
              <a:t>你先看到四类对象何时入场，再看到每类对象的可落地验收判定条件。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6208" y="804672"/>
            <a:ext cx="5605272" cy="640080"/>
          </a:xfrm>
          <a:prstGeom prst="roundRect">
            <a:avLst/>
          </a:prstGeom>
          <a:solidFill>
            <a:srgbClr val="1FA597"/>
          </a:solidFill>
          <a:ln w="12700">
            <a:solidFill>
              <a:srgbClr val="1FA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甲方关注点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FFFFFF"/>
                </a:solidFill>
                <a:latin typeface="Microsoft YaHei"/>
              </a:defRPr>
            </a:pPr>
            <a:r>
              <a:t>入场时机直接对应SOP阶段；验收标准不是泛化表述，而是能直接对照执行和签字确认的条件。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" y="1572768"/>
            <a:ext cx="5760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300" b="1">
                <a:solidFill>
                  <a:srgbClr val="0D2443"/>
                </a:solidFill>
                <a:latin typeface="Microsoft YaHei"/>
              </a:defRPr>
            </a:pPr>
            <a:r>
              <a:t>入场时间轴（对应SOP阶段）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硬件设备：系统设计阶段锁定配置，部署实施阶段入场；平台/中间件/领域服务器在联调前1周上架，客户端在试运行前配发。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基础软件：部署实施阶段安装配置；银河麒麟V10、达梦数据库V8、应用系统在联调前完成安装，终端操作系统在客户端交付前预装。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安全与保障服务：测试验证后期启动，试运行前完成安全扫描、测评整改和容灾演练。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网络接入方案：部署实施阶段完成防火墙/VPN配置，联调阶段前打通远程接入，试运行前完成接入验证。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572768"/>
            <a:ext cx="5852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300" b="1">
                <a:solidFill>
                  <a:srgbClr val="0D2443"/>
                </a:solidFill>
                <a:latin typeface="Microsoft YaHei"/>
              </a:defRPr>
            </a:pPr>
            <a:r>
              <a:t>验收标准矩阵（四类对象）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硬件设备：服务器开机无故障；配置与清单一致；上电正常；网络连通率100%；客户端可登录、可填报、可审批。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基础软件：银河麒麟V10安装成功；终端系统兼容客户端；达梦数据库V8连接成功、读写正常、备份恢复通过；应用系统关键业务流程跑通。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安全与保障服务：测评报告、扫描报告、整改确认单齐全；高风险问题闭环；容灾切换演练通过；恢复时效达标。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网络接入方案：防火墙策略和VPN配置生效；外部访问受控；远程接入可用；联调阶段连接稳定。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" y="6236208"/>
            <a:ext cx="11795760" cy="347472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00" b="1">
                <a:solidFill>
                  <a:srgbClr val="1F2937"/>
                </a:solidFill>
                <a:latin typeface="Microsoft YaHei"/>
              </a:defRPr>
            </a:pPr>
          </a:p>
          <a:p>
            <a: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rgbClr val="1F2937"/>
                </a:solidFill>
                <a:latin typeface="Microsoft YaHei"/>
              </a:defRPr>
            </a:pPr>
            <a:r>
              <a:t>五层验收：到货验收 → 安装验收 → 联调验收 → 业务验收 → 安全验收。你最终签字看到的是到货、安装、联调、业务、安全五层闭环。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6419088"/>
            <a:ext cx="1147572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365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28016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二期规划说明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" y="804672"/>
            <a:ext cx="5715000" cy="640080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本页核心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FFFFFF"/>
                </a:solidFill>
                <a:latin typeface="Microsoft YaHei"/>
              </a:defRPr>
            </a:pPr>
            <a:r>
              <a:t>S03防造假管理、S10数据信息资源库及AI识别功能纳入二期，理由要让甲方能接受。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6208" y="804672"/>
            <a:ext cx="5605272" cy="640080"/>
          </a:xfrm>
          <a:prstGeom prst="roundRect">
            <a:avLst/>
          </a:prstGeom>
          <a:solidFill>
            <a:srgbClr val="1FA597"/>
          </a:solidFill>
          <a:ln w="12700">
            <a:solidFill>
              <a:srgbClr val="1FA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甲方关注点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FFFFFF"/>
                </a:solidFill>
                <a:latin typeface="Microsoft YaHei"/>
              </a:defRPr>
            </a:pPr>
            <a:r>
              <a:t>你看到的是“先跑通一期主链，再基于真实数据做AI增强”的建设顺序，不是删除需求。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" y="1572768"/>
            <a:ext cx="5650992" cy="1417320"/>
          </a:xfrm>
          <a:prstGeom prst="roundRect">
            <a:avLst/>
          </a:prstGeom>
          <a:solidFill>
            <a:srgbClr val="FDEFE8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350" b="1">
                <a:solidFill>
                  <a:srgbClr val="C2410C"/>
                </a:solidFill>
                <a:latin typeface="Microsoft YaHei"/>
              </a:defRPr>
            </a:pPr>
            <a:r>
              <a:t>S03 防造假管理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参与角色：供应商/制造厂、监造工程师、审查人/总监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挂载场景：供方文件审核、质量计划标准建立、监造验收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触发场景：文件上传时、归档前、复核时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572768"/>
            <a:ext cx="5650992" cy="14173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350" b="1">
                <a:solidFill>
                  <a:srgbClr val="2F6BFF"/>
                </a:solidFill>
                <a:latin typeface="Microsoft YaHei"/>
              </a:defRPr>
            </a:pPr>
            <a:r>
              <a:t>S10 数据信息资源库及AI识别功能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参与角色：监造工程师、监造管理部门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挂载场景：体系文件管理、图文识别信息抓取、防造假管理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触发场景：查询标准时、识别调用时、知识联查时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" y="3246120"/>
            <a:ext cx="3730752" cy="1847088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250" b="1">
                <a:solidFill>
                  <a:srgbClr val="D97706"/>
                </a:solidFill>
                <a:latin typeface="Microsoft YaHei"/>
              </a:defRPr>
            </a:pPr>
            <a:r>
              <a:t>二期原因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① 一期优先级：先保障“基础建模→执行准备→监督执行→交付收口”主业务链闭环，聚焦核心模块先落地，确保监造核心工作先跑通、先用起来。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33087" y="3246120"/>
            <a:ext cx="3730752" cy="1847088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250" b="1">
                <a:solidFill>
                  <a:srgbClr val="1FA597"/>
                </a:solidFill>
                <a:latin typeface="Microsoft YaHei"/>
              </a:defRPr>
            </a:pPr>
            <a:r>
              <a:t>二期原因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② 数据基础：AI识别/防造假依赖一期沉淀的大量真实监造数据，如文件模板、质量记录、验收单据；一期先完成数据标准化，二期模型训练更精准。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3246120"/>
            <a:ext cx="3730752" cy="184708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250" b="1">
                <a:solidFill>
                  <a:srgbClr val="2F6BFF"/>
                </a:solidFill>
                <a:latin typeface="Microsoft YaHei"/>
              </a:defRPr>
            </a:pPr>
            <a:r>
              <a:t>二期原因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③ 成本与风险控制：一期先验证核心流程的业务适配性，二期基于运行反馈优化AI功能，可降低试错成本，并直接复用一期软硬件底座。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" y="5394960"/>
            <a:ext cx="1159459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250" b="1">
                <a:solidFill>
                  <a:srgbClr val="0D2443"/>
                </a:solidFill>
                <a:latin typeface="Microsoft YaHei"/>
              </a:defRPr>
            </a:pPr>
            <a:r>
              <a:t>二期价值前置说明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60">
                <a:solidFill>
                  <a:srgbClr val="1F2937"/>
                </a:solidFill>
                <a:latin typeface="Microsoft YaHei"/>
              </a:defRPr>
            </a:pPr>
            <a:r>
              <a:t>预期价值：二期上线后，防造假可减少约80%人工核验工作量，AI识别可提升约50%文件审核效率；前提是一期先沉淀真实业务数据和标准化样本。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6419088"/>
            <a:ext cx="1147572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365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28016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汇报收口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" y="804672"/>
            <a:ext cx="5715000" cy="640080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本页核心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FFFFFF"/>
                </a:solidFill>
                <a:latin typeface="Microsoft YaHei"/>
              </a:defRPr>
            </a:pPr>
            <a:r>
              <a:t>结论前置：一期先把主业务链做成可用、可管、可验收的版本；二期再做智能增强。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6208" y="804672"/>
            <a:ext cx="5605272" cy="640080"/>
          </a:xfrm>
          <a:prstGeom prst="roundRect">
            <a:avLst/>
          </a:prstGeom>
          <a:solidFill>
            <a:srgbClr val="1FA597"/>
          </a:solidFill>
          <a:ln w="12700">
            <a:solidFill>
              <a:srgbClr val="1FA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甲方关注点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FFFFFF"/>
                </a:solidFill>
                <a:latin typeface="Microsoft YaHei"/>
              </a:defRPr>
            </a:pPr>
            <a:r>
              <a:t>你现在能拿去组织甲方汇报：业务流程、SOP、软硬件和二期规划都已经压成一套完整口径。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" y="1572768"/>
            <a:ext cx="3657600" cy="1847088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450" b="1">
                <a:solidFill>
                  <a:srgbClr val="1FA597"/>
                </a:solidFill>
                <a:latin typeface="Microsoft YaHei"/>
              </a:defRPr>
            </a:pPr>
            <a:r>
              <a:t>结论1：业务闭环讲清了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rgbClr val="1F2937"/>
                </a:solidFill>
                <a:latin typeface="Microsoft YaHei"/>
              </a:defRPr>
            </a:pPr>
            <a:r>
              <a:t>你已经能看到从体系文件、物资采购、任务分配，到策划、监督、验收、追溯的完整顺序。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78808" y="1572768"/>
            <a:ext cx="3657600" cy="184708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450" b="1">
                <a:solidFill>
                  <a:srgbClr val="2F6BFF"/>
                </a:solidFill>
                <a:latin typeface="Microsoft YaHei"/>
              </a:defRPr>
            </a:pPr>
            <a:r>
              <a:t>结论2：项目闭环讲清了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rgbClr val="1F2937"/>
                </a:solidFill>
                <a:latin typeface="Microsoft YaHei"/>
              </a:defRPr>
            </a:pPr>
            <a:r>
              <a:t>你已经能看到10个SOP阶段的周期节点、责任角色、可执行动作、输出物和Gate。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5008" y="1572768"/>
            <a:ext cx="3657600" cy="1847088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450" b="1">
                <a:solidFill>
                  <a:srgbClr val="D97706"/>
                </a:solidFill>
                <a:latin typeface="Microsoft YaHei"/>
              </a:defRPr>
            </a:pPr>
            <a:r>
              <a:t>结论3：落地闭环讲清了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rgbClr val="1F2937"/>
                </a:solidFill>
                <a:latin typeface="Microsoft YaHei"/>
              </a:defRPr>
            </a:pPr>
            <a:r>
              <a:t>你已经能看到四类对象什么时候入场、按什么标准验收、最终如何组织五层验收闭环。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" y="3822191"/>
            <a:ext cx="11658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400" b="1">
                <a:solidFill>
                  <a:srgbClr val="0D2443"/>
                </a:solidFill>
                <a:latin typeface="Microsoft YaHei"/>
              </a:defRPr>
            </a:pPr>
            <a:r>
              <a:t>建议下一步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19">
                <a:solidFill>
                  <a:srgbClr val="1F2937"/>
                </a:solidFill>
                <a:latin typeface="Microsoft YaHei"/>
              </a:defRPr>
            </a:pPr>
            <a:r>
              <a:t>1. 以本版PPT作为甲方汇报底稿，重点讲按钮、流程图描述、SOP动作和验收标准。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19">
                <a:solidFill>
                  <a:srgbClr val="1F2937"/>
                </a:solidFill>
                <a:latin typeface="Microsoft YaHei"/>
              </a:defRPr>
            </a:pPr>
            <a:r>
              <a:t>2. 冻结一期范围，按“需求→设计→开发→测试→部署→验收”顺序进入实施排期。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19">
                <a:solidFill>
                  <a:srgbClr val="1F2937"/>
                </a:solidFill>
                <a:latin typeface="Microsoft YaHei"/>
              </a:defRPr>
            </a:pPr>
            <a:r>
              <a:t>3. 将防造假管理、数据信息资源库及AI识别功能纳入二期开发计划，等待一期真实数据沉淀后启动。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" y="5486400"/>
            <a:ext cx="11658600" cy="512064"/>
          </a:xfrm>
          <a:prstGeom prst="roundRect">
            <a:avLst/>
          </a:prstGeom>
          <a:solidFill>
            <a:srgbClr val="0D2443"/>
          </a:solidFill>
          <a:ln w="12700">
            <a:solidFill>
              <a:srgbClr val="0D2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300"/>
              </a:spcAft>
              <a:defRPr sz="1180" b="1">
                <a:solidFill>
                  <a:srgbClr val="FFFFFF"/>
                </a:solidFill>
                <a:latin typeface="Microsoft YaHei"/>
              </a:defRPr>
            </a:pPr>
            <a:r>
              <a:t>收口话术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你现在看到的是一套先把核心工作做扎实、再把智能能力做精准的实施路径；对甲方来说，一期先要“能跑通、能验收、能持续用”，二期再要“提效率、降人工、增智能”。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419088"/>
            <a:ext cx="1147572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365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