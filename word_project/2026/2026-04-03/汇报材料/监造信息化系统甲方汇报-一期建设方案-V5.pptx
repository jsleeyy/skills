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6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35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078992"/>
            <a:ext cx="1920240" cy="384048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r>
              <a:t>一期建设方案 V5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7772400" cy="1188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监造信息化系统甲方汇报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108960"/>
            <a:ext cx="7040880" cy="1051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聚焦一期建设范围、核心流程和模块关系。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280160"/>
            <a:ext cx="2926080" cy="310896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汇报范围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664208"/>
            <a:ext cx="2926080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• 业务全景与模块关系</a:t>
            </a:r>
          </a:p>
          <a:p>
            <a:r>
              <a:t>• 主链流程与支撑模块</a:t>
            </a:r>
          </a:p>
          <a:p>
            <a:r>
              <a:t>• 一期建设边界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63056"/>
            <a:ext cx="530352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版本：甲方留存版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业务全景总览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按 5 个阶段展示系统范围，一期聚焦主链流程和关键支撑能力。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735965" y="1712339"/>
            <a:ext cx="2057277" cy="360023"/>
          </a:xfrm>
          <a:prstGeom prst="roundRect">
            <a:avLst/>
          </a:prstGeom>
          <a:solidFill>
            <a:srgbClr val="1A56B5"/>
          </a:solidFill>
          <a:ln w="12700"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基础建模阶段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2"/>
            </p:custDataLst>
          </p:nvPr>
        </p:nvSpPr>
        <p:spPr>
          <a:xfrm>
            <a:off x="735965" y="2072362"/>
            <a:ext cx="2057277" cy="38231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核心动作：建立体系文件底座、合同物资台账、监造任务责任链。</a:t>
            </a:r>
          </a:p>
        </p:txBody>
      </p:sp>
      <p:sp>
        <p:nvSpPr>
          <p:cNvPr id="9" name="Rounded Rectangle 8"/>
          <p:cNvSpPr/>
          <p:nvPr>
            <p:custDataLst>
              <p:tags r:id="rId3"/>
            </p:custDataLst>
          </p:nvPr>
        </p:nvSpPr>
        <p:spPr>
          <a:xfrm>
            <a:off x="2878962" y="1712339"/>
            <a:ext cx="2057277" cy="360023"/>
          </a:xfrm>
          <a:prstGeom prst="roundRect">
            <a:avLst/>
          </a:prstGeom>
          <a:solidFill>
            <a:srgbClr val="0C78A4"/>
          </a:solidFill>
          <a:ln w="12700"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执行准备阶段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4"/>
            </p:custDataLst>
          </p:nvPr>
        </p:nvSpPr>
        <p:spPr>
          <a:xfrm>
            <a:off x="2878962" y="2072362"/>
            <a:ext cx="2057277" cy="38231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核心动作：完成策划编制、供方文件审核、质量计划和 W/R/H 点生效。</a:t>
            </a:r>
          </a:p>
        </p:txBody>
      </p:sp>
      <p:sp>
        <p:nvSpPr>
          <p:cNvPr id="11" name="Rounded Rectangle 10"/>
          <p:cNvSpPr/>
          <p:nvPr>
            <p:custDataLst>
              <p:tags r:id="rId5"/>
            </p:custDataLst>
          </p:nvPr>
        </p:nvSpPr>
        <p:spPr>
          <a:xfrm>
            <a:off x="5021959" y="1712339"/>
            <a:ext cx="2057277" cy="360023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监督执行阶段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6"/>
            </p:custDataLst>
          </p:nvPr>
        </p:nvSpPr>
        <p:spPr>
          <a:xfrm>
            <a:off x="5021959" y="2072362"/>
            <a:ext cx="2057277" cy="38231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核心动作：开展日常监督、专项监督、巡查、问题处理、抽查复验、日报周报。</a:t>
            </a:r>
          </a:p>
        </p:txBody>
      </p:sp>
      <p:sp>
        <p:nvSpPr>
          <p:cNvPr id="13" name="Rounded Rectangle 12"/>
          <p:cNvSpPr/>
          <p:nvPr>
            <p:custDataLst>
              <p:tags r:id="rId7"/>
            </p:custDataLst>
          </p:nvPr>
        </p:nvSpPr>
        <p:spPr>
          <a:xfrm>
            <a:off x="7164956" y="1712339"/>
            <a:ext cx="2057277" cy="360023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交付收口阶段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8"/>
            </p:custDataLst>
          </p:nvPr>
        </p:nvSpPr>
        <p:spPr>
          <a:xfrm>
            <a:off x="7164956" y="2072362"/>
            <a:ext cx="2057277" cy="38231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核心动作：完工总结、验收、放行、质量追溯。</a:t>
            </a:r>
          </a:p>
        </p:txBody>
      </p:sp>
      <p:sp>
        <p:nvSpPr>
          <p:cNvPr id="15" name="Rounded Rectangle 14"/>
          <p:cNvSpPr/>
          <p:nvPr>
            <p:custDataLst>
              <p:tags r:id="rId9"/>
            </p:custDataLst>
          </p:nvPr>
        </p:nvSpPr>
        <p:spPr>
          <a:xfrm>
            <a:off x="9307953" y="1712339"/>
            <a:ext cx="2057277" cy="360023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管理支撑阶段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10"/>
            </p:custDataLst>
          </p:nvPr>
        </p:nvSpPr>
        <p:spPr>
          <a:xfrm>
            <a:off x="9307953" y="2072362"/>
            <a:ext cx="2057277" cy="38231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核心动作：统计分析、预警、可视化、工日、二维码、签名、OCR、视频、付款、培训。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870448"/>
            <a:ext cx="11109960" cy="402336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模块口径：主链 15 个，一期支撑 10 个，二期增强 2 个。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模块关系总图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主链按业务先后展开，支撑模块按挂载方式接入。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11480" y="1627632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20" b="1">
                <a:solidFill>
                  <a:srgbClr val="252B36"/>
                </a:solidFill>
                <a:latin typeface="微软雅黑" panose="020B0503020204020204" charset="-122"/>
              </a:rPr>
              <a:t>体系文件</a:t>
            </a:r>
            <a:endParaRPr sz="1120" b="1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8" name="Chevron 7"/>
          <p:cNvSpPr/>
          <p:nvPr/>
        </p:nvSpPr>
        <p:spPr>
          <a:xfrm>
            <a:off x="2148840" y="1810512"/>
            <a:ext cx="164592" cy="201168"/>
          </a:xfrm>
          <a:prstGeom prst="chevron">
            <a:avLst/>
          </a:prstGeom>
          <a:solidFill>
            <a:srgbClr val="108CBA"/>
          </a:solidFill>
          <a:ln>
            <a:solidFill>
              <a:srgbClr val="108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50008" y="1627632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20" b="1">
                <a:solidFill>
                  <a:srgbClr val="252B36"/>
                </a:solidFill>
                <a:latin typeface="微软雅黑" panose="020B0503020204020204" charset="-122"/>
              </a:rPr>
              <a:t>物资采购</a:t>
            </a:r>
            <a:endParaRPr sz="1120" b="1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4087368" y="1810512"/>
            <a:ext cx="164592" cy="201168"/>
          </a:xfrm>
          <a:prstGeom prst="chevron">
            <a:avLst/>
          </a:prstGeom>
          <a:solidFill>
            <a:srgbClr val="108CBA"/>
          </a:solidFill>
          <a:ln>
            <a:solidFill>
              <a:srgbClr val="108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88536" y="1627632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20" b="1">
                <a:solidFill>
                  <a:srgbClr val="252B36"/>
                </a:solidFill>
                <a:latin typeface="微软雅黑" panose="020B0503020204020204" charset="-122"/>
              </a:rPr>
              <a:t>任务分配</a:t>
            </a:r>
            <a:endParaRPr sz="1120" b="1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6025896" y="1810512"/>
            <a:ext cx="164592" cy="201168"/>
          </a:xfrm>
          <a:prstGeom prst="chevron">
            <a:avLst/>
          </a:prstGeom>
          <a:solidFill>
            <a:srgbClr val="108CBA"/>
          </a:solidFill>
          <a:ln>
            <a:solidFill>
              <a:srgbClr val="108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27064" y="1627632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8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20" b="1">
                <a:solidFill>
                  <a:srgbClr val="252B36"/>
                </a:solidFill>
                <a:latin typeface="微软雅黑" panose="020B0503020204020204" charset="-122"/>
              </a:rPr>
              <a:t>策划管理</a:t>
            </a:r>
            <a:endParaRPr sz="1120" b="1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4" name="Chevron 13"/>
          <p:cNvSpPr/>
          <p:nvPr/>
        </p:nvSpPr>
        <p:spPr>
          <a:xfrm>
            <a:off x="7964424" y="1810512"/>
            <a:ext cx="164592" cy="201168"/>
          </a:xfrm>
          <a:prstGeom prst="chevron">
            <a:avLst/>
          </a:prstGeom>
          <a:solidFill>
            <a:srgbClr val="108CBA"/>
          </a:solidFill>
          <a:ln>
            <a:solidFill>
              <a:srgbClr val="108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65592" y="1627632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8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20" b="1">
                <a:solidFill>
                  <a:srgbClr val="252B36"/>
                </a:solidFill>
                <a:latin typeface="微软雅黑" panose="020B0503020204020204" charset="-122"/>
              </a:rPr>
              <a:t>供方文件审核</a:t>
            </a:r>
            <a:endParaRPr sz="1120" b="1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9902952" y="1810512"/>
            <a:ext cx="164592" cy="201168"/>
          </a:xfrm>
          <a:prstGeom prst="chevron">
            <a:avLst/>
          </a:prstGeom>
          <a:solidFill>
            <a:srgbClr val="108CBA"/>
          </a:solidFill>
          <a:ln>
            <a:solidFill>
              <a:srgbClr val="108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04120" y="1627632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8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20" b="1">
                <a:solidFill>
                  <a:srgbClr val="252B36"/>
                </a:solidFill>
                <a:latin typeface="微软雅黑" panose="020B0503020204020204" charset="-122"/>
              </a:rPr>
              <a:t>质量计划标准建立</a:t>
            </a:r>
            <a:endParaRPr sz="1120" b="1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840480" y="2450592"/>
            <a:ext cx="4526280" cy="859536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252B36"/>
                </a:solidFill>
                <a:latin typeface="微软雅黑" panose="020B0503020204020204" charset="-122"/>
              </a:rPr>
              <a:t>监造过程监督和执行</a:t>
            </a:r>
            <a:endParaRPr sz="130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52B36"/>
                </a:solidFill>
                <a:latin typeface="微软雅黑" panose="020B0503020204020204" charset="-122"/>
              </a:rPr>
              <a:t>日常监督 / 专项监督 / 见证执行 / 2 天内佐证回传 / 异常项触发问题</a:t>
            </a:r>
            <a:endParaRPr sz="130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60120" y="3621024"/>
            <a:ext cx="187451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30" b="1">
                <a:solidFill>
                  <a:srgbClr val="252B36"/>
                </a:solidFill>
                <a:latin typeface="微软雅黑" panose="020B0503020204020204" charset="-122"/>
              </a:rPr>
              <a:t>监造巡查管理</a:t>
            </a:r>
            <a:endParaRPr sz="1130" b="1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0" name="Chevron 19"/>
          <p:cNvSpPr/>
          <p:nvPr/>
        </p:nvSpPr>
        <p:spPr>
          <a:xfrm>
            <a:off x="3145282" y="3932428"/>
            <a:ext cx="237744" cy="219456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94760" y="3621024"/>
            <a:ext cx="187451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30" b="1">
                <a:solidFill>
                  <a:srgbClr val="252B36"/>
                </a:solidFill>
                <a:latin typeface="微软雅黑" panose="020B0503020204020204" charset="-122"/>
              </a:rPr>
              <a:t>监造质量问题处理</a:t>
            </a:r>
            <a:endParaRPr sz="1130" b="1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6030722" y="3867658"/>
            <a:ext cx="237744" cy="219456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29400" y="3621024"/>
            <a:ext cx="187451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30" b="1">
                <a:solidFill>
                  <a:srgbClr val="252B36"/>
                </a:solidFill>
                <a:latin typeface="微软雅黑" panose="020B0503020204020204" charset="-122"/>
              </a:rPr>
              <a:t>抽查复验管理</a:t>
            </a:r>
            <a:endParaRPr sz="1130" b="1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4" name="Chevron 23"/>
          <p:cNvSpPr/>
          <p:nvPr/>
        </p:nvSpPr>
        <p:spPr>
          <a:xfrm>
            <a:off x="8765667" y="3867023"/>
            <a:ext cx="237744" cy="219456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64040" y="3621024"/>
            <a:ext cx="187451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30" b="1">
                <a:solidFill>
                  <a:srgbClr val="252B36"/>
                </a:solidFill>
                <a:latin typeface="微软雅黑" panose="020B0503020204020204" charset="-122"/>
              </a:rPr>
              <a:t>监造记录</a:t>
            </a:r>
            <a:endParaRPr sz="1130" b="1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11444732" y="3931793"/>
            <a:ext cx="237744" cy="219456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084831" y="4800600"/>
            <a:ext cx="1874519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40" b="1">
                <a:solidFill>
                  <a:srgbClr val="252B36"/>
                </a:solidFill>
                <a:latin typeface="微软雅黑" panose="020B0503020204020204" charset="-122"/>
              </a:rPr>
              <a:t>监造完工管理</a:t>
            </a:r>
            <a:endParaRPr sz="1140" b="1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8" name="Chevron 27"/>
          <p:cNvSpPr/>
          <p:nvPr/>
        </p:nvSpPr>
        <p:spPr>
          <a:xfrm>
            <a:off x="4005072" y="5029200"/>
            <a:ext cx="182880" cy="201168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87952" y="4800600"/>
            <a:ext cx="1874519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40" b="1">
                <a:solidFill>
                  <a:srgbClr val="252B36"/>
                </a:solidFill>
                <a:latin typeface="微软雅黑" panose="020B0503020204020204" charset="-122"/>
              </a:rPr>
              <a:t>监造验收</a:t>
            </a:r>
            <a:endParaRPr sz="1140" b="1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6108192" y="5029200"/>
            <a:ext cx="182880" cy="201168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91071" y="4800600"/>
            <a:ext cx="1874519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40" b="1">
                <a:solidFill>
                  <a:srgbClr val="252B36"/>
                </a:solidFill>
                <a:latin typeface="微软雅黑" panose="020B0503020204020204" charset="-122"/>
              </a:rPr>
              <a:t>监造放行</a:t>
            </a:r>
            <a:endParaRPr sz="1140" b="1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32" name="Chevron 31"/>
          <p:cNvSpPr/>
          <p:nvPr/>
        </p:nvSpPr>
        <p:spPr>
          <a:xfrm>
            <a:off x="8211311" y="5029200"/>
            <a:ext cx="182880" cy="201168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94192" y="4800600"/>
            <a:ext cx="1874519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Aft>
                <a:spcPts val="200"/>
              </a:spcAft>
            </a:pPr>
            <a:r>
              <a:rPr sz="1140" b="1">
                <a:solidFill>
                  <a:srgbClr val="252B36"/>
                </a:solidFill>
                <a:latin typeface="微软雅黑" panose="020B0503020204020204" charset="-122"/>
              </a:rPr>
              <a:t>质量追溯</a:t>
            </a:r>
            <a:endParaRPr sz="1140" b="1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2920" y="5779008"/>
            <a:ext cx="11109960" cy="50292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支撑模块：统计分析、风险预警、可视化、工日、二维码、签名、OCR、视频、付款、培训。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01 体系文件管理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核心模块流程与职责。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1A56B5"/>
          </a:solidFill>
          <a:ln w="12700"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基础建模阶段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按类型规划目录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1A56B5"/>
          </a:solidFill>
          <a:ln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上传技术文件/标准/法规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1A56B5"/>
          </a:solidFill>
          <a:ln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审核发布并编码归档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1A56B5"/>
          </a:solidFill>
          <a:ln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审批通过质量计划收录标准库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1A56B5"/>
          </a:solidFill>
          <a:ln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策划与质量计划后续复用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69280" cy="310896"/>
          </a:xfrm>
          <a:prstGeom prst="roundRect">
            <a:avLst/>
          </a:prstGeom>
          <a:solidFill>
            <a:srgbClr val="1A56B5"/>
          </a:solidFill>
          <a:ln w="12700"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6928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说明：本页保留流程、功能按钮、参与角色和上下游关系，详细规则按实施阶段需求确认。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401568"/>
            <a:ext cx="2148840" cy="310896"/>
          </a:xfrm>
          <a:prstGeom prst="roundRect">
            <a:avLst/>
          </a:prstGeom>
          <a:solidFill>
            <a:srgbClr val="1A56B5"/>
          </a:solidFill>
          <a:ln w="12700"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功能按钮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55080" y="3730752"/>
            <a:ext cx="21488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按钮：新建目录 / 上传文件 / 提交审核 / 预览 / 下载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641080" y="3401568"/>
            <a:ext cx="2514600" cy="310896"/>
          </a:xfrm>
          <a:prstGeom prst="roundRect">
            <a:avLst/>
          </a:prstGeom>
          <a:solidFill>
            <a:srgbClr val="1A56B5"/>
          </a:solidFill>
          <a:ln w="12700"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参与角色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41080" y="3730752"/>
            <a:ext cx="25146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角色：监造管理部门、监造工程师、审查人/总监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55080" y="4992624"/>
            <a:ext cx="4800600" cy="310896"/>
          </a:xfrm>
          <a:prstGeom prst="roundRect">
            <a:avLst/>
          </a:prstGeom>
          <a:solidFill>
            <a:srgbClr val="1A56B5"/>
          </a:solidFill>
          <a:ln w="12700"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模块关系 / 触发来源 / 输出去向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5080" y="5321808"/>
            <a:ext cx="480060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来源：外部法规标准、技术资料、已审批质量计划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去向：策划管理、供方文件审核、质量计划标准建立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先后关系：先立统一依据，再做策划和质量计划。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02 物资采购管理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核心模块流程与职责。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1A56B5"/>
          </a:solidFill>
          <a:ln w="12700"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基础建模阶段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创建合同并录入唯一字段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1A56B5"/>
          </a:solidFill>
          <a:ln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在“物资维护”入口建物资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1A56B5"/>
          </a:solidFill>
          <a:ln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批量导入/增删改并留痕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1A56B5"/>
          </a:solidFill>
          <a:ln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维护状态并查询导出打印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1A56B5"/>
          </a:solidFill>
          <a:ln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完结归档并向监造模块同步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69280" cy="310896"/>
          </a:xfrm>
          <a:prstGeom prst="roundRect">
            <a:avLst/>
          </a:prstGeom>
          <a:solidFill>
            <a:srgbClr val="1A56B5"/>
          </a:solidFill>
          <a:ln w="12700"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6928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说明：本页保留流程、功能按钮、参与角色和上下游关系，详细规则按实施阶段需求确认。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401568"/>
            <a:ext cx="2148840" cy="310896"/>
          </a:xfrm>
          <a:prstGeom prst="roundRect">
            <a:avLst/>
          </a:prstGeom>
          <a:solidFill>
            <a:srgbClr val="1A56B5"/>
          </a:solidFill>
          <a:ln w="12700"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功能按钮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55080" y="3730752"/>
            <a:ext cx="21488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按钮：新建合同 / 物资维护 / 导入 / 导出 / 归档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641080" y="3401568"/>
            <a:ext cx="2514600" cy="310896"/>
          </a:xfrm>
          <a:prstGeom prst="roundRect">
            <a:avLst/>
          </a:prstGeom>
          <a:solidFill>
            <a:srgbClr val="1A56B5"/>
          </a:solidFill>
          <a:ln w="12700"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参与角色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41080" y="3730752"/>
            <a:ext cx="25146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角色：项目负责人/采购员、监造管理部门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55080" y="4992624"/>
            <a:ext cx="4800600" cy="310896"/>
          </a:xfrm>
          <a:prstGeom prst="roundRect">
            <a:avLst/>
          </a:prstGeom>
          <a:solidFill>
            <a:srgbClr val="1A56B5"/>
          </a:solidFill>
          <a:ln w="12700"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模块关系 / 触发来源 / 输出去向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5080" y="5321808"/>
            <a:ext cx="480060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来源：采购合同、供应商信息、合同变更信息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去向：任务分配管理、监造验收、监造放行、质量追溯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先后关系：先建合同和物资台账，再做任务分配。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03 任务分配管理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核心模块流程与职责。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1A56B5"/>
          </a:solidFill>
          <a:ln w="12700"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基础建模阶段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创建项目并配置属性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1A56B5"/>
          </a:solidFill>
          <a:ln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编制任务并绑定采购包/供应商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1A56B5"/>
          </a:solidFill>
          <a:ln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项目负责人指定监理人员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1A56B5"/>
          </a:solidFill>
          <a:ln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审批通过后自动下放文件权限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1A56B5"/>
          </a:solidFill>
          <a:ln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人员变更时走交接并自动流转权限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69280" cy="310896"/>
          </a:xfrm>
          <a:prstGeom prst="roundRect">
            <a:avLst/>
          </a:prstGeom>
          <a:solidFill>
            <a:srgbClr val="1A56B5"/>
          </a:solidFill>
          <a:ln w="12700"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6928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说明：本页保留流程、功能按钮、参与角色和上下游关系，详细规则按实施阶段需求确认。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401568"/>
            <a:ext cx="2148840" cy="310896"/>
          </a:xfrm>
          <a:prstGeom prst="roundRect">
            <a:avLst/>
          </a:prstGeom>
          <a:solidFill>
            <a:srgbClr val="1A56B5"/>
          </a:solidFill>
          <a:ln w="12700"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功能按钮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55080" y="3730752"/>
            <a:ext cx="21488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按钮：新建项目 / 分配任务 / 提交审批 / 发起变更 / 交接确认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641080" y="3401568"/>
            <a:ext cx="2514600" cy="310896"/>
          </a:xfrm>
          <a:prstGeom prst="roundRect">
            <a:avLst/>
          </a:prstGeom>
          <a:solidFill>
            <a:srgbClr val="1A56B5"/>
          </a:solidFill>
          <a:ln w="12700"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参与角色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41080" y="3730752"/>
            <a:ext cx="25146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角色：监造管理部门、项目负责人/采购员、监造工程师、审查人/总监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55080" y="4992624"/>
            <a:ext cx="4800600" cy="310896"/>
          </a:xfrm>
          <a:prstGeom prst="roundRect">
            <a:avLst/>
          </a:prstGeom>
          <a:solidFill>
            <a:srgbClr val="1A56B5"/>
          </a:solidFill>
          <a:ln w="12700">
            <a:solidFill>
              <a:srgbClr val="1A5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模块关系 / 触发来源 / 输出去向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5080" y="5321808"/>
            <a:ext cx="480060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来源：项目立项信息、合同物资台账、采购包与供应商信息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去向：策划管理、监造过程监督和执行、培训与考试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先后关系：任务未审批通过，后续策划和现场执行不能合法启动。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04 策划管理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核心模块流程与职责。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7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0C78A4"/>
          </a:solidFill>
          <a:ln w="12700"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执行准备阶段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校验任务状态为“待策划”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0C78A4"/>
          </a:solidFill>
          <a:ln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绑定归属采购包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0C78A4"/>
          </a:solidFill>
          <a:ln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按封面/主体/检试验计划编制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0C78A4"/>
          </a:solidFill>
          <a:ln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项目负责人初审+管理部门终审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0C78A4"/>
          </a:solidFill>
          <a:ln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升版迭代并归档历史版本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69280" cy="310896"/>
          </a:xfrm>
          <a:prstGeom prst="roundRect">
            <a:avLst/>
          </a:prstGeom>
          <a:solidFill>
            <a:srgbClr val="0C78A4"/>
          </a:solidFill>
          <a:ln w="12700"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6928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说明：本页保留流程、功能按钮、参与角色和上下游关系，详细规则按实施阶段需求确认。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401568"/>
            <a:ext cx="2148840" cy="310896"/>
          </a:xfrm>
          <a:prstGeom prst="roundRect">
            <a:avLst/>
          </a:prstGeom>
          <a:solidFill>
            <a:srgbClr val="0C78A4"/>
          </a:solidFill>
          <a:ln w="12700"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功能按钮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55080" y="3730752"/>
            <a:ext cx="21488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按钮：新建策划 / 保存草稿 / 提交审批 / 升版 / 查看历史版本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641080" y="3401568"/>
            <a:ext cx="2514600" cy="310896"/>
          </a:xfrm>
          <a:prstGeom prst="roundRect">
            <a:avLst/>
          </a:prstGeom>
          <a:solidFill>
            <a:srgbClr val="0C78A4"/>
          </a:solidFill>
          <a:ln w="12700"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参与角色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41080" y="3730752"/>
            <a:ext cx="25146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角色：监造工程师、审查人/总监、监造管理部门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55080" y="4992624"/>
            <a:ext cx="4800600" cy="310896"/>
          </a:xfrm>
          <a:prstGeom prst="roundRect">
            <a:avLst/>
          </a:prstGeom>
          <a:solidFill>
            <a:srgbClr val="0C78A4"/>
          </a:solidFill>
          <a:ln w="12700"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模块关系 / 触发来源 / 输出去向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5080" y="5321808"/>
            <a:ext cx="480060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来源：已审批监造任务、采购包资料、体系文件标准库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去向：供方文件审核、质量计划标准建立、电子签名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先后关系：策划未生效，后续供方审核和质控点确认口径不完整。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05 供方文件审核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核心模块流程与职责。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8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0C78A4"/>
          </a:solidFill>
          <a:ln w="12700"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执行准备阶段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供应商选择采购包提交文件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0C78A4"/>
          </a:solidFill>
          <a:ln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系统绑定任务/采购包/供方信息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0C78A4"/>
          </a:solidFill>
          <a:ln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监理在线审查并填写意见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0C78A4"/>
          </a:solidFill>
          <a:ln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驳回补正或提交审批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0C78A4"/>
          </a:solidFill>
          <a:ln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版本留存并衔接质量计划确认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69280" cy="310896"/>
          </a:xfrm>
          <a:prstGeom prst="roundRect">
            <a:avLst/>
          </a:prstGeom>
          <a:solidFill>
            <a:srgbClr val="0C78A4"/>
          </a:solidFill>
          <a:ln w="12700"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6928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说明：本页保留流程、功能按钮、参与角色和上下游关系，详细规则按实施阶段需求确认。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401568"/>
            <a:ext cx="2148840" cy="310896"/>
          </a:xfrm>
          <a:prstGeom prst="roundRect">
            <a:avLst/>
          </a:prstGeom>
          <a:solidFill>
            <a:srgbClr val="0C78A4"/>
          </a:solidFill>
          <a:ln w="12700"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功能按钮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55080" y="3730752"/>
            <a:ext cx="21488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按钮：上传资料 / 填写意见 / 提交审批 / 退回补正 / 查看版本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641080" y="3401568"/>
            <a:ext cx="2514600" cy="310896"/>
          </a:xfrm>
          <a:prstGeom prst="roundRect">
            <a:avLst/>
          </a:prstGeom>
          <a:solidFill>
            <a:srgbClr val="0C78A4"/>
          </a:solidFill>
          <a:ln w="12700"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参与角色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41080" y="3730752"/>
            <a:ext cx="25146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角色：供应商/制造厂、监造工程师、审查人/总监、监造管理部门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55080" y="4992624"/>
            <a:ext cx="4800600" cy="310896"/>
          </a:xfrm>
          <a:prstGeom prst="roundRect">
            <a:avLst/>
          </a:prstGeom>
          <a:solidFill>
            <a:srgbClr val="0C78A4"/>
          </a:solidFill>
          <a:ln w="12700"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模块关系 / 触发来源 / 输出去向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5080" y="5321808"/>
            <a:ext cx="480060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来源：供应商质量计划文件、资质材料、采购包附件、技术标准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去向：质量计划标准建立、图文识别信息抓取、二期防造假管理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先后关系：先把供方资料审核受控，再让质量计划正式生效。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06 质量计划标准建立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核心模块流程与职责。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9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0C78A4"/>
          </a:solidFill>
          <a:ln w="12700"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执行准备阶段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供应商创建母/子/分计划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0C78A4"/>
          </a:solidFill>
          <a:ln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标注 W/R/H 质控点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0C78A4"/>
          </a:solidFill>
          <a:ln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监理+监造双线审批并签章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0C78A4"/>
          </a:solidFill>
          <a:ln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系统按工序生成见证点清单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0C78A4"/>
          </a:solidFill>
          <a:ln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生效后按版本持续维护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69280" cy="310896"/>
          </a:xfrm>
          <a:prstGeom prst="roundRect">
            <a:avLst/>
          </a:prstGeom>
          <a:solidFill>
            <a:srgbClr val="0C78A4"/>
          </a:solidFill>
          <a:ln w="12700"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6928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说明：本页保留流程、功能按钮、参与角色和上下游关系，详细规则按实施阶段需求确认。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401568"/>
            <a:ext cx="2148840" cy="310896"/>
          </a:xfrm>
          <a:prstGeom prst="roundRect">
            <a:avLst/>
          </a:prstGeom>
          <a:solidFill>
            <a:srgbClr val="0C78A4"/>
          </a:solidFill>
          <a:ln w="12700"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功能按钮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55080" y="3730752"/>
            <a:ext cx="21488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按钮：新建计划 / 标注质控点 / 提交审批 / 生成清单 / 升版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641080" y="3401568"/>
            <a:ext cx="2514600" cy="310896"/>
          </a:xfrm>
          <a:prstGeom prst="roundRect">
            <a:avLst/>
          </a:prstGeom>
          <a:solidFill>
            <a:srgbClr val="0C78A4"/>
          </a:solidFill>
          <a:ln w="12700"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参与角色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41080" y="3730752"/>
            <a:ext cx="25146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角色：供应商/制造厂、监造工程师、监造管理部门、审查人/总监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55080" y="4992624"/>
            <a:ext cx="4800600" cy="310896"/>
          </a:xfrm>
          <a:prstGeom prst="roundRect">
            <a:avLst/>
          </a:prstGeom>
          <a:solidFill>
            <a:srgbClr val="0C78A4"/>
          </a:solidFill>
          <a:ln w="12700">
            <a:solidFill>
              <a:srgbClr val="0C7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模块关系 / 触发来源 / 输出去向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5080" y="5321808"/>
            <a:ext cx="480060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来源：供方文件审核结果、体系文件标准库、采购包及物资工序信息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去向：监造过程监督和执行、监造验收、监造记录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先后关系：质控点未生效，后续见证、专项监督和验收依据都不成立。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07 监造过程监督和执行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核心模块流程与职责。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10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监督执行阶段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选择执行中的监造任务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按日填报日常监督日志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按质量计划发起专项监督/见证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2 天内回传佐证材料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异常项联动质量问题和统计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6928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6928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说明：本页保留流程、功能按钮、参与角色和上下游关系，详细规则按实施阶段需求确认。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401568"/>
            <a:ext cx="214884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功能按钮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55080" y="3730752"/>
            <a:ext cx="21488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按钮：填报日志 / 发起监督 / 上传附件 / 提交记录 / 更新进度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641080" y="3401568"/>
            <a:ext cx="251460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参与角色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41080" y="3730752"/>
            <a:ext cx="25146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角色：监造工程师、供应商/制造厂、监造管理部门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55080" y="4992624"/>
            <a:ext cx="480060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模块关系 / 触发来源 / 输出去向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5080" y="5321808"/>
            <a:ext cx="480060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来源：已生效监造任务、质量计划、W/R/H 见证点、现场生产数据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去向：监造巡查管理、监造质量问题处理、抽查复验管理、监造记录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先后关系：这是主生产区，后续巡查、问题、抽查和记录都从这里持续取数或被这里触发。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08 监造巡查管理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核心模块流程与职责。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11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监督执行阶段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依据任务创建或变更巡查计划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逐级审批后实施巡查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巡查结束自动生成报告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生成行动项并判定是否质量问题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全部关闭后本次巡查办结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6928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6928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说明：本页保留流程、功能按钮、参与角色和上下游关系，详细规则按实施阶段需求确认。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401568"/>
            <a:ext cx="214884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功能按钮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55080" y="3730752"/>
            <a:ext cx="21488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按钮：新建巡查 / 提交审批 / 生成报告 / 分派行动项 / 关闭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641080" y="3401568"/>
            <a:ext cx="251460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参与角色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41080" y="3730752"/>
            <a:ext cx="25146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角色：监造工程师、监造管理部门、供应商/制造厂、审查人/总监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55080" y="4992624"/>
            <a:ext cx="480060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模块关系 / 触发来源 / 输出去向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5080" y="5321808"/>
            <a:ext cx="480060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来源：执行中的监造任务、现场巡查安排、监督记录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去向：监造质量问题处理、监造记录、风险预警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先后关系：巡查是监督执行的重要支路，行动项可直接回流到问题闭环和风险预警。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09 监造质量问题处理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核心模块流程与职责。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12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监督执行阶段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从业务记录页快捷建单或手动建单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按单据类型进入审批流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系统推送供应商整改并要求回传佐证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监造复核合格/不合格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单据和源业务记录同步关闭或退回重整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6928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6928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说明：本页保留流程、功能按钮、参与角色和上下游关系，详细规则按实施阶段需求确认。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401568"/>
            <a:ext cx="214884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功能按钮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55080" y="3730752"/>
            <a:ext cx="21488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按钮：快捷建单 / 提交审批 / 发送整改 / 复核 / 关闭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641080" y="3401568"/>
            <a:ext cx="251460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参与角色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41080" y="3730752"/>
            <a:ext cx="25146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角色：监造工程师、供应商/制造厂、审查人/总监、监造管理部门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55080" y="4992624"/>
            <a:ext cx="480060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模块关系 / 触发来源 / 输出去向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5080" y="5321808"/>
            <a:ext cx="480060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来源：巡视检查、专项监督、见证执行、监造验收、监造放行等业务记录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去向：风险预警、监造记录、统计分析、质量追溯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先后关系：该模块贯穿监督执行和交付收口阶段，接收多源问题并回写源业务。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10 抽查复验管理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核心模块流程与职责。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13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监督执行阶段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创建抽验任务并绑定任务/采购包/合同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指定抽验物项、检查人员、时限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在线录入检查细节和结果判定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上传图片/文件并提出整改建议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系统自动生成抽验复查台账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6928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6928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说明：本页保留流程、功能按钮、参与角色和上下游关系，详细规则按实施阶段需求确认。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401568"/>
            <a:ext cx="214884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功能按钮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55080" y="3730752"/>
            <a:ext cx="21488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按钮：新建抽验 / 录入结果 / 上传附件 / 提交建议 / 查看报表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641080" y="3401568"/>
            <a:ext cx="251460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参与角色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41080" y="3730752"/>
            <a:ext cx="25146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角色：监造工程师、项目负责人/采购员、供应商/制造厂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55080" y="4992624"/>
            <a:ext cx="480060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模块关系 / 触发来源 / 输出去向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5080" y="5321808"/>
            <a:ext cx="480060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来源：监造任务、物资采购包、合同基本信息、抽验要求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去向：监造质量问题处理、统计分析、监造记录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先后关系：抽查复验和巡查并列服务监督执行，结果既可能触发质量问题，也会进入统计报表。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11 监造记录（日 / 周 / 月报）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核心模块流程与职责。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14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监督执行阶段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按任务/采购包创建日报周报月报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自动抓取日志/专项监督/问题/行动项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监理编辑补充照片与说明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监理编制-负责人审核-管理部门审核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228057"/>
          </a:solidFill>
          <a:ln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批准后固化电子档案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6928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6928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说明：本页保留流程、功能按钮、参与角色和上下游关系，详细规则按实施阶段需求确认。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401568"/>
            <a:ext cx="214884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功能按钮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55080" y="3730752"/>
            <a:ext cx="21488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按钮：新建日报 / 自动汇总 / 提交审批 / 打印 / 归档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641080" y="3401568"/>
            <a:ext cx="251460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参与角色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41080" y="3730752"/>
            <a:ext cx="25146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角色：监造工程师、审查人/总监、监造管理部门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55080" y="4992624"/>
            <a:ext cx="4800600" cy="310896"/>
          </a:xfrm>
          <a:prstGeom prst="roundRect">
            <a:avLst/>
          </a:prstGeom>
          <a:solidFill>
            <a:srgbClr val="228057"/>
          </a:solidFill>
          <a:ln w="12700">
            <a:solidFill>
              <a:srgbClr val="228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模块关系 / 触发来源 / 输出去向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5080" y="5321808"/>
            <a:ext cx="480060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来源：日志、专项监督、质量问题、巡查行动项、抽验结果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去向：监造完工管理、统计分析、可视化管理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先后关系：该模块负责把执行阶段分散数据汇总成正式报告和电子档案。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12 监造完工管理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核心模块流程与职责。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15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交付收口阶段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质量计划完成后发起完工总结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系统自动关联合同并汇总全生命周期数据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监理编辑补充修正初稿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提交负责人和管理部门审查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批准后自动生成完工报告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69280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6928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说明：本页保留流程、功能按钮、参与角色和上下游关系，详细规则按实施阶段需求确认。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401568"/>
            <a:ext cx="2148840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功能按钮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55080" y="3730752"/>
            <a:ext cx="21488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按钮：发起总结 / 编辑初稿 / 提交审查 / 生成报告 / 归档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641080" y="3401568"/>
            <a:ext cx="2514600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参与角色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41080" y="3730752"/>
            <a:ext cx="25146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角色：监造工程师、审查人/总监、监造管理部门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55080" y="4992624"/>
            <a:ext cx="4800600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模块关系 / 触发来源 / 输出去向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5080" y="5321808"/>
            <a:ext cx="480060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来源：监造记录、见证点执行、质量问题、抽查复验、验收准备数据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去向：监造验收、可视化管理、质量追溯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先后关系：先形成正式总结和报告，再组织预验收和放行判断。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13 监造验收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核心模块流程与职责。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16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交付收口阶段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创建预验收遗留项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跟踪整改进度并上传佐证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遗留项关闭后组织正式验收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监造人员创建质量放行单并走审核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系统统计一次合格率和验收结果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69280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6928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说明：本页保留流程、功能按钮、参与角色和上下游关系，详细规则按实施阶段需求确认。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401568"/>
            <a:ext cx="2148840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功能按钮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55080" y="3730752"/>
            <a:ext cx="21488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按钮：新建遗留项 / 提交关闭 / 发起验收 / 上传附件 / 查看统计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641080" y="3401568"/>
            <a:ext cx="2514600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参与角色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41080" y="3730752"/>
            <a:ext cx="25146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角色：监造工程师、供应商/制造厂、监造管理部门、审查人/总监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55080" y="4992624"/>
            <a:ext cx="4800600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模块关系 / 触发来源 / 输出去向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5080" y="5321808"/>
            <a:ext cx="480060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来源：完工总结、质量计划执行结果、遗留问题整改信息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去向：监造放行、质量追溯、统计分析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先后关系：验收先关遗留项，再形成放行依据；结果还要反哺统计与追溯。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14 监造放行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核心模块流程与职责。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17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交付收口阶段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供应商提交放行申请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系统自动生成申请单号并推送待办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监造查看申请和附件并审查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编制放行单并提交审批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审批通过后通知供应商发货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69280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6928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说明：本页保留流程、功能按钮、参与角色和上下游关系，详细规则按实施阶段需求确认。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401568"/>
            <a:ext cx="2148840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功能按钮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55080" y="3730752"/>
            <a:ext cx="21488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按钮：发起放行 / 上传佐证 / 编制放行单 / 提交审批 / 通知发货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641080" y="3401568"/>
            <a:ext cx="2514600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参与角色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41080" y="3730752"/>
            <a:ext cx="25146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角色：供应商/制造厂、监造工程师、审查人/总监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55080" y="4992624"/>
            <a:ext cx="4800600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模块关系 / 触发来源 / 输出去向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5080" y="5321808"/>
            <a:ext cx="480060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来源：供应商放行申请、监造验收结果、质量放行单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去向：质量追溯、付款台账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先后关系：这是交付收口阶段的最终业务动作之一，审批通过后影响追溯与经营。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15 质量追溯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核心模块流程与职责。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18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交付收口阶段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输入采购物项编号或模糊条件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聚合合同/供应商/问题/验收/放行数据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按时间轴展示全流程节点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打开关联文件与问题记录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A97117"/>
          </a:solidFill>
          <a:ln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导出追溯结果用于复盘或追责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69280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6928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说明：本页保留流程、功能按钮、参与角色和上下游关系，详细规则按实施阶段需求确认。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401568"/>
            <a:ext cx="2148840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功能按钮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55080" y="3730752"/>
            <a:ext cx="21488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按钮：联查 / 查看节点 / 下载文件 / 导出追溯结果 / 回溯定位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641080" y="3401568"/>
            <a:ext cx="2514600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参与角色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41080" y="3730752"/>
            <a:ext cx="251460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70" b="0">
                <a:solidFill>
                  <a:srgbClr val="252B36"/>
                </a:solidFill>
                <a:latin typeface="微软雅黑" panose="020B0503020204020204" charset="-122"/>
              </a:rPr>
              <a:t>角色：监造工程师、监造管理部门、项目负责人/采购员</a:t>
            </a:r>
            <a:endParaRPr sz="107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55080" y="4992624"/>
            <a:ext cx="4800600" cy="310896"/>
          </a:xfrm>
          <a:prstGeom prst="roundRect">
            <a:avLst/>
          </a:prstGeom>
          <a:solidFill>
            <a:srgbClr val="A97117"/>
          </a:solidFill>
          <a:ln w="12700">
            <a:solidFill>
              <a:srgbClr val="A97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模块关系 / 触发来源 / 输出去向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5080" y="5321808"/>
            <a:ext cx="480060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来源：合同物资台账、质量问题、监造验收、监造放行、监造记录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去向：统计分析、可视化管理、甲方追责与复盘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先后关系：主链最终收口模块，前面所有业务数据只有形成追溯闭环，系统价值才完整。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S01 数据统计及质量趋势分析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支撑模块挂载到主链关键节点。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19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管理支撑阶段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汇总执行数据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按维度分类统计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生成趋势图/对比图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点击图表下钻明细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导出分析报表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23560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23560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说明：本模块按一期范围挂载到对应业务节点，详细配置在实施阶段确认。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401568"/>
            <a:ext cx="486460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挂载节点 / 触发 / 按钮 / 输出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91072" y="3730752"/>
            <a:ext cx="4864608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挂载节点：监造记录、抽查复验管理、监造质量问题处理、质量追溯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触发时机：日报汇总后、问题闭环后、抽验完成后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功能按钮：查看统计图 / 切换维度 / 导出报表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输出结果：趋势图、合同质量分析报表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参与角色：监造管理部门、监造工程师、项目负责人/采购员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S02 产品进度跟踪及风险预警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支撑模块挂载到主链关键节点。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20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管理支撑阶段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归集质量相关数据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配置预警阈值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自动或手动触发预警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首页弹窗展示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问题关闭后解除预警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23560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23560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说明：本模块按一期范围挂载到对应业务节点，详细配置在实施阶段确认。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401568"/>
            <a:ext cx="486460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挂载节点 / 触发 / 按钮 / 输出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91072" y="3730752"/>
            <a:ext cx="4864608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挂载节点：监造过程监督和执行、监造质量问题处理、监造验收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触发时机：计划超时、整改超期、关键节点异常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功能按钮：查看预警 / 解除预警 / 预警配置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输出结果：风险预警清单、闭环记录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参与角色：监造管理部门、监造工程师、项目负责人/采购员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S04 可视化管理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支撑模块挂载到主链关键节点。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21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管理支撑阶段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汇总 KPI 指标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生成总览卡片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按供应商/委托方切换维度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钻取到清单页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查看异常预警汇总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23560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23560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说明：本模块按一期范围挂载到对应业务节点，详细配置在实施阶段确认。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401568"/>
            <a:ext cx="486460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挂载节点 / 触发 / 按钮 / 输出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91072" y="3730752"/>
            <a:ext cx="4864608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挂载节点：监造记录、质量问题、见证点、验收放行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触发时机：首页查看、领导汇报、阶段总结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功能按钮：查看总览 / 钻取清单 / 切换维度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输出结果：KPI 总览、异常概览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参与角色：监造管理部门、监造工程师、项目负责人/采购员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S05 日常工作量化管理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支撑模块挂载到主链关键节点。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22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管理支撑阶段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定义工作项与基准工日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任务完成后自动计入工日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支持手工补录临时工作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异常数据提醒并审核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按人/时间/合同统计工日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23560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23560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说明：本模块按一期范围挂载到对应业务节点，详细配置在实施阶段确认。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401568"/>
            <a:ext cx="486460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挂载节点 / 触发 / 按钮 / 输出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91072" y="3730752"/>
            <a:ext cx="4864608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挂载节点：监造过程监督和执行、抽查复验管理、监造记录、监造验收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触发时机：提交监督记录后、手工补录时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功能按钮：录入工日 / 提交审核 / 查看统计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输出结果：个人/团队工日台账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参与角色：监造管理部门、监造工程师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S06 产品二维码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支撑模块挂载到主链关键节点。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23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管理支撑阶段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抓取合同包核心数据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审批通过后生成二维码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信息变更时生成新版本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旧码扫码提示失效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按规则下载二维码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23560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23560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说明：本模块按一期范围挂载到对应业务节点，详细配置在实施阶段确认。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401568"/>
            <a:ext cx="486460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挂载节点 / 触发 / 按钮 / 输出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91072" y="3730752"/>
            <a:ext cx="4864608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挂载节点：物资采购管理、质量追溯、监造验收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触发时机：审批通过后、版本更新后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功能按钮：生成二维码 / 下载 / 查看版本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输出结果：二维码图片、版本记录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参与角色：监造管理部门、监造工程师、项目负责人/采购员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S07 电子签名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支撑模块挂载到主链关键节点。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24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管理支撑阶段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个人中心上传电子签名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审批节点调用签名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完成签章确认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记录签章人和时间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供后续审计追溯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23560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23560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说明：本模块按一期范围挂载到对应业务节点，详细配置在实施阶段确认。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401568"/>
            <a:ext cx="486460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挂载节点 / 触发 / 按钮 / 输出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91072" y="3730752"/>
            <a:ext cx="4864608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挂载节点：策划管理、供方文件审核、质量计划标准建立、监造放行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触发时机：审批提交时、签章确认时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功能按钮：上传签名 / 签章确认 / 查看签名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输出结果：电子签章记录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参与角色：监造工程师、审查人/总监、监造管理部门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S08 图文识别信息抓取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支撑模块挂载到主链关键节点。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25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管理支撑阶段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建立质量标准管理库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上传 PDF/图片文件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按模板抽取关键字段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与标准库数据比对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页面提示异常值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23560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23560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说明：本模块按一期范围挂载到对应业务节点，详细配置在实施阶段确认。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401568"/>
            <a:ext cx="486460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挂载节点 / 触发 / 按钮 / 输出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91072" y="3730752"/>
            <a:ext cx="4864608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挂载节点：供方文件审核、质量计划标准建立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触发时机：上传证明文件时、上传检测报告时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功能按钮：发起识别 / 查看字段 / 查看比对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输出结果：OCR 结果、字段比对结果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参与角色：监造工程师、监造管理部门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S09 视频远程识别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支撑模块挂载到主链关键节点。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26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管理支撑阶段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接入视频采集工具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实时视频监控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现场语音对讲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历史视频回放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形成视频记录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23560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23560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说明：本模块按一期范围挂载到对应业务节点，详细配置在实施阶段确认。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401568"/>
            <a:ext cx="486460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挂载节点 / 触发 / 按钮 / 输出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91072" y="3730752"/>
            <a:ext cx="4864608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挂载节点：监造过程监督和执行、监造巡查管理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触发时机：现场监造、远程巡检、事后回看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功能按钮：查看直播 / 语音对讲 / 回放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输出结果：视频记录、远程监控能力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参与角色：监造工程师、监造管理部门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S11 付款台账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支撑模块挂载到主链关键节点。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27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管理支撑阶段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录入付款台账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按角色控制数据范围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按条件查询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导入导出数据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形成付款统计结果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23560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23560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说明：本模块按一期范围挂载到对应业务节点，详细配置在实施阶段确认。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401568"/>
            <a:ext cx="486460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挂载节点 / 触发 / 按钮 / 输出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91072" y="3730752"/>
            <a:ext cx="4864608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挂载节点：物资采购管理、监造验收、监造放行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触发时机：付款登记时、对账时、导入导出时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功能按钮：导入 / 导出 / 查询 / 查看台账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输出结果：付款台账、统计结果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参与角色：项目负责人/采购员、监造管理部门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D57"/>
          </a:solidFill>
          <a:ln w="12700">
            <a:solidFill>
              <a:srgbClr val="122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978408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S12 培训与考试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060704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t>支撑模块挂载到主链关键节点。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292840" y="109728"/>
            <a:ext cx="502920" cy="329184"/>
          </a:xfrm>
          <a:prstGeom prst="roundRect">
            <a:avLst/>
          </a:prstGeom>
          <a:solidFill>
            <a:srgbClr val="275DAD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28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48132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管理支撑阶段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步骤1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创建培训并上传资料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496312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07207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步骤2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记录学习进度和心得反馈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800599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11495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步骤3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创建考试并自动/人工阅卷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104887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5783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步骤4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通过后发放证书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9409176" y="2194560"/>
            <a:ext cx="256032" cy="603504"/>
          </a:xfrm>
          <a:prstGeom prst="chevron">
            <a:avLst/>
          </a:prstGeom>
          <a:solidFill>
            <a:srgbClr val="5C667A"/>
          </a:solidFill>
          <a:ln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810512"/>
            <a:ext cx="1938527" cy="1371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步骤5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52B36"/>
                </a:solidFill>
                <a:latin typeface="微软雅黑" panose="020B0503020204020204" charset="-122"/>
              </a:rPr>
              <a:t>汇总培训与考试统计图表</a:t>
            </a:r>
            <a:endParaRPr sz="11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5623560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r>
              <a:t>模块说明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30752"/>
            <a:ext cx="5623560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t>说明：本模块按一期范围挂载到对应业务节点，详细配置在实施阶段确认。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401568"/>
            <a:ext cx="4864608" cy="310896"/>
          </a:xfrm>
          <a:prstGeom prst="roundRect">
            <a:avLst/>
          </a:prstGeom>
          <a:solidFill>
            <a:srgbClr val="5C667A"/>
          </a:solidFill>
          <a:ln w="12700">
            <a:solidFill>
              <a:srgbClr val="5C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36576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挂载节点 / 触发 / 按钮 / 输出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91072" y="3730752"/>
            <a:ext cx="4864608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挂载节点：任务分配管理、可视化管理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触发时机：培训开展时、考试组织时、证书发放时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功能按钮：发布培训 / 参加考试 / 查看证书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输出结果：培训记录、考试结果、证书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52B36"/>
                </a:solidFill>
                <a:latin typeface="微软雅黑" panose="020B0503020204020204" charset="-122"/>
              </a:rPr>
              <a:t>参与角色：监造管理部门、监造工程师</a:t>
            </a:r>
            <a:endParaRPr sz="1050" b="0">
              <a:solidFill>
                <a:srgbClr val="252B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1.36,&quot;left&quot;:57.95,&quot;top&quot;:123.84,&quot;width&quot;:836.9500000000002}"/>
</p:tagLst>
</file>

<file path=ppt/tags/tag2.xml><?xml version="1.0" encoding="utf-8"?>
<p:tagLst xmlns:p="http://schemas.openxmlformats.org/presentationml/2006/main">
  <p:tag name="KSO_WM_DIAGRAM_VIRTUALLY_FRAME" val="{&quot;height&quot;:351.36,&quot;left&quot;:57.95,&quot;top&quot;:123.84,&quot;width&quot;:836.9500000000002}"/>
</p:tagLst>
</file>

<file path=ppt/tags/tag3.xml><?xml version="1.0" encoding="utf-8"?>
<p:tagLst xmlns:p="http://schemas.openxmlformats.org/presentationml/2006/main">
  <p:tag name="KSO_WM_DIAGRAM_VIRTUALLY_FRAME" val="{&quot;height&quot;:351.36,&quot;left&quot;:57.95,&quot;top&quot;:123.84,&quot;width&quot;:836.9500000000002}"/>
</p:tagLst>
</file>

<file path=ppt/tags/tag4.xml><?xml version="1.0" encoding="utf-8"?>
<p:tagLst xmlns:p="http://schemas.openxmlformats.org/presentationml/2006/main">
  <p:tag name="KSO_WM_DIAGRAM_VIRTUALLY_FRAME" val="{&quot;height&quot;:351.36,&quot;left&quot;:57.95,&quot;top&quot;:123.84,&quot;width&quot;:836.9500000000002}"/>
</p:tagLst>
</file>

<file path=ppt/tags/tag5.xml><?xml version="1.0" encoding="utf-8"?>
<p:tagLst xmlns:p="http://schemas.openxmlformats.org/presentationml/2006/main">
  <p:tag name="KSO_WM_DIAGRAM_VIRTUALLY_FRAME" val="{&quot;height&quot;:351.36,&quot;left&quot;:57.95,&quot;top&quot;:123.84,&quot;width&quot;:836.9500000000002}"/>
</p:tagLst>
</file>

<file path=ppt/tags/tag6.xml><?xml version="1.0" encoding="utf-8"?>
<p:tagLst xmlns:p="http://schemas.openxmlformats.org/presentationml/2006/main">
  <p:tag name="KSO_WM_DIAGRAM_VIRTUALLY_FRAME" val="{&quot;height&quot;:351.36,&quot;left&quot;:57.95,&quot;top&quot;:123.84,&quot;width&quot;:836.9500000000002}"/>
</p:tagLst>
</file>

<file path=ppt/tags/tag7.xml><?xml version="1.0" encoding="utf-8"?>
<p:tagLst xmlns:p="http://schemas.openxmlformats.org/presentationml/2006/main">
  <p:tag name="KSO_WM_DIAGRAM_VIRTUALLY_FRAME" val="{&quot;height&quot;:351.36,&quot;left&quot;:57.95,&quot;top&quot;:123.84,&quot;width&quot;:836.9500000000002}"/>
</p:tagLst>
</file>

<file path=ppt/tags/tag8.xml><?xml version="1.0" encoding="utf-8"?>
<p:tagLst xmlns:p="http://schemas.openxmlformats.org/presentationml/2006/main">
  <p:tag name="KSO_WM_DIAGRAM_VIRTUALLY_FRAME" val="{&quot;height&quot;:351.36,&quot;left&quot;:57.95,&quot;top&quot;:123.84,&quot;width&quot;:836.9500000000002}"/>
</p:tagLst>
</file>

<file path=ppt/tags/tag9.xml><?xml version="1.0" encoding="utf-8"?>
<p:tagLst xmlns:p="http://schemas.openxmlformats.org/presentationml/2006/main">
  <p:tag name="KSO_WM_DIAGRAM_VIRTUALLY_FRAME" val="{&quot;height&quot;:351.36,&quot;left&quot;:57.95,&quot;top&quot;:123.84,&quot;width&quot;:836.9500000000002}"/>
</p:tagLst>
</file>

<file path=ppt/tags/tag10.xml><?xml version="1.0" encoding="utf-8"?>
<p:tagLst xmlns:p="http://schemas.openxmlformats.org/presentationml/2006/main">
  <p:tag name="KSO_WM_DIAGRAM_VIRTUALLY_FRAME" val="{&quot;height&quot;:351.36,&quot;left&quot;:57.95,&quot;top&quot;:123.84,&quot;width&quot;:836.950000000000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19777</Words>
  <Application>WPS 演示</Application>
  <PresentationFormat>On-screen Show (4:3)</PresentationFormat>
  <Paragraphs>1618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不要说话</cp:lastModifiedBy>
  <cp:revision>5</cp:revision>
  <dcterms:created xsi:type="dcterms:W3CDTF">2013-01-27T09:14:00Z</dcterms:created>
  <dcterms:modified xsi:type="dcterms:W3CDTF">2026-04-08T16:13:39Z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86A1176B52144DC2A698A0E472E9C20E_12</vt:lpwstr>
  </property>
  <property fmtid="{D5CDD505-2E9C-101B-9397-08002B2CF9AE}" pid="3" name="KSOProductBuildVer">
    <vt:lpwstr>2052-12.1.0.25225</vt:lpwstr>
  </property>
</Properties>
</file>