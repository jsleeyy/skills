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4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493776"/>
            <a:ext cx="1051560" cy="73152"/>
          </a:xfrm>
          <a:prstGeom prst="rect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监造信息化系统甲方汇报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2984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D7E6FF"/>
                </a:solidFill>
                <a:latin typeface="Microsoft YaHei"/>
              </a:defRPr>
            </a:pPr>
            <a:r>
              <a:t>一期建设方案 / 二期能力预留说明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920240"/>
            <a:ext cx="7315200" cy="1051560"/>
          </a:xfrm>
          <a:prstGeom prst="roundRect">
            <a:avLst/>
          </a:prstGeom>
          <a:solidFill>
            <a:srgbClr val="16355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本次汇报只回答三件事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FFFFFF"/>
                </a:solidFill>
                <a:latin typeface="Microsoft YaHei"/>
              </a:defRPr>
            </a:pPr>
            <a:r>
              <a:t>1. 需求模块的业务流程图、功能点按钮和模块先后逻辑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FFFFFF"/>
                </a:solidFill>
                <a:latin typeface="Microsoft YaHei"/>
              </a:defRPr>
            </a:pPr>
            <a:r>
              <a:t>2. 项目开发周期 SOP、各节点参与者身份和能干的事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FFFFFF"/>
                </a:solidFill>
                <a:latin typeface="Microsoft YaHei"/>
              </a:defRPr>
            </a:pPr>
            <a:r>
              <a:t>3. 软硬件入场时机和验收标准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914400"/>
            <a:ext cx="3429000" cy="2057400"/>
          </a:xfrm>
          <a:prstGeom prst="roundRect">
            <a:avLst/>
          </a:prstGeom>
          <a:solidFill>
            <a:srgbClr val="133154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当前建设口径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E6F0FF"/>
                </a:solidFill>
                <a:latin typeface="Microsoft YaHei"/>
              </a:defRPr>
            </a:pPr>
            <a:r>
              <a:t>当前属于一期开发阶段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E6F0FF"/>
                </a:solidFill>
                <a:latin typeface="Microsoft YaHei"/>
              </a:defRPr>
            </a:pPr>
            <a:r>
              <a:t>S03 防造假管理：二期实现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E6F0FF"/>
                </a:solidFill>
                <a:latin typeface="Microsoft YaHei"/>
              </a:defRPr>
            </a:pPr>
            <a:r>
              <a:t>S10 数据信息资源库及AI识别功能：二期实现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E6F0FF"/>
                </a:solidFill>
                <a:latin typeface="Microsoft YaHei"/>
              </a:defRPr>
            </a:pPr>
            <a:r>
              <a:t>S08 图文识别信息抓取：一期保留基础 OCR / 字段提取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572000"/>
            <a:ext cx="2578608" cy="1005840"/>
          </a:xfrm>
          <a:prstGeom prst="roundRect">
            <a:avLst/>
          </a:prstGeom>
          <a:solidFill>
            <a:srgbClr val="0F2B4B"/>
          </a:solidFill>
          <a:ln w="12700">
            <a:solidFill>
              <a:srgbClr val="24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7365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14807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0">
                <a:solidFill>
                  <a:srgbClr val="C6D7F5"/>
                </a:solidFill>
                <a:latin typeface="Microsoft YaHei"/>
              </a:defRPr>
            </a:pPr>
            <a:r>
              <a:t>原始需求模块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7" y="4572000"/>
            <a:ext cx="2578608" cy="1005840"/>
          </a:xfrm>
          <a:prstGeom prst="roundRect">
            <a:avLst/>
          </a:prstGeom>
          <a:solidFill>
            <a:srgbClr val="0F2B4B"/>
          </a:solidFill>
          <a:ln w="12700">
            <a:solidFill>
              <a:srgbClr val="24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7" y="47365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7" y="514807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0">
                <a:solidFill>
                  <a:srgbClr val="C6D7F5"/>
                </a:solidFill>
                <a:latin typeface="Microsoft YaHei"/>
              </a:defRPr>
            </a:pPr>
            <a:r>
              <a:t>流程型模块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4572000"/>
            <a:ext cx="2578608" cy="1005840"/>
          </a:xfrm>
          <a:prstGeom prst="roundRect">
            <a:avLst/>
          </a:prstGeom>
          <a:solidFill>
            <a:srgbClr val="0F2B4B"/>
          </a:solidFill>
          <a:ln w="12700">
            <a:solidFill>
              <a:srgbClr val="24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7" y="47365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7" y="514807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0">
                <a:solidFill>
                  <a:srgbClr val="C6D7F5"/>
                </a:solidFill>
                <a:latin typeface="Microsoft YaHei"/>
              </a:defRPr>
            </a:pPr>
            <a:r>
              <a:t>支撑型模块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5128" y="4572000"/>
            <a:ext cx="2578608" cy="1005840"/>
          </a:xfrm>
          <a:prstGeom prst="roundRect">
            <a:avLst/>
          </a:prstGeom>
          <a:solidFill>
            <a:srgbClr val="0F2B4B"/>
          </a:solidFill>
          <a:ln w="12700">
            <a:solidFill>
              <a:srgbClr val="24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8008" y="47365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8" y="514807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0">
                <a:solidFill>
                  <a:srgbClr val="C6D7F5"/>
                </a:solidFill>
                <a:latin typeface="Microsoft YaHei"/>
              </a:defRPr>
            </a:pPr>
            <a:r>
              <a:t>软硬件对象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98932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C9DCF8"/>
                </a:solidFill>
                <a:latin typeface="Microsoft YaHei"/>
              </a:defRPr>
            </a:pPr>
            <a:r>
              <a:t>汇报原则：参考资料只读，汇报文件只交付 PPT 与演讲稿；一期先保业务闭环、SOP 落地和环境验收，二期再做高风险智能增强。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业务总体蓝图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9560" y="18288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50" b="0">
                <a:solidFill>
                  <a:srgbClr val="D7E6FF"/>
                </a:solidFill>
                <a:latin typeface="Microsoft YaHei"/>
              </a:defRPr>
            </a:pPr>
            <a:r>
              <a:t>先看模块顺序，再看每个模块的功能点和按钮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987552"/>
            <a:ext cx="7543800" cy="93268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320" b="1">
                <a:solidFill>
                  <a:srgbClr val="2F6BFF"/>
                </a:solidFill>
                <a:latin typeface="Microsoft YaHei"/>
              </a:defRPr>
            </a:pPr>
            <a:r>
              <a:t>基础建模阶段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先把规则、对象和任务边界立起来。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主链顺序：01 体系文件管理 -&gt; 02 物资采购管理 -&gt; 03 任务分配管理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7543800" cy="2011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2157984"/>
            <a:ext cx="7543800" cy="932688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320" b="1">
                <a:solidFill>
                  <a:srgbClr val="1FA597"/>
                </a:solidFill>
                <a:latin typeface="Microsoft YaHei"/>
              </a:defRPr>
            </a:pPr>
            <a:r>
              <a:t>执行准备阶段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先把执行规则准备好，再允许进入现场动作。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主链顺序：04 策划管理 -&gt; 05 供方文件审核 -&gt; 06 质量计划标准建立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2157984"/>
            <a:ext cx="7543800" cy="201168"/>
          </a:xfrm>
          <a:prstGeom prst="rect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3328416"/>
            <a:ext cx="75438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320" b="1">
                <a:solidFill>
                  <a:srgbClr val="0D2443"/>
                </a:solidFill>
                <a:latin typeface="Microsoft YaHei"/>
              </a:defRPr>
            </a:pPr>
            <a:r>
              <a:t>监督执行阶段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围绕生产过程持续记录、检查、整改、沉淀。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主链顺序：07 监造过程监督和执行 -&gt; 08 监造质量问题处理 -&gt; 09 监造巡查管理 -&gt; 10 抽查复验管理 -&gt; 11 监造记录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3328416"/>
            <a:ext cx="7543800" cy="2011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4048" y="4498848"/>
            <a:ext cx="7543800" cy="932688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320" b="1">
                <a:solidFill>
                  <a:srgbClr val="D97706"/>
                </a:solidFill>
                <a:latin typeface="Microsoft YaHei"/>
              </a:defRPr>
            </a:pPr>
            <a:r>
              <a:t>交付收口阶段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把验收、放行、追溯和总结做成闭环。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主链顺序：12 监造完工管理 -&gt; 13 监造验收 -&gt; 14 监造放行 -&gt; 15 质量追溯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4498848"/>
            <a:ext cx="7543800" cy="2011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56448" y="987552"/>
            <a:ext cx="3639312" cy="466344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450" b="1">
                <a:solidFill>
                  <a:srgbClr val="0D2443"/>
                </a:solidFill>
                <a:latin typeface="Microsoft YaHei"/>
              </a:defRPr>
            </a:pPr>
            <a:r>
              <a:t>管理支撑模块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一期支撑：S01 数据统计及质量趋势分析 / S02 产品进度跟踪及风险预警 / S04 可视化管理 / S05 日常工作量化管理 / S06 产品二维码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一期支撑：S07 电子签名 / S08 图文识别信息抓取 / S09 视频远程识别 / S11 付款台账 / S12 培训与考试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二期预留：S03 防造假管理 / S10 数据信息资源库及AI识别功能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说明：支撑模块不是独立业务链，而是挂在主链关键节点上服务审核、预警、统计、识别、经营和培训。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5797296"/>
            <a:ext cx="1141171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汇报重点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19">
                <a:solidFill>
                  <a:srgbClr val="1F2937"/>
                </a:solidFill>
                <a:latin typeface="Microsoft YaHei"/>
              </a:defRPr>
            </a:pPr>
            <a:r>
              <a:t>这一页回答的是“模块之间怎么串起来”；后面分阶段逐页展开，每个模块都落到流程节点、业务动作、典型按钮、参与角色和上下游。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6419088"/>
            <a:ext cx="1147572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0" y="6455664"/>
            <a:ext cx="320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业务流程图：基础建模阶段 + 执行准备阶段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9560" y="18288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50" b="0">
                <a:solidFill>
                  <a:srgbClr val="D7E6FF"/>
                </a:solidFill>
                <a:latin typeface="Microsoft YaHei"/>
              </a:defRPr>
            </a:pPr>
            <a:r>
              <a:t>六个模块按先后顺序展开，按钮级功能点直接落卡片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914400"/>
            <a:ext cx="5623560" cy="84124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320" b="1">
                <a:solidFill>
                  <a:srgbClr val="2F6BFF"/>
                </a:solidFill>
                <a:latin typeface="Microsoft YaHei"/>
              </a:defRPr>
            </a:pPr>
            <a:r>
              <a:t>基础建模阶段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先把规则、对象和任务边界立起来。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主链顺序：01 体系文件管理 -&gt; 02 物资采购管理 -&gt; 03 任务分配管理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14400"/>
            <a:ext cx="5623560" cy="2560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0488" y="914400"/>
            <a:ext cx="5623560" cy="841248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320" b="1">
                <a:solidFill>
                  <a:srgbClr val="1FA597"/>
                </a:solidFill>
                <a:latin typeface="Microsoft YaHei"/>
              </a:defRPr>
            </a:pPr>
            <a:r>
              <a:t>执行准备阶段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先把执行规则准备好，再允许进入现场动作。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主链顺序：04 策划管理 -&gt; 05 供方文件审核 -&gt; 06 质量计划标准建立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0488" y="914400"/>
            <a:ext cx="5623560" cy="256032"/>
          </a:xfrm>
          <a:prstGeom prst="rect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1901952"/>
            <a:ext cx="349300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2F6BFF"/>
                </a:solidFill>
                <a:latin typeface="Microsoft YaHei"/>
              </a:defRPr>
            </a:pPr>
            <a:r>
              <a:t>01 体系文件管理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流程：目录规划 -&gt; 资料上传 -&gt; 编码归档 -&gt; 审核发布 -&gt; 引用复用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动作：规划目录 / 上传文件 / 审核发布 / 检索引用 / 模板沉淀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按钮：新建目录 / 上传文件 / 提交审核 / 预览 / 下载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角色：监造管理部门、监造工程师、审查人/总监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上下游：法规标准、技术资料 -&gt; 策划管理、质量计划标准建立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901952"/>
            <a:ext cx="3493008" cy="2011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87368" y="1901952"/>
            <a:ext cx="349300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2F6BFF"/>
                </a:solidFill>
                <a:latin typeface="Microsoft YaHei"/>
              </a:defRPr>
            </a:pPr>
            <a:r>
              <a:t>02 物资采购管理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流程：合同建档 -&gt; 物资绑定 -&gt; 状态维护 -&gt; 权限控制 -&gt; 数据复用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动作：创建合同 / 维护物资 / 状态更新 / 查询导出 / 归档锁定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按钮：新建合同 / 物资维护 / 导入 / 导出 / 归档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角色：项目负责人/采购员、监造管理部门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上下游：采购合同、供应商信息 -&gt; 任务分配管理、质量追溯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87368" y="1901952"/>
            <a:ext cx="3493008" cy="2011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90688" y="1901952"/>
            <a:ext cx="349300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2F6BFF"/>
                </a:solidFill>
                <a:latin typeface="Microsoft YaHei"/>
              </a:defRPr>
            </a:pPr>
            <a:r>
              <a:t>03 任务分配管理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流程：项目建档 -&gt; 任务拆分 -&gt; 指定人员 -&gt; 审批下发 -&gt; 权限生效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动作：创建项目 / 拆分任务 / 分派人员 / 审批下发 / 交接变更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按钮：新建项目 / 分配任务 / 提交审批 / 发起变更 / 交接确认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角色：监造管理部门、项目负责人/采购员、监造工程师、审查人/总监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上下游：项目、采购包、合同、物资 -&gt; 策划管理、监造过程监督和执行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0688" y="1901952"/>
            <a:ext cx="3493008" cy="2011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4048" y="4133087"/>
            <a:ext cx="349300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1FA597"/>
                </a:solidFill>
                <a:latin typeface="Microsoft YaHei"/>
              </a:defRPr>
            </a:pPr>
            <a:r>
              <a:t>04 策划管理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流程：选择任务 -&gt; 绑定采购包 -&gt; 编制策划 -&gt; 分级审批 -&gt; 生效归档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动作：选择任务 / 绑定采购包 / 编制策划 / 分级审批 / 升版迭代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按钮：新建策划 / 保存草稿 / 提交审批 / 升版 / 查看历史版本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角色：监造工程师、审查人/总监、监造管理部门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上下游：已审批任务、采购包资料 -&gt; 供方文件审核、质量计划标准建立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4133087"/>
            <a:ext cx="3493008" cy="201168"/>
          </a:xfrm>
          <a:prstGeom prst="rect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87368" y="4133087"/>
            <a:ext cx="349300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1FA597"/>
                </a:solidFill>
                <a:latin typeface="Microsoft YaHei"/>
              </a:defRPr>
            </a:pPr>
            <a:r>
              <a:t>05 供方文件审核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流程：资料提交 -&gt; 任务绑定 -&gt; 在线审查 -&gt; 审批处理 -&gt; 版本留存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动作：上传资料 / 绑定任务 / 填写意见 / 补充见证点 / 审批归档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按钮：上传资料 / 填写意见 / 提交审批 / 退回补正 / 查看版本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角色：供应商/制造厂、监造工程师、审查人/总监、监造管理部门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上下游：供应商文件、采购包、任务 -&gt; 质量计划标准建立、监造过程监督和执行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87368" y="4133087"/>
            <a:ext cx="3493008" cy="201168"/>
          </a:xfrm>
          <a:prstGeom prst="rect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90688" y="4133087"/>
            <a:ext cx="349300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1FA597"/>
                </a:solidFill>
                <a:latin typeface="Microsoft YaHei"/>
              </a:defRPr>
            </a:pPr>
            <a:r>
              <a:t>06 质量计划标准建立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流程：计划创建 -&gt; 质控标注 -&gt; 双线审批 -&gt; 清单生成 -&gt; 版本管控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动作：创建计划 / 分层拆解 / 审批确认 / 生成见证点 / 升版维护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按钮：新建计划 / 标注质控点 / 提交审批 / 生成清单 / 升版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角色：供应商/制造厂、监造工程师、监造管理部门、审查人/总监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上下游：物资品类、工序、标准文件 -&gt; 监造过程监督和执行、监造验收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90688" y="4133087"/>
            <a:ext cx="3493008" cy="201168"/>
          </a:xfrm>
          <a:prstGeom prst="rect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6419088"/>
            <a:ext cx="1147572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20" y="6455664"/>
            <a:ext cx="320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业务流程图：监督执行阶段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9560" y="18288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50" b="0">
                <a:solidFill>
                  <a:srgbClr val="D7E6FF"/>
                </a:solidFill>
                <a:latin typeface="Microsoft YaHei"/>
              </a:defRPr>
            </a:pPr>
            <a:r>
              <a:t>主生产区要讲清“怎么监督、怎么建单、怎么留痕、怎么闭环”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914400"/>
            <a:ext cx="114300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320" b="1">
                <a:solidFill>
                  <a:srgbClr val="0D2443"/>
                </a:solidFill>
                <a:latin typeface="Microsoft YaHei"/>
              </a:defRPr>
            </a:pPr>
            <a:r>
              <a:t>监督执行阶段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围绕生产过程持续记录、检查、整改、沉淀。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主链顺序：07 监造过程监督和执行 -&gt; 08 监造质量问题处理 -&gt; 09 监造巡查管理 -&gt; 10 抽查复验管理 -&gt; 11 监造记录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14400"/>
            <a:ext cx="11430000" cy="256032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901952"/>
            <a:ext cx="349300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07 监造过程监督和执行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流程：选择任务 -&gt; 执行监督 -&gt; 填报记录 -&gt; 上传佐证 -&gt; 更新状态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动作：日志填报 / 专项监督 / 见证执行 / 上传佐证 / 进度更新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按钮：填报日志 / 发起监督 / 上传附件 / 提交记录 / 更新进度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角色：监造工程师、供应商/制造厂、监造管理部门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上下游：任务、质量计划、见证点 -&gt; 监造质量问题处理、监造记录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901952"/>
            <a:ext cx="3493008" cy="2011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87368" y="1901952"/>
            <a:ext cx="349300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08 监造质量问题处理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流程：问题发现 -&gt; 建单审批 -&gt; 供应商整改 -&gt; 监造复核 -&gt; 闭环回写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动作：创建单据 / 审批流转 / 推送整改 / 复核关闭 / 状态回写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按钮：快捷建单 / 提交审批 / 发送整改 / 复核 / 关闭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角色：监造工程师、供应商/制造厂、审查人/总监、监造管理部门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上下游：巡检/见证/验收问题 -&gt; 监造巡查管理、监造验收、质量追溯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87368" y="1901952"/>
            <a:ext cx="3493008" cy="2011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90688" y="1901952"/>
            <a:ext cx="349300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09 监造巡查管理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流程：巡查计划 -&gt; 审批通过 -&gt; 执行巡查 -&gt; 整改跟踪 -&gt; 办结归档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动作：创建计划 / 审批 / 执行巡查 / 生成行动项 / 关闭办结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按钮：新建巡查 / 提交审批 / 生成报告 / 分派行动项 / 关闭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角色：监造工程师、监造管理部门、供应商/制造厂、审查人/总监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上下游：监造任务、巡查安排 -&gt; 监造质量问题处理、监造记录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90688" y="1901952"/>
            <a:ext cx="3493008" cy="2011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40280" y="4133087"/>
            <a:ext cx="349300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10 抽查复验管理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流程：创建任务 -&gt; 执行抽验 -&gt; 结果录入 -&gt; 整改建议 -&gt; 台账统计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动作：创建抽验任务 / 录入结果 / 上传附件 / 触发整改 / 统计分析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按钮：新建抽验 / 录入结果 / 上传附件 / 提交建议 / 查看报表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角色：监造工程师、项目负责人/采购员、供应商/制造厂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上下游：合同、物项、抽验要求 -&gt; 监造质量问题处理、数据统计及质量趋势分析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4133087"/>
            <a:ext cx="3493008" cy="2011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0" y="4133087"/>
            <a:ext cx="349300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11 监造记录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流程：填报日报 -&gt; 自动汇总 -&gt; 编辑补充 -&gt; 提交流程 -&gt; 固化归档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动作：填报日报 / 汇总周月报 / 补充说明 / 提交审批 / 归档追溯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按钮：新建日报 / 自动汇总 / 提交审批 / 打印 / 归档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角色：监造工程师、审查人/总监、监造管理部门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上下游：日志、监督记录、问题、行动项 -&gt; 监造完工管理、数据统计及质量趋势分析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4133087"/>
            <a:ext cx="3493008" cy="2011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6419088"/>
            <a:ext cx="1147572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0" y="6455664"/>
            <a:ext cx="320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业务流程图：交付收口阶段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9560" y="18288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50" b="0">
                <a:solidFill>
                  <a:srgbClr val="D7E6FF"/>
                </a:solidFill>
                <a:latin typeface="Microsoft YaHei"/>
              </a:defRPr>
            </a:pPr>
            <a:r>
              <a:t>从完工总结到验收放行再到质量追溯，把项目最后一公里讲清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914400"/>
            <a:ext cx="11430000" cy="841248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320" b="1">
                <a:solidFill>
                  <a:srgbClr val="D97706"/>
                </a:solidFill>
                <a:latin typeface="Microsoft YaHei"/>
              </a:defRPr>
            </a:pPr>
            <a:r>
              <a:t>交付收口阶段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把验收、放行、追溯和总结做成闭环。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主链顺序：12 监造完工管理 -&gt; 13 监造验收 -&gt; 14 监造放行 -&gt; 15 质量追溯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14400"/>
            <a:ext cx="1143000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874519"/>
            <a:ext cx="537667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12 监造完工管理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流程：发起总结 -&gt; 自动汇总 -&gt; 编辑修订 -&gt; 审核批准 -&gt; 报告归档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动作：发起总结 / 系统汇总 / 人工修订 / 提交流程 / 生成报告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按钮：发起总结 / 编辑初稿 / 提交审查 / 生成报告 / 归档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角色：监造工程师、审查人/总监、监造管理部门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上下游：合同全生命周期监造数据 -&gt; 监造验收、质量追溯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874519"/>
            <a:ext cx="5376672" cy="2011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62472" y="1874519"/>
            <a:ext cx="537667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13 监造验收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流程：预验收 -&gt; 遗留整改 -&gt; 正式验收 -&gt; 放行审核 -&gt; 统计沉淀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动作：预验收登记 / 遗留项整改 / 正式验收 / 放行审核 / 统计分析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按钮：新建遗留项 / 提交关闭 / 发起验收 / 上传附件 / 查看统计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角色：监造工程师、供应商/制造厂、监造管理部门、审查人/总监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上下游：完工成果、遗留问题 -&gt; 监造放行、质量追溯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62472" y="1874519"/>
            <a:ext cx="5376672" cy="2011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4048" y="4114800"/>
            <a:ext cx="537667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14 监造放行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流程：供应商申请 -&gt; 资料审查 -&gt; 放行单编制 -&gt; 审批通过 -&gt; 通知发货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动作：发起申请 / 补充资料 / 编制放行单 / 审批通过 / 通知发货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按钮：发起放行 / 上传佐证 / 编制放行单 / 提交审批 / 通知发货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角色：供应商/制造厂、监造工程师、审查人/总监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上下游：供应商申请、验收结果 -&gt; 质量追溯、付款台账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4114800"/>
            <a:ext cx="5376672" cy="2011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62472" y="4114800"/>
            <a:ext cx="537667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15 质量追溯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流程：输入编号 -&gt; 聚合数据 -&gt; 时间轴展示 -&gt; 节点查看 -&gt; 导出结果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动作：联查检索 / 节点展示 / 文件下载 / 追溯报告 / 问题倒查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按钮：联查 / 查看节点 / 下载文件 / 导出追溯结果 / 回溯定位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角色：监造工程师、监造管理部门、项目负责人/采购员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05">
                <a:solidFill>
                  <a:srgbClr val="1F2937"/>
                </a:solidFill>
                <a:latin typeface="Microsoft YaHei"/>
              </a:defRPr>
            </a:pPr>
            <a:r>
              <a:t>上下游：合同、物项、问题、验收与放行数据 -&gt; 数据统计及质量趋势分析、甲方追责与复盘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62472" y="4114800"/>
            <a:ext cx="5376672" cy="2011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4048" y="6062472"/>
            <a:ext cx="11430000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rgbClr val="1F2937"/>
                </a:solidFill>
                <a:latin typeface="Microsoft YaHei"/>
              </a:defRPr>
            </a:pPr>
            <a:r>
              <a:t>本阶段向甲方重点解释三件事：一是遗留项怎么收口；二是放行单怎么形成；三是质量追溯如何把合同、物项、问题、验收和放行串成一条链。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19088"/>
            <a:ext cx="1147572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0" y="6455664"/>
            <a:ext cx="320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管理支撑模块：一期纳入范围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9560" y="18288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50" b="0">
                <a:solidFill>
                  <a:srgbClr val="D7E6FF"/>
                </a:solidFill>
                <a:latin typeface="Microsoft YaHei"/>
              </a:defRPr>
            </a:pPr>
            <a:r>
              <a:t>十个支撑模块分别说明挂载位置、触发场景、按钮和输出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960120"/>
            <a:ext cx="5532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019" b="1">
                <a:solidFill>
                  <a:srgbClr val="0D2443"/>
                </a:solidFill>
                <a:latin typeface="Microsoft YaHei"/>
              </a:defRPr>
            </a:pPr>
            <a:r>
              <a:t>S01 数据统计及质量趋势分析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挂载/触发：监造记录、抽查复验管理、监造质量问题处理、质量追溯 / 日报汇总后、问题闭环后、抽验完成后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按钮：查看统计图、切换维度、导出报表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输出：趋势图、合同质量分析报表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17336" y="960120"/>
            <a:ext cx="5532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019" b="1">
                <a:solidFill>
                  <a:srgbClr val="0D2443"/>
                </a:solidFill>
                <a:latin typeface="Microsoft YaHei"/>
              </a:defRPr>
            </a:pPr>
            <a:r>
              <a:t>S02 产品进度跟踪及风险预警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挂载/触发：监造过程监督和执行、监造质量问题处理、监造验收 / 计划超时、整改超期、关键节点异常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按钮：查看预警、解除预警、预警配置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输出：风险预警清单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020824"/>
            <a:ext cx="5532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019" b="1">
                <a:solidFill>
                  <a:srgbClr val="0D2443"/>
                </a:solidFill>
                <a:latin typeface="Microsoft YaHei"/>
              </a:defRPr>
            </a:pPr>
            <a:r>
              <a:t>S04 可视化管理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挂载/触发：监造记录、质量问题、见证点、验收放行 / 首页查看、领导汇报、阶段总结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按钮：查看总览、钻取清单、切换维度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输出：KPI 总览、异常概览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17336" y="2020824"/>
            <a:ext cx="5532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019" b="1">
                <a:solidFill>
                  <a:srgbClr val="0D2443"/>
                </a:solidFill>
                <a:latin typeface="Microsoft YaHei"/>
              </a:defRPr>
            </a:pPr>
            <a:r>
              <a:t>S05 日常工作量化管理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挂载/触发：监造过程监督和执行、抽查复验管理、监造记录、监造验收 / 提交监督记录后、手工补录时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按钮：录入工日、提交审核、查看统计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输出：个人/团队工日台账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081528"/>
            <a:ext cx="5532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019" b="1">
                <a:solidFill>
                  <a:srgbClr val="0D2443"/>
                </a:solidFill>
                <a:latin typeface="Microsoft YaHei"/>
              </a:defRPr>
            </a:pPr>
            <a:r>
              <a:t>S06 产品二维码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挂载/触发：物资采购管理、质量追溯、监造验收 / 审批通过后、版本更新后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按钮：生成二维码、下载、查看版本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输出：二维码图片、版本记录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17336" y="3081528"/>
            <a:ext cx="5532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019" b="1">
                <a:solidFill>
                  <a:srgbClr val="0D2443"/>
                </a:solidFill>
                <a:latin typeface="Microsoft YaHei"/>
              </a:defRPr>
            </a:pPr>
            <a:r>
              <a:t>S07 电子签名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挂载/触发：策划管理、供方文件审核、质量计划标准建立、监造放行 / 审批提交时、签章确认时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按钮：上传签名、签章确认、查看签名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输出：电子签章记录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4142231"/>
            <a:ext cx="5532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019" b="1">
                <a:solidFill>
                  <a:srgbClr val="0D2443"/>
                </a:solidFill>
                <a:latin typeface="Microsoft YaHei"/>
              </a:defRPr>
            </a:pPr>
            <a:r>
              <a:t>S08 图文识别信息抓取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挂载/触发：供方文件审核、防造假管理 / 上传证明文件时、上传检测报告时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按钮：发起识别、查看字段、查看比对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输出：OCR 结果、异常提示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17336" y="4142231"/>
            <a:ext cx="5532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019" b="1">
                <a:solidFill>
                  <a:srgbClr val="0D2443"/>
                </a:solidFill>
                <a:latin typeface="Microsoft YaHei"/>
              </a:defRPr>
            </a:pPr>
            <a:r>
              <a:t>S09 视频远程识别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挂载/触发：监造过程监督和执行、监造巡查管理 / 现场监造、远程巡检、事后回看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按钮：查看直播、语音对讲、回放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输出：视频记录、远程监控能力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5202936"/>
            <a:ext cx="5532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019" b="1">
                <a:solidFill>
                  <a:srgbClr val="0D2443"/>
                </a:solidFill>
                <a:latin typeface="Microsoft YaHei"/>
              </a:defRPr>
            </a:pPr>
            <a:r>
              <a:t>S11 付款台账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挂载/触发：物资采购管理、监造验收 / 付款登记时、对账时、导入导出时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按钮：导入、导出、查询、查看台账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输出：付款台账、统计结果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5202936"/>
            <a:ext cx="5532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019" b="1">
                <a:solidFill>
                  <a:srgbClr val="0D2443"/>
                </a:solidFill>
                <a:latin typeface="Microsoft YaHei"/>
              </a:defRPr>
            </a:pPr>
            <a:r>
              <a:t>S12 培训与考试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挂载/触发：任务分配管理、可视化管理 / 培训开展时、考试组织时、证书发放时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按钮：发布培训、参加考试、查看证书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70">
                <a:solidFill>
                  <a:srgbClr val="1F2937"/>
                </a:solidFill>
                <a:latin typeface="Microsoft YaHei"/>
              </a:defRPr>
            </a:pPr>
            <a:r>
              <a:t>输出：培训记录、考试结果、证书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6419088"/>
            <a:ext cx="1147572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0" y="6455664"/>
            <a:ext cx="320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二期增强能力说明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9560" y="18288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50" b="0">
                <a:solidFill>
                  <a:srgbClr val="D7E6FF"/>
                </a:solidFill>
                <a:latin typeface="Microsoft YaHei"/>
              </a:defRPr>
            </a:pPr>
            <a:r>
              <a:t>不是删除需求，而是按成熟度和风险控制做分期建设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987552"/>
            <a:ext cx="5532120" cy="3886200"/>
          </a:xfrm>
          <a:prstGeom prst="roundRect">
            <a:avLst/>
          </a:prstGeom>
          <a:solidFill>
            <a:srgbClr val="FDEFE8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550" b="1">
                <a:solidFill>
                  <a:srgbClr val="C2410C"/>
                </a:solidFill>
                <a:latin typeface="Microsoft YaHei"/>
              </a:defRPr>
            </a:pPr>
            <a:r>
              <a:t>S03 防造假管理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1F2937"/>
                </a:solidFill>
                <a:latin typeface="Microsoft YaHei"/>
              </a:defRPr>
            </a:pPr>
            <a:r>
              <a:t>挂载模块：供方文件审核、质量计划标准建立、监造验收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1F2937"/>
                </a:solidFill>
                <a:latin typeface="Microsoft YaHei"/>
              </a:defRPr>
            </a:pPr>
            <a:r>
              <a:t>触发场景：文件上传时、归档前、复核时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1F2937"/>
                </a:solidFill>
                <a:latin typeface="Microsoft YaHei"/>
              </a:defRPr>
            </a:pPr>
            <a:r>
              <a:t>典型按钮：发起核验、查看检测、人工确认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1F2937"/>
                </a:solidFill>
                <a:latin typeface="Microsoft YaHei"/>
              </a:defRPr>
            </a:pPr>
            <a:r>
              <a:t>输出结果：真实性核验记录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1F2937"/>
                </a:solidFill>
                <a:latin typeface="Microsoft YaHei"/>
              </a:defRPr>
            </a:pPr>
            <a:r>
              <a:t>放到二期的原因：需要真实签章样本、二维码规则、模板库和人工复核机制；一期硬上会带来误判、漏判和责任边界不清的问题。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81928" y="987552"/>
            <a:ext cx="5532120" cy="38862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550" b="1">
                <a:solidFill>
                  <a:srgbClr val="2F6BFF"/>
                </a:solidFill>
                <a:latin typeface="Microsoft YaHei"/>
              </a:defRPr>
            </a:pPr>
            <a:r>
              <a:t>S10 数据信息资源库及AI识别功能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1F2937"/>
                </a:solidFill>
                <a:latin typeface="Microsoft YaHei"/>
              </a:defRPr>
            </a:pPr>
            <a:r>
              <a:t>挂载模块：体系文件管理、图文识别信息抓取、防造假管理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1F2937"/>
                </a:solidFill>
                <a:latin typeface="Microsoft YaHei"/>
              </a:defRPr>
            </a:pPr>
            <a:r>
              <a:t>触发场景：查询标准时、识别调用时、知识联查时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1F2937"/>
                </a:solidFill>
                <a:latin typeface="Microsoft YaHei"/>
              </a:defRPr>
            </a:pPr>
            <a:r>
              <a:t>典型按钮：检索资源、查看条文、调用识别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1F2937"/>
                </a:solidFill>
                <a:latin typeface="Microsoft YaHei"/>
              </a:defRPr>
            </a:pPr>
            <a:r>
              <a:t>输出结果：法规标准资源、AI 支撑结果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1F2937"/>
                </a:solidFill>
                <a:latin typeface="Microsoft YaHei"/>
              </a:defRPr>
            </a:pPr>
            <a:r>
              <a:t>放到二期的原因：它不是单一功能点，而是资源库建设 + 知识治理 + AI 识别能力，需要标准条文结构化、版本维护、标签清洗、模型验证和权限安全控制。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5074920"/>
            <a:ext cx="11430000" cy="9144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300" b="1">
                <a:solidFill>
                  <a:srgbClr val="D97706"/>
                </a:solidFill>
                <a:latin typeface="Microsoft YaHei"/>
              </a:defRPr>
            </a:pPr>
            <a:r>
              <a:t>一期保留什么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1F2937"/>
                </a:solidFill>
                <a:latin typeface="Microsoft YaHei"/>
              </a:defRPr>
            </a:pPr>
            <a:r>
              <a:t>S08 图文识别信息抓取在一期保留基础 OCR / 字段提取 / 异常提示，用于提效；但不承担真伪判断责任。口径是：一期先保闭环和验收，二期再把识别能力做准。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419088"/>
            <a:ext cx="1147572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320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项目开发周期 SOP 总图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9560" y="18288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50" b="0">
                <a:solidFill>
                  <a:srgbClr val="D7E6FF"/>
                </a:solidFill>
                <a:latin typeface="Microsoft YaHei"/>
              </a:defRPr>
            </a:pPr>
            <a:r>
              <a:t>十个阶段按 Gate 推进，每个节点都要讲清谁主责、交什么成果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960120"/>
            <a:ext cx="2084831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项目启动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主责：甲方项目负责人、乙方项目经理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配合：业务部门、实施、集成商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输出：启动纪要、责任清单、范围确认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Gate：启动评审通过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70048" y="960120"/>
            <a:ext cx="2084831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需求调研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主责：产品经理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配合：甲方业务部门、项目经理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输出：需求清单、流程梳理、边界确认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Gate：需求评审通过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6048" y="960120"/>
            <a:ext cx="2084831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方案设计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主责：架构师、产品经理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配合：项目经理、甲方代表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输出：总体方案、模块边界、软硬件建议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Gate：方案评审通过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42048" y="960120"/>
            <a:ext cx="2084831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系统设计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主责：架构师、前后端负责人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配合：产品经理、实施、测试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输出：页面设计、接口设计、数据设计、部署设计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Gate：设计评审通过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8048" y="960120"/>
            <a:ext cx="2084831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开发构建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主责：前后端开发负责人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配合：架构师、测试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输出：可运行版本、模块实现、联调接口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Gate：开发自测通过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926080"/>
            <a:ext cx="2084831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测试验证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主责：测试负责人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配合：开发、产品、安全团队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输出：测试报告、缺陷清单、安全扫描结果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Gate：测试评审通过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0048" y="2926080"/>
            <a:ext cx="2084831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部署实施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主责：实施负责人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配合：运维、集成商、开发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输出：环境部署记录、联调记录、上线方案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Gate：部署检查通过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56048" y="2926080"/>
            <a:ext cx="2084831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试运行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主责：甲方试点负责人、实施负责人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配合：产品、测试、运维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输出：试运行问题清单、使用反馈、修正项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Gate：试运行评审通过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048" y="2926080"/>
            <a:ext cx="2084831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验收交付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主责：甲方项目负责人、乙方项目经理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配合：业务部门、测试、实施、安全团队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输出：验收材料、培训记录、交付清单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Gate：验收签字通过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28048" y="2926080"/>
            <a:ext cx="2084831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运维优化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主责：运维负责人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配合：产品经理、甲方使用部门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输出：运维台账、优化计划、版本改进清单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80">
                <a:solidFill>
                  <a:srgbClr val="1F2937"/>
                </a:solidFill>
                <a:latin typeface="Microsoft YaHei"/>
              </a:defRPr>
            </a:pPr>
            <a:r>
              <a:t>Gate：进入常态运维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138928"/>
            <a:ext cx="1417320" cy="43891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ctr">
              <a:spcAft>
                <a:spcPts val="400"/>
              </a:spcAft>
              <a:defRPr sz="930" b="1">
                <a:solidFill>
                  <a:srgbClr val="2F6BFF"/>
                </a:solidFill>
                <a:latin typeface="Microsoft YaHei"/>
              </a:defRPr>
            </a:pPr>
            <a:r>
              <a:t>评审关口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710">
                <a:solidFill>
                  <a:srgbClr val="475569"/>
                </a:solidFill>
                <a:latin typeface="Microsoft YaHei"/>
              </a:defRPr>
            </a:pPr>
            <a:r>
              <a:t>每个阶段都要有通过条件，不是“做完了就往后推”。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48840" y="5138928"/>
            <a:ext cx="1417320" cy="43891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ctr">
              <a:spcAft>
                <a:spcPts val="400"/>
              </a:spcAft>
              <a:defRPr sz="930" b="1">
                <a:solidFill>
                  <a:srgbClr val="2F6BFF"/>
                </a:solidFill>
                <a:latin typeface="Microsoft YaHei"/>
              </a:defRPr>
            </a:pPr>
            <a:r>
              <a:t>基线管理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710">
                <a:solidFill>
                  <a:srgbClr val="475569"/>
                </a:solidFill>
                <a:latin typeface="Microsoft YaHei"/>
              </a:defRPr>
            </a:pPr>
            <a:r>
              <a:t>需求、设计、测试、上线都要形成冻结版本，避免口径飘。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5138928"/>
            <a:ext cx="1417320" cy="43891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ctr">
              <a:spcAft>
                <a:spcPts val="400"/>
              </a:spcAft>
              <a:defRPr sz="930" b="1">
                <a:solidFill>
                  <a:srgbClr val="2F6BFF"/>
                </a:solidFill>
                <a:latin typeface="Microsoft YaHei"/>
              </a:defRPr>
            </a:pPr>
            <a:r>
              <a:t>变更控制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710">
                <a:solidFill>
                  <a:srgbClr val="475569"/>
                </a:solidFill>
                <a:latin typeface="Microsoft YaHei"/>
              </a:defRPr>
            </a:pPr>
            <a:r>
              <a:t>新增需求、范围变化、硬件调整都要有变更入口。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0680" y="5138928"/>
            <a:ext cx="1417320" cy="43891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ctr">
              <a:spcAft>
                <a:spcPts val="400"/>
              </a:spcAft>
              <a:defRPr sz="930" b="1">
                <a:solidFill>
                  <a:srgbClr val="2F6BFF"/>
                </a:solidFill>
                <a:latin typeface="Microsoft YaHei"/>
              </a:defRPr>
            </a:pPr>
            <a:r>
              <a:t>配置管理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710">
                <a:solidFill>
                  <a:srgbClr val="475569"/>
                </a:solidFill>
                <a:latin typeface="Microsoft YaHei"/>
              </a:defRPr>
            </a:pPr>
            <a:r>
              <a:t>代码、文档、部署包、环境参数统一纳管。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5138928"/>
            <a:ext cx="1417320" cy="43891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ctr">
              <a:spcAft>
                <a:spcPts val="400"/>
              </a:spcAft>
              <a:defRPr sz="930" b="1">
                <a:solidFill>
                  <a:srgbClr val="2F6BFF"/>
                </a:solidFill>
                <a:latin typeface="Microsoft YaHei"/>
              </a:defRPr>
            </a:pPr>
            <a:r>
              <a:t>QA / 质量保证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710">
                <a:solidFill>
                  <a:srgbClr val="475569"/>
                </a:solidFill>
                <a:latin typeface="Microsoft YaHei"/>
              </a:defRPr>
            </a:pPr>
            <a:r>
              <a:t>关键节点不是自说自话，而是有人检查过程是否跑偏。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5138928"/>
            <a:ext cx="1417320" cy="43891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ctr">
              <a:spcAft>
                <a:spcPts val="400"/>
              </a:spcAft>
              <a:defRPr sz="930" b="1">
                <a:solidFill>
                  <a:srgbClr val="2F6BFF"/>
                </a:solidFill>
                <a:latin typeface="Microsoft YaHei"/>
              </a:defRPr>
            </a:pPr>
            <a:r>
              <a:t>安全验证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710">
                <a:solidFill>
                  <a:srgbClr val="475569"/>
                </a:solidFill>
                <a:latin typeface="Microsoft YaHei"/>
              </a:defRPr>
            </a:pPr>
            <a:r>
              <a:t>上线前要做扫描、代码检测和问题整改闭环。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78440" y="5138928"/>
            <a:ext cx="1417320" cy="43891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ctr">
              <a:spcAft>
                <a:spcPts val="400"/>
              </a:spcAft>
              <a:defRPr sz="930" b="1">
                <a:solidFill>
                  <a:srgbClr val="2F6BFF"/>
                </a:solidFill>
                <a:latin typeface="Microsoft YaHei"/>
              </a:defRPr>
            </a:pPr>
            <a:r>
              <a:t>度量反馈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710">
                <a:solidFill>
                  <a:srgbClr val="475569"/>
                </a:solidFill>
                <a:latin typeface="Microsoft YaHei"/>
              </a:defRPr>
            </a:pPr>
            <a:r>
              <a:t>缺陷、进度、试运行问题都要沉淀，为后续优化提供依据。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6419088"/>
            <a:ext cx="1147572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0" y="6455664"/>
            <a:ext cx="320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SOP 节点参与者身份和能干的事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9560" y="18288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50" b="0">
                <a:solidFill>
                  <a:srgbClr val="D7E6FF"/>
                </a:solidFill>
                <a:latin typeface="Microsoft YaHei"/>
              </a:defRPr>
            </a:pPr>
            <a:r>
              <a:t>这一页直接回答：谁参与、能做什么、交什么、怎么过 Gate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2608" y="896112"/>
          <a:ext cx="11631168" cy="5468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28"/>
                <a:gridCol w="1938528"/>
                <a:gridCol w="1938528"/>
                <a:gridCol w="1938528"/>
                <a:gridCol w="1938528"/>
                <a:gridCol w="1938528"/>
              </a:tblGrid>
              <a:tr h="497101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主责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配合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本阶段能干的事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输出物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Gate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</a:tr>
              <a:tr h="497101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项目启动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甲方项目负责人、乙方项目经理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业务部门、实施、集成商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明确目标、范围、责任边界和启动机制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启动纪要、责任清单、范围确认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启动评审通过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97101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需求调研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产品经理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甲方业务部门、项目经理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访谈业务部门，梳理流程、确认边界和痛点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需求清单、流程梳理、边界确认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需求评审通过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</a:tr>
              <a:tr h="497101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方案设计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架构师、产品经理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项目经理、甲方代表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形成总体方案、模块边界和软硬件建议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总体方案、模块边界、软硬件建议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方案评审通过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97101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系统设计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架构师、前后端负责人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产品经理、实施、测试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细化页面、接口、数据和部署设计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页面设计、接口设计、数据设计、部署设计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设计评审通过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</a:tr>
              <a:tr h="497101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开发构建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前后端开发负责人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架构师、测试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完成模块开发、联调和版本自测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可运行版本、模块实现、联调接口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开发自测通过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97101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测试验证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测试负责人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开发、产品、安全团队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功能测试、安全扫描、缺陷修复和回归验证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测试报告、缺陷清单、安全扫描结果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测试评审通过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</a:tr>
              <a:tr h="497101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部署实施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实施负责人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运维、集成商、开发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环境部署、系统联调、上线准备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环境部署记录、联调记录、上线方案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部署检查通过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97101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试运行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甲方试点负责人、实施负责人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产品、测试、运维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试点使用、问题收集、修正优化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试运行问题清单、使用反馈、修正项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试运行评审通过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</a:tr>
              <a:tr h="497101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验收交付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甲方项目负责人、乙方项目经理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业务部门、测试、实施、安全团队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组织验收、提交材料、培训交付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验收材料、培训记录、交付清单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验收签字通过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97102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运维优化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运维负责人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产品经理、甲方使用部门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运维跟踪、版本优化、持续改进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运维台账、优化计划、版本改进清单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7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进入常态运维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20040" y="6419088"/>
            <a:ext cx="1147572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55664"/>
            <a:ext cx="320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软硬件入场时机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9560" y="18288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50" b="0">
                <a:solidFill>
                  <a:srgbClr val="D7E6FF"/>
                </a:solidFill>
                <a:latin typeface="Microsoft YaHei"/>
              </a:defRPr>
            </a:pPr>
            <a:r>
              <a:t>回答“什么时候设备到位、什么时候系统上线、什么时候开始验收”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005840"/>
            <a:ext cx="34930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项目启动后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明确采购责任、设备范围、环境准备边界。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87368" y="1005840"/>
            <a:ext cx="34930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方案设计/系统设计阶段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确认服务器、数据库、网络安全与客户端配置。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90688" y="1005840"/>
            <a:ext cx="34930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开发后期/测试前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完成基础环境部署，准备测试环境。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063240"/>
            <a:ext cx="34930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部署实施阶段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完成服务器、数据库、中间件、应用系统联调。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87368" y="3063240"/>
            <a:ext cx="34930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试运行前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完成客户端配发、安全接入、容灾与备份验证。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90688" y="3063240"/>
            <a:ext cx="34930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验收交付阶段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按到货、安装、联调、业务、安全五层组织验收。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4956048"/>
            <a:ext cx="3657600" cy="82296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200" b="1">
                <a:solidFill>
                  <a:srgbClr val="2F6BFF"/>
                </a:solidFill>
                <a:latin typeface="Microsoft YaHei"/>
              </a:defRPr>
            </a:pPr>
            <a:r>
              <a:t>硬件设备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40">
                <a:solidFill>
                  <a:srgbClr val="1F2937"/>
                </a:solidFill>
                <a:latin typeface="Microsoft YaHei"/>
              </a:defRPr>
            </a:pPr>
            <a:r>
              <a:t>平台服务器 / 中间件服务器 / 领域服务器 / 客户端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4956048"/>
            <a:ext cx="3657600" cy="822960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200" b="1">
                <a:solidFill>
                  <a:srgbClr val="1FA597"/>
                </a:solidFill>
                <a:latin typeface="Microsoft YaHei"/>
              </a:defRPr>
            </a:pPr>
            <a:r>
              <a:t>基础软件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40">
                <a:solidFill>
                  <a:srgbClr val="1F2937"/>
                </a:solidFill>
                <a:latin typeface="Microsoft YaHei"/>
              </a:defRPr>
            </a:pPr>
            <a:r>
              <a:t>银河麒麟 V10 / 终端操作系统 / 达梦数据库 V8 / 应用系统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4956048"/>
            <a:ext cx="3657600" cy="82296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200" b="1">
                <a:solidFill>
                  <a:srgbClr val="D97706"/>
                </a:solidFill>
                <a:latin typeface="Microsoft YaHei"/>
              </a:defRPr>
            </a:pPr>
            <a:r>
              <a:t>安全与接入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40">
                <a:solidFill>
                  <a:srgbClr val="1F2937"/>
                </a:solidFill>
                <a:latin typeface="Microsoft YaHei"/>
              </a:defRPr>
            </a:pPr>
            <a:r>
              <a:t>安全服务 / 容灾备份 / 防火墙 VPN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6419088"/>
            <a:ext cx="1147572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0" y="6455664"/>
            <a:ext cx="320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软硬件对象矩阵（硬件设备 + 基础软件）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9560" y="18288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50" b="0">
                <a:solidFill>
                  <a:srgbClr val="D7E6FF"/>
                </a:solidFill>
                <a:latin typeface="Microsoft YaHei"/>
              </a:defRPr>
            </a:pPr>
            <a:r>
              <a:t>逐项回答责任方、交付物和验收点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896112"/>
          <a:ext cx="117957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  <a:gridCol w="1965960"/>
                <a:gridCol w="196596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对象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分类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入场时机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责任方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交付物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验收点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</a:tr>
              <a:tr h="609600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平台服务器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硬件设备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项目启动后确认采购，部署实施阶段上架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甲方 / 集成商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到货记录、上架记录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配置一致、上电正常、网络联通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中间件服务器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硬件设备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系统设计阶段确认用途，部署实施阶段安装中间件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乙方实施 / 集成商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节点部署记录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服务可用、节点可联通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</a:tr>
              <a:tr h="609600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领域服务器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硬件设备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系统设计阶段确认，部署实施阶段启用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甲方 / 集成商 / 乙方实施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业务环境部署记录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存储可用、访问正常、备份策略生效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客户端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硬件设备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试运行前完成配发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甲方 / 集成商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终端配发表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可登录、可填报、可审批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</a:tr>
              <a:tr h="609600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服务器操作系统（银河麒麟 V10）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基础软件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部署实施前安装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集成商 / 乙方实施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系统安装记录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版本一致、运行稳定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终端操作系统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基础软件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客户端交付前预装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集成商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终端系统安装记录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启动正常、兼容客户端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</a:tr>
              <a:tr h="609600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达梦数据库 V8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基础软件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部署实施阶段安装配置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乙方实施 / 运维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安装记录、初始化记录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连接成功、读写正常、备份恢复通过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应用系统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基础软件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部署实施阶段上线，试运行前联调完成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乙方实施 / 开发 / 运维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部署包、部署记录、联调结果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关键业务流程跑通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20040" y="6419088"/>
            <a:ext cx="1147572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55664"/>
            <a:ext cx="320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软硬件对象矩阵（安全/接入）与验收标准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9560" y="18288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50" b="0">
                <a:solidFill>
                  <a:srgbClr val="D7E6FF"/>
                </a:solidFill>
                <a:latin typeface="Microsoft YaHei"/>
              </a:defRPr>
            </a:pPr>
            <a:r>
              <a:t>设备到位不是结束，必须按五层验收组织闭环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896112"/>
          <a:ext cx="117957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  <a:gridCol w="1965960"/>
                <a:gridCol w="1965960"/>
              </a:tblGrid>
              <a:tr h="52578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对象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分类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入场时机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责任方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交付物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验收点</a:t>
                      </a:r>
                    </a:p>
                  </a:txBody>
                  <a:tcPr anchor="ctr">
                    <a:solidFill>
                      <a:srgbClr val="0D2443"/>
                    </a:solidFill>
                  </a:tcPr>
                </a:tc>
              </a:tr>
              <a:tr h="525780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3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安全服务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3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安全与保障服务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3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测试后期至上线前执行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3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安全团队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3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测评报告、扫描报告、整改确认单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3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问题闭环、满足要求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3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容灾备份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3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安全与保障服务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3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试运行前完成演练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3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运维 / 乙方实施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3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备份策略、切换演练记录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3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恢复时效达标、切换有效</a:t>
                      </a:r>
                    </a:p>
                  </a:txBody>
                  <a:tcPr anchor="t">
                    <a:solidFill>
                      <a:srgbClr val="E8F0FF"/>
                    </a:solidFill>
                  </a:tcPr>
                </a:tc>
              </a:tr>
              <a:tr h="525780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3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防火墙/VPN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3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网络接入方案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3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部署实施阶段完成配置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3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集成商 / 运维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3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访问策略、VPN 配置记录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73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外部访问受控、远程接入可用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92608" y="3401568"/>
            <a:ext cx="2148840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250" b="1">
                <a:solidFill>
                  <a:srgbClr val="0D2443"/>
                </a:solidFill>
                <a:latin typeface="Microsoft YaHei"/>
              </a:defRPr>
            </a:pPr>
            <a:r>
              <a:t>到货验收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核对数量、品牌、型号、配置、系统版本是否与清单一致。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33472" y="3401568"/>
            <a:ext cx="2148840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250" b="1">
                <a:solidFill>
                  <a:srgbClr val="0D2443"/>
                </a:solidFill>
                <a:latin typeface="Microsoft YaHei"/>
              </a:defRPr>
            </a:pPr>
            <a:r>
              <a:t>安装验收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确认服务器、数据库、中间件、应用已部署，网络与接入规则生效。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74336" y="3401568"/>
            <a:ext cx="2148840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250" b="1">
                <a:solidFill>
                  <a:srgbClr val="0D2443"/>
                </a:solidFill>
                <a:latin typeface="Microsoft YaHei"/>
              </a:defRPr>
            </a:pPr>
            <a:r>
              <a:t>联调验收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确认软硬件协同正常，关键流程和远程接入都能跑通。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401568"/>
            <a:ext cx="2148840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250" b="1">
                <a:solidFill>
                  <a:srgbClr val="0D2443"/>
                </a:solidFill>
                <a:latin typeface="Microsoft YaHei"/>
              </a:defRPr>
            </a:pPr>
            <a:r>
              <a:t>业务验收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确认审批、台账、追溯、报表等核心业务满足需求。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56064" y="3401568"/>
            <a:ext cx="2148840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250" b="1">
                <a:solidFill>
                  <a:srgbClr val="0D2443"/>
                </a:solidFill>
                <a:latin typeface="Microsoft YaHei"/>
              </a:defRPr>
            </a:pPr>
            <a:r>
              <a:t>安全验收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确认等保测评、代码安全检测、漏洞扫描整改完成。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" y="5650992"/>
            <a:ext cx="11457432" cy="475488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200" b="1">
                <a:solidFill>
                  <a:srgbClr val="D97706"/>
                </a:solidFill>
                <a:latin typeface="Microsoft YaHei"/>
              </a:defRPr>
            </a:pPr>
            <a:r>
              <a:t>汇报口径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19">
                <a:solidFill>
                  <a:srgbClr val="1F2937"/>
                </a:solidFill>
                <a:latin typeface="Microsoft YaHei"/>
              </a:defRPr>
            </a:pPr>
            <a:r>
              <a:t>甲方要看到的是：到货有依据、安装有记录、联调能跑通、业务能验收、安全能闭环。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6419088"/>
            <a:ext cx="1147572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0" y="6455664"/>
            <a:ext cx="320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汇报结论与下一步建议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9560" y="18288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50" b="0">
                <a:solidFill>
                  <a:srgbClr val="D7E6FF"/>
                </a:solidFill>
                <a:latin typeface="Microsoft YaHei"/>
              </a:defRPr>
            </a:pPr>
            <a:r>
              <a:t>按“一期先落地，二期再增强”的路径推进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143000"/>
            <a:ext cx="3611880" cy="2194560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500" b="1">
                <a:solidFill>
                  <a:srgbClr val="1FA597"/>
                </a:solidFill>
                <a:latin typeface="Microsoft YaHei"/>
              </a:defRPr>
            </a:pPr>
            <a:r>
              <a:t>业务闭环已经讲清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60">
                <a:solidFill>
                  <a:srgbClr val="1F2937"/>
                </a:solidFill>
                <a:latin typeface="Microsoft YaHei"/>
              </a:defRPr>
            </a:pPr>
            <a:r>
              <a:t>从标准文件、合同物资、任务分配开始，到策划、监督、问题、记录、验收、放行、追溯结束，主业务链是一条完整闭环。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43000"/>
            <a:ext cx="3611880" cy="219456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500" b="1">
                <a:solidFill>
                  <a:srgbClr val="2F6BFF"/>
                </a:solidFill>
                <a:latin typeface="Microsoft YaHei"/>
              </a:defRPr>
            </a:pPr>
            <a:r>
              <a:t>项目闭环已经讲清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60">
                <a:solidFill>
                  <a:srgbClr val="1F2937"/>
                </a:solidFill>
                <a:latin typeface="Microsoft YaHei"/>
              </a:defRPr>
            </a:pPr>
            <a:r>
              <a:t>从项目启动到运维优化，谁主责、谁配合、交什么成果、过哪个 gate，都已经对应到 SOP。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1" y="1143000"/>
            <a:ext cx="3611880" cy="219456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500" b="1">
                <a:solidFill>
                  <a:srgbClr val="D97706"/>
                </a:solidFill>
                <a:latin typeface="Microsoft YaHei"/>
              </a:defRPr>
            </a:pPr>
            <a:r>
              <a:t>落地闭环已经讲清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60">
                <a:solidFill>
                  <a:srgbClr val="1F2937"/>
                </a:solidFill>
                <a:latin typeface="Microsoft YaHei"/>
              </a:defRPr>
            </a:pPr>
            <a:r>
              <a:t>设备什么时候到、系统什么时候装、什么时候联调、什么时候验收，以及谁负责，都已压缩到时间轴和矩阵里。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657600"/>
            <a:ext cx="11430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500" b="1">
                <a:solidFill>
                  <a:srgbClr val="0D2443"/>
                </a:solidFill>
                <a:latin typeface="Microsoft YaHei"/>
              </a:defRPr>
            </a:pPr>
            <a:r>
              <a:t>建议下一步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1F2937"/>
                </a:solidFill>
                <a:latin typeface="Microsoft YaHei"/>
              </a:defRPr>
            </a:pPr>
            <a:r>
              <a:t>1. 以一期范围冻结项目边界，进入排期开发和实施准备。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1F2937"/>
                </a:solidFill>
                <a:latin typeface="Microsoft YaHei"/>
              </a:defRPr>
            </a:pPr>
            <a:r>
              <a:t>2. 以本 PPT 作为甲方汇报底稿，重点讲业务流程、SOP 和环境验收。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1F2937"/>
                </a:solidFill>
                <a:latin typeface="Microsoft YaHei"/>
              </a:defRPr>
            </a:pPr>
            <a:r>
              <a:t>3. 将 S03 防造假管理、S10 数据信息资源库及AI识别功能写入二期增强计划。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5394960"/>
            <a:ext cx="11430000" cy="512064"/>
          </a:xfrm>
          <a:prstGeom prst="roundRect">
            <a:avLst/>
          </a:prstGeom>
          <a:solidFill>
            <a:srgbClr val="0D2443"/>
          </a:solidFill>
          <a:ln w="12700">
            <a:solidFill>
              <a:srgbClr val="0D2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400"/>
              </a:spcAft>
              <a:defRPr sz="1220" b="1">
                <a:solidFill>
                  <a:srgbClr val="FFFFFF"/>
                </a:solidFill>
                <a:latin typeface="Microsoft YaHei"/>
              </a:defRPr>
            </a:pPr>
            <a:r>
              <a:t>收口话术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FFFFFF"/>
                </a:solidFill>
                <a:latin typeface="Microsoft YaHei"/>
              </a:defRPr>
            </a:pPr>
            <a:r>
              <a:t>一期先把系统做成可用、可管、可验收的版本；二期再把智能识别和知识资源能力做深、做准。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6419088"/>
            <a:ext cx="1147572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55664"/>
            <a:ext cx="320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