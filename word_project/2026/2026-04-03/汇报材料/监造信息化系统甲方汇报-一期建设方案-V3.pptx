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512064"/>
            <a:ext cx="1078992" cy="73152"/>
          </a:xfrm>
          <a:prstGeom prst="rect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804672"/>
            <a:ext cx="10972800" cy="914400"/>
          </a:xfrm>
          <a:prstGeom prst="round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监造信息化系统甲方汇报 V3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>
                <a:solidFill>
                  <a:srgbClr val="D7E6FF"/>
                </a:solidFill>
                <a:latin typeface="Microsoft YaHei"/>
              </a:defRPr>
            </a:pPr>
            <a:r>
              <a:t>按业务先后关系拆页讲模块，用流程图逐页展开，不再堆砌在单页里。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57400"/>
            <a:ext cx="3493008" cy="1691640"/>
          </a:xfrm>
          <a:prstGeom prst="roundRect">
            <a:avLst/>
          </a:prstGeom>
          <a:solidFill>
            <a:srgbClr val="133154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讲清主链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E6F0FF"/>
                </a:solidFill>
                <a:latin typeface="Microsoft YaHei"/>
              </a:defRPr>
            </a:pPr>
            <a:r>
              <a:t>先看总览，再看关系，再按模块逐页讲流程图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057400"/>
            <a:ext cx="3493008" cy="1691640"/>
          </a:xfrm>
          <a:prstGeom prst="roundRect">
            <a:avLst/>
          </a:prstGeom>
          <a:solidFill>
            <a:srgbClr val="133154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讲清模块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E6F0FF"/>
                </a:solidFill>
                <a:latin typeface="Microsoft YaHei"/>
              </a:defRPr>
            </a:pPr>
            <a:r>
              <a:t>每页一个核心模块，节点、按钮、角色、上下游分别展开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3024" y="2057400"/>
            <a:ext cx="3493008" cy="1691640"/>
          </a:xfrm>
          <a:prstGeom prst="roundRect">
            <a:avLst/>
          </a:prstGeom>
          <a:solidFill>
            <a:srgbClr val="133154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讲清落地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E6F0FF"/>
                </a:solidFill>
                <a:latin typeface="Microsoft YaHei"/>
              </a:defRPr>
            </a:pPr>
            <a:r>
              <a:t>SOP拆页、软硬件拆页、二期单页说明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4389120"/>
            <a:ext cx="2560320" cy="91440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C6D7F5"/>
                </a:solidFill>
                <a:latin typeface="Microsoft YaHei"/>
              </a:defRPr>
            </a:pPr>
            <a:r>
              <a:t>流程型模块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4389120"/>
            <a:ext cx="2560320" cy="91440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C6D7F5"/>
                </a:solidFill>
                <a:latin typeface="Microsoft YaHei"/>
              </a:defRPr>
            </a:pPr>
            <a:r>
              <a:t>SOP阶段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389120"/>
            <a:ext cx="2560320" cy="91440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C6D7F5"/>
                </a:solidFill>
                <a:latin typeface="Microsoft YaHei"/>
              </a:defRPr>
            </a:pPr>
            <a:r>
              <a:t>软硬件对象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389120"/>
            <a:ext cx="2560320" cy="914400"/>
          </a:xfrm>
          <a:prstGeom prst="roundRect">
            <a:avLst/>
          </a:prstGeom>
          <a:solidFill>
            <a:srgbClr val="0F2B4B"/>
          </a:solidFill>
          <a:ln w="12700">
            <a:solidFill>
              <a:srgbClr val="24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C6D7F5"/>
                </a:solidFill>
                <a:latin typeface="Microsoft YaHei"/>
              </a:defRPr>
            </a:pPr>
            <a:r>
              <a:t>二期增强模块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596128"/>
            <a:ext cx="10972800" cy="438912"/>
          </a:xfrm>
          <a:prstGeom prst="roundRect">
            <a:avLst/>
          </a:prstGeom>
          <a:solidFill>
            <a:srgbClr val="16355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当前口径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FFFFFF"/>
                </a:solidFill>
                <a:latin typeface="Microsoft YaHei"/>
              </a:defRPr>
            </a:pPr>
            <a:r>
              <a:t>一期先保障主业务链和交付验收闭环；防造假管理、数据信息资源库及AI识别功能纳入二期。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业务全景总览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先看4段主链，再看管理支撑模块挂载位置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97280"/>
            <a:ext cx="2651760" cy="18288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50" b="1">
                <a:solidFill>
                  <a:srgbClr val="2F6BFF"/>
                </a:solidFill>
                <a:latin typeface="Microsoft YaHei"/>
              </a:defRPr>
            </a:pPr>
            <a:r>
              <a:t>基础建模阶段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先把规则、对象和任务边界立起来。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模块：01 体系文件管理 / 02 物资采购管理 / 03 任务分配管理</a:t>
            </a:r>
          </a:p>
        </p:txBody>
      </p:sp>
      <p:sp>
        <p:nvSpPr>
          <p:cNvPr id="6" name="Chevron 5"/>
          <p:cNvSpPr/>
          <p:nvPr/>
        </p:nvSpPr>
        <p:spPr>
          <a:xfrm>
            <a:off x="2834640" y="1828800"/>
            <a:ext cx="292608" cy="50292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651760" cy="182880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50" b="1">
                <a:solidFill>
                  <a:srgbClr val="1FA597"/>
                </a:solidFill>
                <a:latin typeface="Microsoft YaHei"/>
              </a:defRPr>
            </a:pPr>
            <a:r>
              <a:t>执行准备阶段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先把执行规则准备好，再允许进入现场动作。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模块：04 策划管理 / 05 供方文件审核 / 06 质量计划标准建立</a:t>
            </a:r>
          </a:p>
        </p:txBody>
      </p:sp>
      <p:sp>
        <p:nvSpPr>
          <p:cNvPr id="8" name="Chevron 7"/>
          <p:cNvSpPr/>
          <p:nvPr/>
        </p:nvSpPr>
        <p:spPr>
          <a:xfrm>
            <a:off x="5779008" y="1828800"/>
            <a:ext cx="292608" cy="50292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109728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5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围绕生产过程持续记录、检查、整改、沉淀。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模块：07 监造过程监督和执行 / 08 监造质量问题处理 / 09 监造巡查管理 / 10 抽查复验管理 / 11 监造记录</a:t>
            </a:r>
          </a:p>
        </p:txBody>
      </p:sp>
      <p:sp>
        <p:nvSpPr>
          <p:cNvPr id="10" name="Chevron 9"/>
          <p:cNvSpPr/>
          <p:nvPr/>
        </p:nvSpPr>
        <p:spPr>
          <a:xfrm>
            <a:off x="8723376" y="1828800"/>
            <a:ext cx="292608" cy="50292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0576" y="1097280"/>
            <a:ext cx="2651760" cy="18288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50" b="1">
                <a:solidFill>
                  <a:srgbClr val="D97706"/>
                </a:solidFill>
                <a:latin typeface="Microsoft YaHei"/>
              </a:defRPr>
            </a:pPr>
            <a:r>
              <a:t>交付收口阶段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把验收、放行、追溯和总结做成闭环。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模块：12 监造完工管理 / 13 监造验收 / 14 监造放行 / 15 质量追溯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3246120"/>
            <a:ext cx="11475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50" b="1">
                <a:solidFill>
                  <a:srgbClr val="0D2443"/>
                </a:solidFill>
                <a:latin typeface="Microsoft YaHei"/>
              </a:defRPr>
            </a:pPr>
            <a:r>
              <a:t>管理支撑模块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一期挂载模块：S01 数据统计及质量趋势分析 / S02 产品进度跟踪及风险预警 / S04 可视化管理 / S05 日常工作量化管理 / S06 产品二维码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一期挂载模块：S07 电子签名 / S08 图文识别信息抓取 / S09 视频远程识别 / S11 付款台账 / S12 培训与考试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二期规划模块：S03 防造假管理 / S10 数据信息资源库及AI识别功能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总览逻辑：先把规则和对象立起来，再进入执行准备，随后围绕现场监督做记录和问题闭环，最后完成验收、放行和追溯；支撑模块全程侧挂，不替代主链。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模块关系总图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按业务先后关系把15个流程型模块全部串起来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463040"/>
            <a:ext cx="1920240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2F6BFF"/>
                </a:solidFill>
                <a:latin typeface="Microsoft YaHei"/>
              </a:defRPr>
            </a:pPr>
            <a:r>
              <a:t>01 体系文件管理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基础建模阶段</a:t>
            </a:r>
          </a:p>
        </p:txBody>
      </p:sp>
      <p:sp>
        <p:nvSpPr>
          <p:cNvPr id="6" name="Chevron 5"/>
          <p:cNvSpPr/>
          <p:nvPr/>
        </p:nvSpPr>
        <p:spPr>
          <a:xfrm>
            <a:off x="2414016" y="166420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70632" y="1463040"/>
            <a:ext cx="1920240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2F6BFF"/>
                </a:solidFill>
                <a:latin typeface="Microsoft YaHei"/>
              </a:defRPr>
            </a:pPr>
            <a:r>
              <a:t>02 物资采购管理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基础建模阶段</a:t>
            </a:r>
          </a:p>
        </p:txBody>
      </p:sp>
      <p:sp>
        <p:nvSpPr>
          <p:cNvPr id="8" name="Chevron 7"/>
          <p:cNvSpPr/>
          <p:nvPr/>
        </p:nvSpPr>
        <p:spPr>
          <a:xfrm>
            <a:off x="4745736" y="166420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02352" y="1463040"/>
            <a:ext cx="1920240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2F6BFF"/>
                </a:solidFill>
                <a:latin typeface="Microsoft YaHei"/>
              </a:defRPr>
            </a:pPr>
            <a:r>
              <a:t>03 任务分配管理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基础建模阶段</a:t>
            </a:r>
          </a:p>
        </p:txBody>
      </p:sp>
      <p:sp>
        <p:nvSpPr>
          <p:cNvPr id="10" name="Chevron 9"/>
          <p:cNvSpPr/>
          <p:nvPr/>
        </p:nvSpPr>
        <p:spPr>
          <a:xfrm>
            <a:off x="7077456" y="166420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34071" y="1463040"/>
            <a:ext cx="1920240" cy="86868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1FA597"/>
                </a:solidFill>
                <a:latin typeface="Microsoft YaHei"/>
              </a:defRPr>
            </a:pPr>
            <a:r>
              <a:t>04 策划管理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执行准备阶段</a:t>
            </a:r>
          </a:p>
        </p:txBody>
      </p:sp>
      <p:sp>
        <p:nvSpPr>
          <p:cNvPr id="12" name="Chevron 11"/>
          <p:cNvSpPr/>
          <p:nvPr/>
        </p:nvSpPr>
        <p:spPr>
          <a:xfrm>
            <a:off x="9409175" y="166420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65792" y="1463040"/>
            <a:ext cx="1920240" cy="86868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1FA597"/>
                </a:solidFill>
                <a:latin typeface="Microsoft YaHei"/>
              </a:defRPr>
            </a:pPr>
            <a:r>
              <a:t>05 供方文件审核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执行准备阶段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3017520"/>
            <a:ext cx="1920240" cy="86868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1FA597"/>
                </a:solidFill>
                <a:latin typeface="Microsoft YaHei"/>
              </a:defRPr>
            </a:pPr>
            <a:r>
              <a:t>06 质量计划标准建立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执行准备阶段</a:t>
            </a:r>
          </a:p>
        </p:txBody>
      </p:sp>
      <p:sp>
        <p:nvSpPr>
          <p:cNvPr id="15" name="Chevron 14"/>
          <p:cNvSpPr/>
          <p:nvPr/>
        </p:nvSpPr>
        <p:spPr>
          <a:xfrm>
            <a:off x="2414016" y="321868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70632" y="3017520"/>
            <a:ext cx="1920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07 监造过程监督和执行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监督执行阶段</a:t>
            </a:r>
          </a:p>
        </p:txBody>
      </p:sp>
      <p:sp>
        <p:nvSpPr>
          <p:cNvPr id="17" name="Chevron 16"/>
          <p:cNvSpPr/>
          <p:nvPr/>
        </p:nvSpPr>
        <p:spPr>
          <a:xfrm>
            <a:off x="4745736" y="321868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02352" y="3017520"/>
            <a:ext cx="1920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08 监造质量问题处理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监督执行阶段</a:t>
            </a:r>
          </a:p>
        </p:txBody>
      </p:sp>
      <p:sp>
        <p:nvSpPr>
          <p:cNvPr id="19" name="Chevron 18"/>
          <p:cNvSpPr/>
          <p:nvPr/>
        </p:nvSpPr>
        <p:spPr>
          <a:xfrm>
            <a:off x="7077456" y="321868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34071" y="3017520"/>
            <a:ext cx="1920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09 监造巡查管理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监督执行阶段</a:t>
            </a:r>
          </a:p>
        </p:txBody>
      </p:sp>
      <p:sp>
        <p:nvSpPr>
          <p:cNvPr id="21" name="Chevron 20"/>
          <p:cNvSpPr/>
          <p:nvPr/>
        </p:nvSpPr>
        <p:spPr>
          <a:xfrm>
            <a:off x="9409175" y="321868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65792" y="3017520"/>
            <a:ext cx="1920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10 抽查复验管理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监督执行阶段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4572000"/>
            <a:ext cx="1920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11 监造记录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监督执行阶段</a:t>
            </a:r>
          </a:p>
        </p:txBody>
      </p:sp>
      <p:sp>
        <p:nvSpPr>
          <p:cNvPr id="24" name="Chevron 23"/>
          <p:cNvSpPr/>
          <p:nvPr/>
        </p:nvSpPr>
        <p:spPr>
          <a:xfrm>
            <a:off x="2414016" y="477316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70632" y="4572000"/>
            <a:ext cx="1920240" cy="8686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D97706"/>
                </a:solidFill>
                <a:latin typeface="Microsoft YaHei"/>
              </a:defRPr>
            </a:pPr>
            <a:r>
              <a:t>12 监造完工管理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交付收口阶段</a:t>
            </a:r>
          </a:p>
        </p:txBody>
      </p:sp>
      <p:sp>
        <p:nvSpPr>
          <p:cNvPr id="26" name="Chevron 25"/>
          <p:cNvSpPr/>
          <p:nvPr/>
        </p:nvSpPr>
        <p:spPr>
          <a:xfrm>
            <a:off x="4745736" y="477316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02352" y="4572000"/>
            <a:ext cx="1920240" cy="8686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D97706"/>
                </a:solidFill>
                <a:latin typeface="Microsoft YaHei"/>
              </a:defRPr>
            </a:pPr>
            <a:r>
              <a:t>13 监造验收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交付收口阶段</a:t>
            </a:r>
          </a:p>
        </p:txBody>
      </p:sp>
      <p:sp>
        <p:nvSpPr>
          <p:cNvPr id="28" name="Chevron 27"/>
          <p:cNvSpPr/>
          <p:nvPr/>
        </p:nvSpPr>
        <p:spPr>
          <a:xfrm>
            <a:off x="7077456" y="477316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34071" y="4572000"/>
            <a:ext cx="1920240" cy="8686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D97706"/>
                </a:solidFill>
                <a:latin typeface="Microsoft YaHei"/>
              </a:defRPr>
            </a:pPr>
            <a:r>
              <a:t>14 监造放行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交付收口阶段</a:t>
            </a:r>
          </a:p>
        </p:txBody>
      </p:sp>
      <p:sp>
        <p:nvSpPr>
          <p:cNvPr id="30" name="Chevron 29"/>
          <p:cNvSpPr/>
          <p:nvPr/>
        </p:nvSpPr>
        <p:spPr>
          <a:xfrm>
            <a:off x="9409175" y="4773168"/>
            <a:ext cx="237744" cy="384048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65792" y="4572000"/>
            <a:ext cx="1920240" cy="8686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080" b="1">
                <a:solidFill>
                  <a:srgbClr val="D97706"/>
                </a:solidFill>
                <a:latin typeface="Microsoft YaHei"/>
              </a:defRPr>
            </a:pPr>
            <a:r>
              <a:t>15 质量追溯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810">
                <a:solidFill>
                  <a:srgbClr val="1F2937"/>
                </a:solidFill>
                <a:latin typeface="Microsoft YaHei"/>
              </a:defRPr>
            </a:pPr>
            <a:r>
              <a:t>交付收口阶段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77840"/>
            <a:ext cx="5120640" cy="47548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一期支撑模块侧挂主链关键节点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577840"/>
            <a:ext cx="5120640" cy="475488"/>
          </a:xfrm>
          <a:prstGeom prst="roundRect">
            <a:avLst/>
          </a:prstGeom>
          <a:solidFill>
            <a:srgbClr val="FDEFE8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150" b="1">
                <a:solidFill>
                  <a:srgbClr val="C2410C"/>
                </a:solidFill>
                <a:latin typeface="Microsoft YaHei"/>
              </a:defRPr>
            </a:pPr>
            <a:r>
              <a:t>二期模块在一期数据沉淀后接入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01 体系文件管理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基础建模阶段 | 先后位置：01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2F6BFF"/>
                </a:solidFill>
                <a:latin typeface="Microsoft YaHei"/>
              </a:defRPr>
            </a:pPr>
            <a:r>
              <a:t>基础建模阶段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先把规则、对象和任务边界立起来。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统一沉淀标准、法规和技术文件，给后续监造动作提供统一依据。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目录规划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资料上传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编码归档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审核发布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引用复用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步骤动作：规划目录 / 上传文件 / 审核发布 / 检索引用 / 模板沉淀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按钮：新建目录 / 上传文件 / 提交审核 / 预览 / 下载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角色：监造管理部门、监造工程师、审查人/总监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2F6BFF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上游输入：法规标准、技术资料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下游输出：策划管理、质量计划标准建立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前置模块：无，作为主链起点之一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后续模块：02 物资采购管理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02 物资采购管理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基础建模阶段 | 先后位置：02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2F6BFF"/>
                </a:solidFill>
                <a:latin typeface="Microsoft YaHei"/>
              </a:defRPr>
            </a:pPr>
            <a:r>
              <a:t>基础建模阶段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先把规则、对象和任务边界立起来。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把合同和物资台账先建好，不然后面的任务、验收、追溯都没有主体。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合同建档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物资绑定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状态维护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权限控制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数据复用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步骤动作：创建合同 / 维护物资 / 状态更新 / 查询导出 / 归档锁定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按钮：新建合同 / 物资维护 / 导入 / 导出 / 归档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角色：项目负责人/采购员、监造管理部门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2F6BFF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上游输入：采购合同、供应商信息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下游输出：任务分配管理、质量追溯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前置模块：01 体系文件管理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后续模块：03 任务分配管理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03 任务分配管理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基础建模阶段 | 先后位置：03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2F6BFF"/>
                </a:solidFill>
                <a:latin typeface="Microsoft YaHei"/>
              </a:defRPr>
            </a:pPr>
            <a:r>
              <a:t>基础建模阶段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先把规则、对象和任务边界立起来。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把项目、采购包、监造任务和监理人员的责任关系一次理顺。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项目建档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任务拆分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指定人员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审批下发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2F6BFF"/>
                </a:solidFill>
                <a:latin typeface="Microsoft YaHei"/>
              </a:defRPr>
            </a:pPr>
            <a:r>
              <a:t>权限生效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步骤动作：创建项目 / 拆分任务 / 分派人员 / 审批下发 / 交接变更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按钮：新建项目 / 分配任务 / 提交审批 / 发起变更 / 交接确认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角色：监造管理部门、项目负责人/采购员、监造工程师、审查人/总监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2F6BFF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上游输入：项目、采购包、合同、物资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下游输出：策划管理、监造过程监督和执行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前置模块：02 物资采购管理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后续模块：04 策划管理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04 策划管理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执行准备阶段 | 先后位置：04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1FA597"/>
                </a:solidFill>
                <a:latin typeface="Microsoft YaHei"/>
              </a:defRPr>
            </a:pPr>
            <a:r>
              <a:t>执行准备阶段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先把执行规则准备好，再允许进入现场动作。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把任务要求转成一份可执行的监造策划，等于把打法先写清楚。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选择任务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绑定采购包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编制策划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分级审批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生效归档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步骤动作：选择任务 / 绑定采购包 / 编制策划 / 分级审批 / 升版迭代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按钮：新建策划 / 保存草稿 / 提交审批 / 升版 / 查看历史版本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角色：监造工程师、审查人/总监、监造管理部门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1FA597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上游输入：已审批任务、采购包资料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下游输出：供方文件审核、质量计划标准建立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前置模块：03 任务分配管理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后续模块：05 供方文件审核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05 供方文件审核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执行准备阶段 | 先后位置：05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1FA597"/>
                </a:solidFill>
                <a:latin typeface="Microsoft YaHei"/>
              </a:defRPr>
            </a:pPr>
            <a:r>
              <a:t>执行准备阶段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先把执行规则准备好，再允许进入现场动作。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把供应商交上来的资料审一遍，先确认文件受控，再进入执行。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资料提交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任务绑定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在线审查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审批处理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版本留存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步骤动作：上传资料 / 绑定任务 / 填写意见 / 补充见证点 / 审批归档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按钮：上传资料 / 填写意见 / 提交审批 / 退回补正 / 查看版本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角色：供应商/制造厂、监造工程师、审查人/总监、监造管理部门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1FA597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上游输入：供应商文件、采购包、任务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下游输出：质量计划标准建立、监造过程监督和执行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前置模块：04 策划管理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后续模块：06 质量计划标准建立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06 质量计划标准建立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执行准备阶段 | 先后位置：06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1FA597"/>
                </a:solidFill>
                <a:latin typeface="Microsoft YaHei"/>
              </a:defRPr>
            </a:pPr>
            <a:r>
              <a:t>执行准备阶段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先把执行规则准备好，再允许进入现场动作。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把质量计划、W/R/H 点和见证责任都提前落成清单。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计划创建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质控标注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双线审批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清单生成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1FA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1FA597"/>
                </a:solidFill>
                <a:latin typeface="Microsoft YaHei"/>
              </a:defRPr>
            </a:pPr>
            <a:r>
              <a:t>版本管控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步骤动作：创建计划 / 分层拆解 / 审批确认 / 生成见证点 / 升版维护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按钮：新建计划 / 标注质控点 / 提交审批 / 生成清单 / 升版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角色：供应商/制造厂、监造工程师、监造管理部门、审查人/总监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1FA597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上游输入：物资品类、工序、标准文件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下游输出：监造过程监督和执行、监造验收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前置模块：05 供方文件审核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后续模块：07 监造过程监督和执行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07 监造过程监督和执行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监督执行阶段 | 先后位置：07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围绕生产过程持续记录、检查、整改、沉淀。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现场监督、专项监督、见证执行都在这里落记录，是整个系统的主生产区。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选择任务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执行监督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填报记录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上传佐证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更新状态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步骤动作：日志填报 / 专项监督 / 见证执行 / 上传佐证 / 进度更新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按钮：填报日志 / 发起监督 / 上传附件 / 提交记录 / 更新进度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角色：监造工程师、供应商/制造厂、监造管理部门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上游输入：任务、质量计划、见证点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下游输出：监造质量问题处理、监造记录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前置模块：06 质量计划标准建立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后续模块：08 监造质量问题处理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08 监造质量问题处理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监督执行阶段 | 先后位置：08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围绕生产过程持续记录、检查、整改、沉淀。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现场发现问题后，必须建单、整改、复核、关闭，不能只停留在口头。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问题发现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建单审批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供应商整改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监造复核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闭环回写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步骤动作：创建单据 / 审批流转 / 推送整改 / 复核关闭 / 状态回写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按钮：快捷建单 / 提交审批 / 发送整改 / 复核 / 关闭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角色：监造工程师、供应商/制造厂、审查人/总监、监造管理部门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上游输入：巡检/见证/验收问题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下游输出：监造巡查管理、监造验收、质量追溯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前置模块：07 监造过程监督和执行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后续模块：09 监造巡查管理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09 监造巡查管理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监督执行阶段 | 先后位置：09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围绕生产过程持续记录、检查、整改、沉淀。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把周期性巡查从“去一趟现场”变成“有计划、有报告、有行动项”的动作。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巡查计划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审批通过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执行巡查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整改跟踪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办结归档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步骤动作：创建计划 / 审批 / 执行巡查 / 生成行动项 / 关闭办结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按钮：新建巡查 / 提交审批 / 生成报告 / 分派行动项 / 关闭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角色：监造工程师、监造管理部门、供应商/制造厂、审查人/总监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上游输入：监造任务、巡查安排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下游输出：监造质量问题处理、监造记录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前置模块：08 监造质量问题处理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后续模块：10 抽查复验管理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10 抽查复验管理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监督执行阶段 | 先后位置：10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围绕生产过程持续记录、检查、整改、沉淀。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把抽验复查结果做成有数据、有结论、有建议的台账。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创建任务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执行抽验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结果录入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整改建议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台账统计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步骤动作：创建抽验任务 / 录入结果 / 上传附件 / 触发整改 / 统计分析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按钮：新建抽验 / 录入结果 / 上传附件 / 提交建议 / 查看报表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角色：监造工程师、项目负责人/采购员、供应商/制造厂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上游输入：合同、物项、抽验要求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下游输出：监造质量问题处理、数据统计及质量趋势分析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前置模块：09 监造巡查管理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后续模块：11 监造记录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11 监造记录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监督执行阶段 | 先后位置：11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监督执行阶段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围绕生产过程持续记录、检查、整改、沉淀。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把日报、周报、月报自动汇总起来，形成正式档案和可追溯记录。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填报日报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自动汇总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编辑补充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提交流程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0D2443"/>
                </a:solidFill>
                <a:latin typeface="Microsoft YaHei"/>
              </a:defRPr>
            </a:pPr>
            <a:r>
              <a:t>固化归档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步骤动作：填报日报 / 汇总周月报 / 补充说明 / 提交审批 / 归档追溯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按钮：新建日报 / 自动汇总 / 提交审批 / 打印 / 归档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角色：监造工程师、审查人/总监、监造管理部门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上游输入：日志、监督记录、问题、行动项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下游输出：监造完工管理、数据统计及质量趋势分析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前置模块：10 抽查复验管理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后续模块：12 监造完工管理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12 监造完工管理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交付收口阶段 | 先后位置：12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交付收口阶段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把验收、放行、追溯和总结做成闭环。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项目做完后，不是散着结束，而是要形成正式总结和完工报告。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发起总结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自动汇总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编辑修订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审核批准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报告归档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步骤动作：发起总结 / 系统汇总 / 人工修订 / 提交流程 / 生成报告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按钮：发起总结 / 编辑初稿 / 提交审查 / 生成报告 / 归档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角色：监造工程师、审查人/总监、监造管理部门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上游输入：合同全生命周期监造数据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下游输出：监造验收、质量追溯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前置模块：11 监造记录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后续模块：13 监造验收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13 监造验收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交付收口阶段 | 先后位置：13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交付收口阶段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把验收、放行、追溯和总结做成闭环。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先处理遗留项，再形成正式验收和放行依据。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预验收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遗留整改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正式验收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放行审核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统计沉淀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步骤动作：预验收登记 / 遗留项整改 / 正式验收 / 放行审核 / 统计分析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按钮：新建遗留项 / 提交关闭 / 发起验收 / 上传附件 / 查看统计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角色：监造工程师、供应商/制造厂、监造管理部门、审查人/总监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上游输入：完工成果、遗留问题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下游输出：监造放行、质量追溯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前置模块：12 监造完工管理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后续模块：14 监造放行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14 监造放行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交付收口阶段 | 先后位置：14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交付收口阶段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把验收、放行、追溯和总结做成闭环。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放行不是一句“可以发货”，而是供应商申请、审查、审批都留痕。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供应商申请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资料审查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放行单编制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审批通过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通知发货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步骤动作：发起申请 / 补充资料 / 编制放行单 / 审批通过 / 通知发货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按钮：发起放行 / 上传佐证 / 编制放行单 / 提交审批 / 通知发货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角色：供应商/制造厂、监造工程师、审查人/总监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上游输入：供应商申请、验收结果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下游输出：质量追溯、付款台账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前置模块：13 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后续模块：15 质量追溯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15 质量追溯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交付收口阶段 | 先后位置：15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011680" cy="53035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交付收口阶段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60">
                <a:solidFill>
                  <a:srgbClr val="1F2937"/>
                </a:solidFill>
                <a:latin typeface="Microsoft YaHei"/>
              </a:defRPr>
            </a:pPr>
            <a:r>
              <a:t>把验收、放行、追溯和总结做成闭环。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960120"/>
            <a:ext cx="9326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模块定位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从物项编号一路倒查到生产、检测、验收和放行，形成全链路追溯。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64208"/>
            <a:ext cx="11521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00" b="1">
                <a:solidFill>
                  <a:srgbClr val="0D2443"/>
                </a:solidFill>
                <a:latin typeface="Microsoft YaHei"/>
              </a:defRPr>
            </a:pPr>
            <a:r>
              <a:t>业务流程图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流程按实际先后动作展开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输入编号</a:t>
            </a:r>
          </a:p>
        </p:txBody>
      </p:sp>
      <p:sp>
        <p:nvSpPr>
          <p:cNvPr id="9" name="Chevron 8"/>
          <p:cNvSpPr/>
          <p:nvPr/>
        </p:nvSpPr>
        <p:spPr>
          <a:xfrm>
            <a:off x="3310128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聚合数据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时间轴展示</a:t>
            </a:r>
          </a:p>
        </p:txBody>
      </p:sp>
      <p:sp>
        <p:nvSpPr>
          <p:cNvPr id="13" name="Chevron 12"/>
          <p:cNvSpPr/>
          <p:nvPr/>
        </p:nvSpPr>
        <p:spPr>
          <a:xfrm>
            <a:off x="6839712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68312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节点查看</a:t>
            </a:r>
          </a:p>
        </p:txBody>
      </p:sp>
      <p:sp>
        <p:nvSpPr>
          <p:cNvPr id="15" name="Chevron 14"/>
          <p:cNvSpPr/>
          <p:nvPr/>
        </p:nvSpPr>
        <p:spPr>
          <a:xfrm>
            <a:off x="8604504" y="2450592"/>
            <a:ext cx="256032" cy="4572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33104" y="2286000"/>
            <a:ext cx="1508760" cy="786384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导出结果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730752"/>
            <a:ext cx="36576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业务动作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步骤动作：联查检索 / 节点展示 / 文件下载 / 追溯报告 / 问题倒查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3730752"/>
            <a:ext cx="3794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功能按钮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按钮：联查 / 查看节点 / 下载文件 / 导出追溯结果 / 回溯定位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730752"/>
            <a:ext cx="373989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0D2443"/>
                </a:solidFill>
                <a:latin typeface="Microsoft YaHei"/>
              </a:defRPr>
            </a:pPr>
            <a:r>
              <a:t>参与角色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0">
                <a:solidFill>
                  <a:srgbClr val="1F2937"/>
                </a:solidFill>
                <a:latin typeface="Microsoft YaHei"/>
              </a:defRPr>
            </a:pPr>
            <a:r>
              <a:t>角色：监造工程师、监造管理部门、项目负责人/采购员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230368"/>
            <a:ext cx="11521440" cy="86868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00" b="1">
                <a:solidFill>
                  <a:srgbClr val="D97706"/>
                </a:solidFill>
                <a:latin typeface="Microsoft YaHei"/>
              </a:defRPr>
            </a:pPr>
            <a:r>
              <a:t>模块关系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上游输入：合同、物项、问题、验收与放行数据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下游输出：数据统计及质量趋势分析、甲方追责与复盘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前置模块：14 监造放行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>
                <a:solidFill>
                  <a:srgbClr val="1F2937"/>
                </a:solidFill>
                <a:latin typeface="Microsoft YaHei"/>
              </a:defRPr>
            </a:pPr>
            <a:r>
              <a:t>后续模块：主链收口模块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一期支撑模块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支撑模块不走主链，但分别挂在关键业务节点上服务审核、预警、统计和经营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051560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S01 数据统计及质量趋势分析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挂载：监造记录、抽查复验管理、监造质量问题处理、质量追溯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触发：日报汇总后、问题闭环后、抽验完成后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按钮：查看统计图 / 切换维度 / 导出报表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8" y="1051560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S02 产品进度跟踪及风险预警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挂载：监造过程监督和执行、监造质量问题处理、监造验收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触发：计划超时、整改超期、关键节点异常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按钮：查看预警 / 解除预警 / 预警配置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39112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S04 可视化管理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挂载：监造记录、质量问题、见证点、验收放行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触发：首页查看、领导汇报、阶段总结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按钮：查看总览 / 钻取清单 / 切换维度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2039112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S05 日常工作量化管理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挂载：监造过程监督和执行、抽查复验管理、监造记录、监造验收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触发：提交监督记录后、手工补录时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按钮：录入工日 / 提交审核 / 查看统计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026664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S06 产品二维码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挂载：物资采购管理、质量追溯、监造验收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触发：审批通过后、版本更新后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按钮：生成二维码 / 下载 / 查看版本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3026664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S07 电子签名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挂载：策划管理、供方文件审核、质量计划标准建立、监造放行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触发：审批提交时、签章确认时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按钮：上传签名 / 签章确认 / 查看签名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014216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S08 图文识别信息抓取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挂载：供方文件审核、防造假管理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触发：上传证明文件时、上传检测报告时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按钮：发起识别 / 查看字段 / 查看比对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8" y="4014216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S09 视频远程识别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挂载：监造过程监督和执行、监造巡查管理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触发：现场监造、远程巡检、事后回看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按钮：查看直播 / 语音对讲 / 回放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5001768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S11 付款台账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挂载：物资采购管理、监造验收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触发：付款登记时、对账时、导入导出时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按钮：导入 / 导出 / 查询 / 查看台账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5001768"/>
            <a:ext cx="5486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080" b="1">
                <a:solidFill>
                  <a:srgbClr val="0D2443"/>
                </a:solidFill>
                <a:latin typeface="Microsoft YaHei"/>
              </a:defRPr>
            </a:pPr>
            <a:r>
              <a:t>S12 培训与考试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挂载：任务分配管理、可视化管理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触发：培训开展时、考试组织时、证书发放时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750">
                <a:solidFill>
                  <a:srgbClr val="1F2937"/>
                </a:solidFill>
                <a:latin typeface="Microsoft YaHei"/>
              </a:defRPr>
            </a:pPr>
            <a:r>
              <a:t>按钮：发布培训 / 参加考试 / 查看证书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开发SOP（上半程）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把SOP阶段、周期、参与者、动作、输出物、Gate拆页讲清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078992"/>
          <a:ext cx="117957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周期节点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主责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配合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可执行动作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输出物 / Gate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项目启动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P1 /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甲方项目负责人、乙方项目经理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业务部门、实施、集成商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锁定范围、责任边界、启动机制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启动纪要、责任清单、范围确认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启动评审通过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需求调研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P2 / 10%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甲方业务部门、项目经理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梳理流程、确认边界、完成需求评审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需求清单、流程梳理、边界确认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需求评审通过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方案设计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P3 /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架构师、产品经理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项目经理、甲方代表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输出总体方案、模块边界、软硬件建议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总体方案、模块边界、软硬件建议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方案评审通过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系统设计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P4 / 10%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架构师、前后端负责人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产品经理、实施、测试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细化页面、接口、数据、部署方案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页面设计、接口设计、数据设计、部署设计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设计评审通过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开发构建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P5 / 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前后端开发负责人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架构师、测试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模块开发、自测、接口联调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可运行版本、模块实现、联调接口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开发自测通过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01168" y="5532120"/>
            <a:ext cx="11795760" cy="5486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120" b="1">
                <a:solidFill>
                  <a:srgbClr val="2F6BFF"/>
                </a:solidFill>
                <a:latin typeface="Microsoft YaHei"/>
              </a:defRPr>
            </a:pPr>
            <a:r>
              <a:t>参与者能干的事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>
                <a:solidFill>
                  <a:srgbClr val="1F2937"/>
                </a:solidFill>
                <a:latin typeface="Microsoft YaHei"/>
              </a:defRPr>
            </a:pPr>
            <a:r>
              <a:t>监造管理部门：审批阶段成果、跨阶段协调。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>
                <a:solidFill>
                  <a:srgbClr val="1F2937"/>
                </a:solidFill>
                <a:latin typeface="Microsoft YaHei"/>
              </a:defRPr>
            </a:pPr>
            <a:r>
              <a:t>供应商/制造厂：提交供方文件、配合整改和验收。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>
                <a:solidFill>
                  <a:srgbClr val="1F2937"/>
                </a:solidFill>
                <a:latin typeface="Microsoft YaHei"/>
              </a:defRPr>
            </a:pPr>
            <a:r>
              <a:t>产品/架构/开发/测试/实施/运维：分别承担设计、实现、验证、部署和运行保障。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开发SOP（下半程）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把SOP阶段、周期、参与者、动作、输出物、Gate拆页讲清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078992"/>
          <a:ext cx="117957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周期节点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主责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配合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可执行动作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输出物 / Gate</a:t>
                      </a:r>
                    </a:p>
                  </a:txBody>
                  <a:tcPr>
                    <a:solidFill>
                      <a:srgbClr val="0D2443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P6 / 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开发、产品、安全团队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功能测试、安全扫描、缺陷回归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测试报告、缺陷清单、安全扫描结果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测试评审通过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部署实施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P7 / 10%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实施负责人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运维、集成商、开发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环境部署、系统联调、上线准备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环境部署记录、联调记录、上线方案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部署检查通过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P8 / 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甲方试点负责人、实施负责人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产品、测试、运维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试点使用、问题收集、修正优化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试运行问题清单、使用反馈、修正项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试运行评审通过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验收交付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P9 / 5%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甲方项目负责人、乙方项目经理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业务部门、测试、实施、安全团队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组织验收、培训交付、签字确认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验收材料、培训记录、交付清单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验收签字通过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  <a:tr h="708660"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P10 / 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产品经理、甲方使用部门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运行跟踪、优化计划、版本改进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/>
                    <a:lstStyle/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运维台账、优化计划、版本改进清单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66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进入常态运维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01168" y="5532120"/>
            <a:ext cx="11795760" cy="5486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120" b="1">
                <a:solidFill>
                  <a:srgbClr val="2F6BFF"/>
                </a:solidFill>
                <a:latin typeface="Microsoft YaHei"/>
              </a:defRPr>
            </a:pPr>
            <a:r>
              <a:t>参与者能干的事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>
                <a:solidFill>
                  <a:srgbClr val="1F2937"/>
                </a:solidFill>
                <a:latin typeface="Microsoft YaHei"/>
              </a:defRPr>
            </a:pPr>
            <a:r>
              <a:t>监造管理部门：审批阶段成果、跨阶段协调。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>
                <a:solidFill>
                  <a:srgbClr val="1F2937"/>
                </a:solidFill>
                <a:latin typeface="Microsoft YaHei"/>
              </a:defRPr>
            </a:pPr>
            <a:r>
              <a:t>供应商/制造厂：提交供方文件、配合整改和验收。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>
                <a:solidFill>
                  <a:srgbClr val="1F2937"/>
                </a:solidFill>
                <a:latin typeface="Microsoft YaHei"/>
              </a:defRPr>
            </a:pPr>
            <a:r>
              <a:t>产品/架构/开发/测试/实施/运维：分别承担设计、实现、验证、部署和运行保障。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软硬件入场时机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按SOP阶段对应说明四类对象何时入场，不再和验收标准塞进同一页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170432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20" b="1">
                <a:solidFill>
                  <a:srgbClr val="0D2443"/>
                </a:solidFill>
                <a:latin typeface="Microsoft YaHei"/>
              </a:defRPr>
            </a:pPr>
            <a:r>
              <a:t>项目启动后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明确采购责任、设备范围、环境准备边界。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170432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20" b="1">
                <a:solidFill>
                  <a:srgbClr val="0D2443"/>
                </a:solidFill>
                <a:latin typeface="Microsoft YaHei"/>
              </a:defRPr>
            </a:pPr>
            <a:r>
              <a:t>方案设计/系统设计阶段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确认服务器、数据库、网络安全与客户端配置。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3024" y="1170432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20" b="1">
                <a:solidFill>
                  <a:srgbClr val="0D2443"/>
                </a:solidFill>
                <a:latin typeface="Microsoft YaHei"/>
              </a:defRPr>
            </a:pPr>
            <a:r>
              <a:t>开发后期/测试前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完成基础环境部署，准备测试环境。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999232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20" b="1">
                <a:solidFill>
                  <a:srgbClr val="0D2443"/>
                </a:solidFill>
                <a:latin typeface="Microsoft YaHei"/>
              </a:defRPr>
            </a:pPr>
            <a:r>
              <a:t>部署实施阶段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完成服务器、数据库、中间件、应用系统联调。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2999232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20" b="1">
                <a:solidFill>
                  <a:srgbClr val="0D2443"/>
                </a:solidFill>
                <a:latin typeface="Microsoft YaHei"/>
              </a:defRPr>
            </a:pPr>
            <a:r>
              <a:t>试运行前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完成客户端配发、安全接入、容灾与备份验证。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2999232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20" b="1">
                <a:solidFill>
                  <a:srgbClr val="0D2443"/>
                </a:solidFill>
                <a:latin typeface="Microsoft YaHei"/>
              </a:defRPr>
            </a:pPr>
            <a:r>
              <a:t>验收交付阶段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按到货、安装、联调、业务、安全五层组织验收。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956048"/>
            <a:ext cx="1129284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40" b="1">
                <a:solidFill>
                  <a:srgbClr val="2F6BFF"/>
                </a:solidFill>
                <a:latin typeface="Microsoft YaHei"/>
              </a:defRPr>
            </a:pPr>
            <a:r>
              <a:t>四类对象与SOP阶段对应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硬件设备：系统设计阶段锁定配置，部署实施阶段入场，联调前1周上架。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基础软件：部署实施阶段安装配置，联调前完成数据库和应用系统安装。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安全与保障服务：测试验证后期启动，试运行前完成扫描、整改和容灾演练。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网络接入方案：部署实施阶段完成防火墙/VPN配置，联调前打通远程接入。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软硬件验收标准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把四类对象的可落地判定条件单独拆页讲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188720"/>
            <a:ext cx="5532120" cy="1645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20" b="1">
                <a:solidFill>
                  <a:srgbClr val="2F6BFF"/>
                </a:solidFill>
                <a:latin typeface="Microsoft YaHei"/>
              </a:defRPr>
            </a:pPr>
            <a:r>
              <a:t>硬件设备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服务器开机无故障；配置匹配清单；网络连通率100%；客户端可登录、可填报、可审批。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188720"/>
            <a:ext cx="5532120" cy="164592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20" b="1">
                <a:solidFill>
                  <a:srgbClr val="1FA597"/>
                </a:solidFill>
                <a:latin typeface="Microsoft YaHei"/>
              </a:defRPr>
            </a:pPr>
            <a:r>
              <a:t>基础软件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银河麒麟V10安装成功；终端系统兼容客户端；达梦数据库V8安装成功、读写正常、备份恢复通过；应用系统关键流程跑通。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200400"/>
            <a:ext cx="5532120" cy="164592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20" b="1">
                <a:solidFill>
                  <a:srgbClr val="D97706"/>
                </a:solidFill>
                <a:latin typeface="Microsoft YaHei"/>
              </a:defRPr>
            </a:pPr>
            <a:r>
              <a:t>安全与保障服务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测评报告、扫描报告、整改确认单齐全；高风险问题闭环；容灾切换演练通过；恢复时效达标。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3200400"/>
            <a:ext cx="5532120" cy="1645920"/>
          </a:xfrm>
          <a:prstGeom prst="roundRect">
            <a:avLst/>
          </a:prstGeom>
          <a:solidFill>
            <a:srgbClr val="FDEFE8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20" b="1">
                <a:solidFill>
                  <a:srgbClr val="C2410C"/>
                </a:solidFill>
                <a:latin typeface="Microsoft YaHei"/>
              </a:defRPr>
            </a:pPr>
            <a:r>
              <a:t>网络接入方案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30">
                <a:solidFill>
                  <a:srgbClr val="1F2937"/>
                </a:solidFill>
                <a:latin typeface="Microsoft YaHei"/>
              </a:defRPr>
            </a:pPr>
            <a:r>
              <a:t>防火墙策略和VPN配置生效；外部访问受控；远程接入可用；联调阶段连接稳定。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440680"/>
            <a:ext cx="11292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Aft>
                <a:spcPts val="300"/>
              </a:spcAft>
              <a:defRPr sz="1180" b="1">
                <a:solidFill>
                  <a:srgbClr val="0D2443"/>
                </a:solidFill>
                <a:latin typeface="Microsoft YaHei"/>
              </a:defRPr>
            </a:pPr>
            <a:r>
              <a:t>五层验收闭环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  <a:defRPr sz="980">
                <a:solidFill>
                  <a:srgbClr val="1F2937"/>
                </a:solidFill>
                <a:latin typeface="Microsoft YaHei"/>
              </a:defRPr>
            </a:pPr>
            <a:r>
              <a:t>到货验收 → 安装验收 → 联调验收 → 业务验收 → 安全验收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二期规划说明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二期只讲两项：防造假管理、数据信息资源库及AI识别功能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115568"/>
            <a:ext cx="5486400" cy="1371600"/>
          </a:xfrm>
          <a:prstGeom prst="roundRect">
            <a:avLst/>
          </a:prstGeom>
          <a:solidFill>
            <a:srgbClr val="FDEFE8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20" b="1">
                <a:solidFill>
                  <a:srgbClr val="C2410C"/>
                </a:solidFill>
                <a:latin typeface="Microsoft YaHei"/>
              </a:defRPr>
            </a:pPr>
            <a:r>
              <a:t>S03 防造假管理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参与角色：供应商/制造厂、监造工程师、审查人/总监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挂载场景：供方文件审核、质量计划标准建立、监造验收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触发场景：文件上传时、归档前、复核时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4" y="1115568"/>
            <a:ext cx="5486400" cy="13716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320" b="1">
                <a:solidFill>
                  <a:srgbClr val="2F6BFF"/>
                </a:solidFill>
                <a:latin typeface="Microsoft YaHei"/>
              </a:defRPr>
            </a:pPr>
            <a:r>
              <a:t>S10 数据信息资源库及AI识别功能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参与角色：监造工程师、监造管理部门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挂载场景：体系文件管理、图文识别信息抓取、防造假管理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19">
                <a:solidFill>
                  <a:srgbClr val="1F2937"/>
                </a:solidFill>
                <a:latin typeface="Microsoft YaHei"/>
              </a:defRPr>
            </a:pPr>
            <a:r>
              <a:t>触发场景：查询标准时、识别调用时、知识联查时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834640"/>
            <a:ext cx="3566160" cy="173736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50" b="1">
                <a:solidFill>
                  <a:srgbClr val="D97706"/>
                </a:solidFill>
                <a:latin typeface="Microsoft YaHei"/>
              </a:defRPr>
            </a:pPr>
            <a:r>
              <a:t>二期原因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90">
                <a:solidFill>
                  <a:srgbClr val="1F2937"/>
                </a:solidFill>
                <a:latin typeface="Microsoft YaHei"/>
              </a:defRPr>
            </a:pPr>
            <a:r>
              <a:t>① 一期优先级：先保障基础建模→执行准备→监督执行→交付收口主链闭环，确保核心工作先跑通、先用起来。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5384" y="2834640"/>
            <a:ext cx="3566160" cy="173736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50" b="1">
                <a:solidFill>
                  <a:srgbClr val="1FA597"/>
                </a:solidFill>
                <a:latin typeface="Microsoft YaHei"/>
              </a:defRPr>
            </a:pPr>
            <a:r>
              <a:t>二期原因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90">
                <a:solidFill>
                  <a:srgbClr val="1F2937"/>
                </a:solidFill>
                <a:latin typeface="Microsoft YaHei"/>
              </a:defRPr>
            </a:pPr>
            <a:r>
              <a:t>② 数据基础：AI识别和防造假依赖一期沉淀的真实模板、质量记录、验收单据；先有数据，二期模型训练才精准。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2834640"/>
            <a:ext cx="3566160" cy="173736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50" b="1">
                <a:solidFill>
                  <a:srgbClr val="2F6BFF"/>
                </a:solidFill>
                <a:latin typeface="Microsoft YaHei"/>
              </a:defRPr>
            </a:pPr>
            <a:r>
              <a:t>二期原因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90">
                <a:solidFill>
                  <a:srgbClr val="1F2937"/>
                </a:solidFill>
                <a:latin typeface="Microsoft YaHei"/>
              </a:defRPr>
            </a:pPr>
            <a:r>
              <a:t>③ 成本与风险控制：先验证核心流程适配性，二期基于运行反馈优化AI功能，并直接复用一期软硬件底座。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846320"/>
            <a:ext cx="11292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220" b="1">
                <a:solidFill>
                  <a:srgbClr val="0D2443"/>
                </a:solidFill>
                <a:latin typeface="Microsoft YaHei"/>
              </a:defRPr>
            </a:pPr>
            <a:r>
              <a:t>二期价值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80">
                <a:solidFill>
                  <a:srgbClr val="1F2937"/>
                </a:solidFill>
                <a:latin typeface="Microsoft YaHei"/>
              </a:defRPr>
            </a:pPr>
            <a:r>
              <a:t>二期上线后，防造假可减少约80%人工核验工作量，AI识别可提升约50%文件审核效率；但必须建立在一期真实业务数据沉淀之上。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28016"/>
            <a:ext cx="7315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汇报收口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13232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按模块、按关系、按落地条件讲完以后，只收三句结论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371600"/>
            <a:ext cx="3611880" cy="182880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450" b="1">
                <a:solidFill>
                  <a:srgbClr val="1FA597"/>
                </a:solidFill>
                <a:latin typeface="Microsoft YaHei"/>
              </a:defRPr>
            </a:pPr>
            <a:r>
              <a:t>业务闭环已经讲清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从01体系文件管理开始，到15质量追溯结束，15个流程型模块已按先后关系逐页拆开说明。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4528" y="1371600"/>
            <a:ext cx="3611880" cy="18288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450" b="1">
                <a:solidFill>
                  <a:srgbClr val="2F6BFF"/>
                </a:solidFill>
                <a:latin typeface="Microsoft YaHei"/>
              </a:defRPr>
            </a:pPr>
            <a:r>
              <a:t>项目闭环已经讲清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SOP按阶段、周期、参与者、动作、输出物和Gate拆分页展开，不再堆在一页。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371600"/>
            <a:ext cx="3611880" cy="18288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450" b="1">
                <a:solidFill>
                  <a:srgbClr val="D97706"/>
                </a:solidFill>
                <a:latin typeface="Microsoft YaHei"/>
              </a:defRPr>
            </a:pPr>
            <a:r>
              <a:t>落地闭环已经讲清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1F2937"/>
                </a:solidFill>
                <a:latin typeface="Microsoft YaHei"/>
              </a:defRPr>
            </a:pPr>
            <a:r>
              <a:t>软硬件入场时机与验收标准已拆页独立说明，二期规划也已单页交代。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30752"/>
            <a:ext cx="11292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400" b="1">
                <a:solidFill>
                  <a:srgbClr val="0D2443"/>
                </a:solidFill>
                <a:latin typeface="Microsoft YaHei"/>
              </a:defRPr>
            </a:pPr>
            <a:r>
              <a:t>下一步建议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1F2937"/>
                </a:solidFill>
                <a:latin typeface="Microsoft YaHei"/>
              </a:defRPr>
            </a:pPr>
            <a:r>
              <a:t>1. 以V3版为甲方汇报底稿，按模块逐页讲流程图。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1F2937"/>
                </a:solidFill>
                <a:latin typeface="Microsoft YaHei"/>
              </a:defRPr>
            </a:pPr>
            <a:r>
              <a:t>2. 先冻结一期范围，按SOP顺序推进设计、开发、测试、部署和验收。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1F2937"/>
                </a:solidFill>
                <a:latin typeface="Microsoft YaHei"/>
              </a:defRPr>
            </a:pPr>
            <a:r>
              <a:t>3. 将S03防造假管理、S10数据信息资源库及AI识别功能纳入二期规划。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349240"/>
            <a:ext cx="11292840" cy="502920"/>
          </a:xfrm>
          <a:prstGeom prst="roundRect">
            <a:avLst/>
          </a:prstGeom>
          <a:solidFill>
            <a:srgbClr val="0D2443"/>
          </a:solidFill>
          <a:ln w="12700">
            <a:solidFill>
              <a:srgbClr val="0D2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l">
              <a:spcAft>
                <a:spcPts val="300"/>
              </a:spcAft>
              <a:defRPr sz="1180" b="1">
                <a:solidFill>
                  <a:srgbClr val="FFFFFF"/>
                </a:solidFill>
                <a:latin typeface="Microsoft YaHei"/>
              </a:defRPr>
            </a:pPr>
            <a:r>
              <a:t>结论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V3版本重点不是“摘要介绍”，而是“按模块拆开、按顺序讲清、按流程落地”。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428232"/>
            <a:ext cx="11612880" cy="18288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3968" y="6446520"/>
            <a:ext cx="320040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850" b="0">
                <a:solidFill>
                  <a:srgbClr val="475569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