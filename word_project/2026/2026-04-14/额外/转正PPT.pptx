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9796" r:id="rId3"/>
    <p:sldId id="258" r:id="rId4"/>
    <p:sldId id="271" r:id="rId5"/>
    <p:sldId id="259" r:id="rId6"/>
    <p:sldId id="272" r:id="rId7"/>
    <p:sldId id="260" r:id="rId8"/>
    <p:sldId id="261" r:id="rId9"/>
    <p:sldId id="262" r:id="rId10"/>
    <p:sldId id="265" r:id="rId11"/>
    <p:sldId id="263" r:id="rId12"/>
    <p:sldId id="264" r:id="rId13"/>
    <p:sldId id="266" r:id="rId14"/>
    <p:sldId id="267" r:id="rId15"/>
    <p:sldId id="268" r:id="rId16"/>
    <p:sldId id="270" r:id="rId17"/>
  </p:sldIdLst>
  <p:sldSz cx="12192000" cy="6858000"/>
  <p:notesSz cx="6858000" cy="9144000"/>
  <p:embeddedFontLst>
    <p:embeddedFont>
      <p:font typeface="Microsoft Yahei" panose="020B0503020204020204" pitchFamily="34" charset="-122"/>
      <p:regular r:id="rId19"/>
      <p:bold r:id="rId20"/>
    </p:embeddedFont>
    <p:embeddedFont>
      <p:font typeface="Microsoft Yahei" panose="020B0503020204020204" pitchFamily="34" charset="-122"/>
      <p:regular r:id="rId19"/>
      <p:bold r:id="rId20"/>
    </p:embeddedFont>
    <p:embeddedFont>
      <p:font typeface="Noto Sans SC" panose="020B0200000000000000" pitchFamily="34" charset="-122"/>
      <p:regular r:id="rId21"/>
      <p:bold r:id="rId22"/>
    </p:embeddedFont>
    <p:embeddedFont>
      <p:font typeface="等线" panose="02010600030101010101" pitchFamily="2" charset="-122"/>
      <p:regular r:id="rId23"/>
      <p:bold r:id="rId24"/>
    </p:embeddedFont>
    <p:embeddedFont>
      <p:font typeface="等线 Light" panose="02010600030101010101" pitchFamily="2" charset="-122"/>
      <p:regular r:id="rId25"/>
    </p:embeddedFont>
    <p:embeddedFont>
      <p:font typeface="微软雅黑 Light" panose="020B0502040204020203" pitchFamily="34" charset="-122"/>
      <p:regular r:id="rId2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74"/>
  </p:normalViewPr>
  <p:slideViewPr>
    <p:cSldViewPr snapToGrid="0">
      <p:cViewPr varScale="1">
        <p:scale>
          <a:sx n="77" d="100"/>
          <a:sy n="77" d="100"/>
        </p:scale>
        <p:origin x="102" y="1032"/>
      </p:cViewPr>
      <p:guideLst/>
    </p:cSldViewPr>
  </p:slideViewPr>
  <p:notesTextViewPr>
    <p:cViewPr>
      <p:scale>
        <a:sx n="1" d="1"/>
        <a:sy n="1" d="1"/>
      </p:scale>
      <p:origin x="0" y="0"/>
    </p:cViewPr>
  </p:notesTextViewPr>
  <p:notesViewPr>
    <p:cSldViewPr snapToGrid="0">
      <p:cViewPr varScale="1">
        <p:scale>
          <a:sx n="96" d="100"/>
          <a:sy n="96" d="100"/>
        </p:scale>
        <p:origin x="157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4EFAA-ADE6-4A37-923C-498FDF02E5E7}"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4C1E7-3416-418C-9FCF-14A88E701D36}" type="slidenum">
              <a:rPr lang="zh-CN" altLang="en-US" smtClean="0"/>
              <a:t>‹#›</a:t>
            </a:fld>
            <a:endParaRPr lang="zh-CN" altLang="en-US"/>
          </a:p>
        </p:txBody>
      </p:sp>
    </p:spTree>
    <p:extLst>
      <p:ext uri="{BB962C8B-B14F-4D97-AF65-F5344CB8AC3E}">
        <p14:creationId xmlns:p14="http://schemas.microsoft.com/office/powerpoint/2010/main" val="2057425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315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C4BDD16-6439-B908-EDD7-E328E0DBDD56}"/>
              </a:ext>
            </a:extLst>
          </p:cNvPr>
          <p:cNvSpPr>
            <a:spLocks noGrp="1"/>
          </p:cNvSpPr>
          <p:nvPr>
            <p:ph type="dt" sz="half" idx="10"/>
          </p:nvPr>
        </p:nvSpPr>
        <p:spPr/>
        <p:txBody>
          <a:bodyPr/>
          <a:lstStyle/>
          <a:p>
            <a:fld id="{BDC48963-C8E2-1E4C-A771-F62A9F2C7DEC}" type="datetimeFigureOut">
              <a:rPr kumimoji="1" lang="zh-CN" altLang="en-US" smtClean="0"/>
              <a:t>2025/11/7</a:t>
            </a:fld>
            <a:endParaRPr kumimoji="1" lang="zh-CN" altLang="en-US"/>
          </a:p>
        </p:txBody>
      </p:sp>
      <p:sp>
        <p:nvSpPr>
          <p:cNvPr id="3" name="页脚占位符 2">
            <a:extLst>
              <a:ext uri="{FF2B5EF4-FFF2-40B4-BE49-F238E27FC236}">
                <a16:creationId xmlns:a16="http://schemas.microsoft.com/office/drawing/2014/main" id="{82E04F1C-1C5E-FF25-BFF4-A2FD0C4AB89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25C5C0E4-D1F8-57FC-808D-20A6FC4DDD99}"/>
              </a:ext>
            </a:extLst>
          </p:cNvPr>
          <p:cNvSpPr>
            <a:spLocks noGrp="1"/>
          </p:cNvSpPr>
          <p:nvPr>
            <p:ph type="sldNum" sz="quarter" idx="12"/>
          </p:nvPr>
        </p:nvSpPr>
        <p:spPr/>
        <p:txBody>
          <a:bodyPr/>
          <a:lstStyle/>
          <a:p>
            <a:fld id="{14F1114B-15D0-654E-97CA-9E77F051A874}" type="slidenum">
              <a:rPr kumimoji="1" lang="zh-CN" altLang="en-US" smtClean="0"/>
              <a:t>‹#›</a:t>
            </a:fld>
            <a:endParaRPr kumimoji="1" lang="zh-CN" altLang="en-US"/>
          </a:p>
        </p:txBody>
      </p:sp>
    </p:spTree>
    <p:extLst>
      <p:ext uri="{BB962C8B-B14F-4D97-AF65-F5344CB8AC3E}">
        <p14:creationId xmlns:p14="http://schemas.microsoft.com/office/powerpoint/2010/main" val="49503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A4838-E8C2-190A-87CC-9177A0B2219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75026E4-5A15-18FE-AAE4-CEFD37505272}"/>
              </a:ext>
            </a:extLst>
          </p:cNvPr>
          <p:cNvSpPr>
            <a:spLocks noGrp="1"/>
          </p:cNvSpPr>
          <p:nvPr>
            <p:ph type="dt" sz="half" idx="10"/>
          </p:nvPr>
        </p:nvSpPr>
        <p:spPr/>
        <p:txBody>
          <a:bodyPr/>
          <a:lstStyle/>
          <a:p>
            <a:fld id="{BDC48963-C8E2-1E4C-A771-F62A9F2C7DEC}" type="datetimeFigureOut">
              <a:rPr kumimoji="1" lang="zh-CN" altLang="en-US" smtClean="0"/>
              <a:t>2025/11/7</a:t>
            </a:fld>
            <a:endParaRPr kumimoji="1" lang="zh-CN" altLang="en-US"/>
          </a:p>
        </p:txBody>
      </p:sp>
      <p:sp>
        <p:nvSpPr>
          <p:cNvPr id="4" name="页脚占位符 3">
            <a:extLst>
              <a:ext uri="{FF2B5EF4-FFF2-40B4-BE49-F238E27FC236}">
                <a16:creationId xmlns:a16="http://schemas.microsoft.com/office/drawing/2014/main" id="{84FEE4AF-F4AD-84CD-3438-6164F69A909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7D7ACDC-1E95-1714-FFE9-B883DEC1EA65}"/>
              </a:ext>
            </a:extLst>
          </p:cNvPr>
          <p:cNvSpPr>
            <a:spLocks noGrp="1"/>
          </p:cNvSpPr>
          <p:nvPr>
            <p:ph type="sldNum" sz="quarter" idx="12"/>
          </p:nvPr>
        </p:nvSpPr>
        <p:spPr/>
        <p:txBody>
          <a:bodyPr/>
          <a:lstStyle/>
          <a:p>
            <a:fld id="{14F1114B-15D0-654E-97CA-9E77F051A874}" type="slidenum">
              <a:rPr kumimoji="1" lang="zh-CN" altLang="en-US" smtClean="0"/>
              <a:t>‹#›</a:t>
            </a:fld>
            <a:endParaRPr kumimoji="1" lang="zh-CN" altLang="en-US"/>
          </a:p>
        </p:txBody>
      </p:sp>
    </p:spTree>
    <p:extLst>
      <p:ext uri="{BB962C8B-B14F-4D97-AF65-F5344CB8AC3E}">
        <p14:creationId xmlns:p14="http://schemas.microsoft.com/office/powerpoint/2010/main" val="15221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D0D816-4865-7C00-9B4C-F9B2941178B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A618815-111B-CBE3-7851-C33B9B6C0A63}"/>
              </a:ext>
            </a:extLst>
          </p:cNvPr>
          <p:cNvSpPr>
            <a:spLocks noGrp="1"/>
          </p:cNvSpPr>
          <p:nvPr>
            <p:ph type="dt" sz="half" idx="10"/>
          </p:nvPr>
        </p:nvSpPr>
        <p:spPr/>
        <p:txBody>
          <a:bodyPr/>
          <a:lstStyle/>
          <a:p>
            <a:fld id="{BDC48963-C8E2-1E4C-A771-F62A9F2C7DEC}" type="datetimeFigureOut">
              <a:rPr kumimoji="1" lang="zh-CN" altLang="en-US" smtClean="0"/>
              <a:t>2025/11/7</a:t>
            </a:fld>
            <a:endParaRPr kumimoji="1" lang="zh-CN" altLang="en-US"/>
          </a:p>
        </p:txBody>
      </p:sp>
      <p:sp>
        <p:nvSpPr>
          <p:cNvPr id="4" name="页脚占位符 3">
            <a:extLst>
              <a:ext uri="{FF2B5EF4-FFF2-40B4-BE49-F238E27FC236}">
                <a16:creationId xmlns:a16="http://schemas.microsoft.com/office/drawing/2014/main" id="{7CFE8EA1-1B28-5960-126F-2B20B73D43E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25B3218-8B88-7E99-C073-F26D45F1D0C8}"/>
              </a:ext>
            </a:extLst>
          </p:cNvPr>
          <p:cNvSpPr>
            <a:spLocks noGrp="1"/>
          </p:cNvSpPr>
          <p:nvPr>
            <p:ph type="sldNum" sz="quarter" idx="12"/>
          </p:nvPr>
        </p:nvSpPr>
        <p:spPr/>
        <p:txBody>
          <a:bodyPr/>
          <a:lstStyle/>
          <a:p>
            <a:fld id="{14F1114B-15D0-654E-97CA-9E77F051A874}" type="slidenum">
              <a:rPr kumimoji="1" lang="zh-CN" altLang="en-US" smtClean="0"/>
              <a:t>‹#›</a:t>
            </a:fld>
            <a:endParaRPr kumimoji="1" lang="zh-CN" altLang="en-US"/>
          </a:p>
        </p:txBody>
      </p:sp>
    </p:spTree>
    <p:extLst>
      <p:ext uri="{BB962C8B-B14F-4D97-AF65-F5344CB8AC3E}">
        <p14:creationId xmlns:p14="http://schemas.microsoft.com/office/powerpoint/2010/main" val="351729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1992E3-9C75-8348-4F6D-AA54EE84C1C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C71ADD-3048-B3C8-E858-F53D2388B55D}"/>
              </a:ext>
            </a:extLst>
          </p:cNvPr>
          <p:cNvSpPr>
            <a:spLocks noGrp="1"/>
          </p:cNvSpPr>
          <p:nvPr>
            <p:ph type="dt" sz="half" idx="10"/>
          </p:nvPr>
        </p:nvSpPr>
        <p:spPr/>
        <p:txBody>
          <a:bodyPr/>
          <a:lstStyle/>
          <a:p>
            <a:fld id="{BDC48963-C8E2-1E4C-A771-F62A9F2C7DEC}" type="datetimeFigureOut">
              <a:rPr kumimoji="1" lang="zh-CN" altLang="en-US" smtClean="0"/>
              <a:t>2025/11/7</a:t>
            </a:fld>
            <a:endParaRPr kumimoji="1" lang="zh-CN" altLang="en-US"/>
          </a:p>
        </p:txBody>
      </p:sp>
      <p:sp>
        <p:nvSpPr>
          <p:cNvPr id="4" name="页脚占位符 3">
            <a:extLst>
              <a:ext uri="{FF2B5EF4-FFF2-40B4-BE49-F238E27FC236}">
                <a16:creationId xmlns:a16="http://schemas.microsoft.com/office/drawing/2014/main" id="{BF67AEA5-CD00-D0C1-9F19-9311C7681E8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3A8E2BB-CE6E-A03E-1B1A-0761E032234C}"/>
              </a:ext>
            </a:extLst>
          </p:cNvPr>
          <p:cNvSpPr>
            <a:spLocks noGrp="1"/>
          </p:cNvSpPr>
          <p:nvPr>
            <p:ph type="sldNum" sz="quarter" idx="12"/>
          </p:nvPr>
        </p:nvSpPr>
        <p:spPr/>
        <p:txBody>
          <a:bodyPr/>
          <a:lstStyle/>
          <a:p>
            <a:fld id="{14F1114B-15D0-654E-97CA-9E77F051A874}" type="slidenum">
              <a:rPr kumimoji="1" lang="zh-CN" altLang="en-US" smtClean="0"/>
              <a:t>‹#›</a:t>
            </a:fld>
            <a:endParaRPr kumimoji="1" lang="zh-CN" altLang="en-US"/>
          </a:p>
        </p:txBody>
      </p:sp>
    </p:spTree>
    <p:extLst>
      <p:ext uri="{BB962C8B-B14F-4D97-AF65-F5344CB8AC3E}">
        <p14:creationId xmlns:p14="http://schemas.microsoft.com/office/powerpoint/2010/main" val="2733400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l="-8000" r="-8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79C2722-3B8C-2065-5AC5-263CFE98FE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57A3692-2AD9-CE6F-D53F-7845B9B389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B51CEA3-90BC-60A3-2BF0-EFFB67E7C6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C48963-C8E2-1E4C-A771-F62A9F2C7DEC}" type="datetimeFigureOut">
              <a:rPr kumimoji="1" lang="zh-CN" altLang="en-US" smtClean="0"/>
              <a:t>2025/11/7</a:t>
            </a:fld>
            <a:endParaRPr kumimoji="1" lang="zh-CN" altLang="en-US"/>
          </a:p>
        </p:txBody>
      </p:sp>
      <p:sp>
        <p:nvSpPr>
          <p:cNvPr id="5" name="页脚占位符 4">
            <a:extLst>
              <a:ext uri="{FF2B5EF4-FFF2-40B4-BE49-F238E27FC236}">
                <a16:creationId xmlns:a16="http://schemas.microsoft.com/office/drawing/2014/main" id="{CA196AE0-833D-16AA-C61D-4401D75F89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3FBC43C-0D70-FA29-5981-9056C96452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F1114B-15D0-654E-97CA-9E77F051A874}" type="slidenum">
              <a:rPr kumimoji="1" lang="zh-CN" altLang="en-US" smtClean="0"/>
              <a:t>‹#›</a:t>
            </a:fld>
            <a:endParaRPr kumimoji="1" lang="zh-CN" altLang="en-US"/>
          </a:p>
        </p:txBody>
      </p:sp>
      <p:pic>
        <p:nvPicPr>
          <p:cNvPr id="8" name="图片 7" descr="徽标&#10;&#10;AI 生成的内容可能不正确。">
            <a:extLst>
              <a:ext uri="{FF2B5EF4-FFF2-40B4-BE49-F238E27FC236}">
                <a16:creationId xmlns:a16="http://schemas.microsoft.com/office/drawing/2014/main" id="{F7D9E23E-10F8-2535-B9AD-38691B5ECE4D}"/>
              </a:ext>
            </a:extLst>
          </p:cNvPr>
          <p:cNvPicPr>
            <a:picLocks noChangeAspect="1"/>
          </p:cNvPicPr>
          <p:nvPr userDrawn="1"/>
        </p:nvPicPr>
        <p:blipFill>
          <a:blip r:embed="rId8"/>
          <a:stretch>
            <a:fillRect/>
          </a:stretch>
        </p:blipFill>
        <p:spPr>
          <a:xfrm>
            <a:off x="9614325" y="-1"/>
            <a:ext cx="2577676" cy="1152395"/>
          </a:xfrm>
          <a:prstGeom prst="rect">
            <a:avLst/>
          </a:prstGeom>
        </p:spPr>
      </p:pic>
    </p:spTree>
    <p:extLst>
      <p:ext uri="{BB962C8B-B14F-4D97-AF65-F5344CB8AC3E}">
        <p14:creationId xmlns:p14="http://schemas.microsoft.com/office/powerpoint/2010/main" val="3258487986"/>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6" r:id="rId3"/>
    <p:sldLayoutId id="2147483657" r:id="rId4"/>
    <p:sldLayoutId id="214748365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8000" r="-8000"/>
          </a:stretch>
        </a:blipFill>
        <a:effectLst/>
      </p:bgPr>
    </p:bg>
    <p:spTree>
      <p:nvGrpSpPr>
        <p:cNvPr id="1" name=""/>
        <p:cNvGrpSpPr/>
        <p:nvPr/>
      </p:nvGrpSpPr>
      <p:grpSpPr>
        <a:xfrm>
          <a:off x="0" y="0"/>
          <a:ext cx="0" cy="0"/>
          <a:chOff x="0" y="0"/>
          <a:chExt cx="0" cy="0"/>
        </a:xfrm>
      </p:grpSpPr>
      <p:sp>
        <p:nvSpPr>
          <p:cNvPr id="2" name="TextBox 2"/>
          <p:cNvSpPr txBox="1"/>
          <p:nvPr/>
        </p:nvSpPr>
        <p:spPr>
          <a:xfrm>
            <a:off x="579943" y="876300"/>
            <a:ext cx="10405184" cy="1124731"/>
          </a:xfrm>
          <a:prstGeom prst="rect">
            <a:avLst/>
          </a:prstGeom>
          <a:ln/>
        </p:spPr>
        <p:txBody>
          <a:bodyPr vert="horz" wrap="square" lIns="123825" tIns="123825" rIns="57150" bIns="123825" rtlCol="0" anchor="t" anchorCtr="0">
            <a:spAutoFit/>
          </a:bodyPr>
          <a:lstStyle/>
          <a:p>
            <a:pPr>
              <a:lnSpc>
                <a:spcPct val="120000"/>
              </a:lnSpc>
            </a:pPr>
            <a:endParaRPr lang="en-US" sz="5175" b="1" dirty="0">
              <a:latin typeface="Microsoft Yahei"/>
              <a:ea typeface="Microsoft Yahei"/>
              <a:cs typeface="Microsoft Yahei"/>
            </a:endParaRPr>
          </a:p>
        </p:txBody>
        <p:extLst mod="1">
          <p:ext uri="http://schemas.baidu.com/office/drawing/2023/templateData">
            <bd:templateData xmlns="" xmlns:bd="http://schemas.baidu.com/office/drawing/2023/templateData">eyJfdGVtcGxhdGVEYXRhIjp7ImNvbnRlbnRUeXBlIjoiJHRpdGxlIiwibGluZUNvdW50IjoiMiIsIndvcmRDb3VudCI6IjExIn0sInRhZyI6IiR0aXRsZSJ9</bd:templateData>
          </p:ext>
        </p:extLst>
      </p:sp>
      <p:sp>
        <p:nvSpPr>
          <p:cNvPr id="3" name="TextBox 3"/>
          <p:cNvSpPr txBox="1"/>
          <p:nvPr/>
        </p:nvSpPr>
        <p:spPr>
          <a:xfrm>
            <a:off x="579943" y="4254564"/>
            <a:ext cx="7962900" cy="592342"/>
          </a:xfrm>
          <a:prstGeom prst="rect">
            <a:avLst/>
          </a:prstGeom>
          <a:ln/>
        </p:spPr>
        <p:txBody>
          <a:bodyPr vert="horz" wrap="square" lIns="123825" tIns="123825" rIns="57150" bIns="123825" rtlCol="0" anchor="t" anchorCtr="0">
            <a:spAutoFit/>
          </a:bodyPr>
          <a:lstStyle/>
          <a:p>
            <a:pPr>
              <a:lnSpc>
                <a:spcPct val="120000"/>
              </a:lnSpc>
              <a:spcBef>
                <a:spcPts val="450"/>
              </a:spcBef>
            </a:pPr>
            <a:r>
              <a:rPr lang="en-US" sz="2025" dirty="0" err="1">
                <a:latin typeface="Microsoft Yahei"/>
                <a:ea typeface="Microsoft Yahei"/>
                <a:cs typeface="Microsoft Yahei"/>
              </a:rPr>
              <a:t>汇报人</a:t>
            </a:r>
            <a:r>
              <a:rPr lang="en-US" sz="2025" dirty="0">
                <a:latin typeface="Microsoft Yahei"/>
                <a:ea typeface="Microsoft Yahei"/>
                <a:cs typeface="Microsoft Yahei"/>
              </a:rPr>
              <a:t>：</a:t>
            </a:r>
            <a:r>
              <a:rPr lang="zh-CN" altLang="en-US" sz="2025" dirty="0">
                <a:latin typeface="Microsoft Yahei"/>
                <a:ea typeface="Microsoft Yahei"/>
                <a:cs typeface="Microsoft Yahei"/>
              </a:rPr>
              <a:t>杨奕凡</a:t>
            </a:r>
            <a:endParaRPr lang="en-US" altLang="zh-CN" sz="2025" dirty="0">
              <a:latin typeface="Microsoft Yahei"/>
              <a:ea typeface="Microsoft Yahei"/>
              <a:cs typeface="Microsoft Yahei"/>
            </a:endParaRPr>
          </a:p>
        </p:txBody>
        <p:extLst mod="1">
          <p:ext uri="http://schemas.baidu.com/office/drawing/2023/templateData">
            <bd:templateData xmlns="" xmlns:bd="http://schemas.baidu.com/office/drawing/2023/templateData">eyJ0YWciOiJub0VkaXQifQ==</bd:templateData>
          </p:ext>
        </p:extLst>
      </p:sp>
      <p:sp>
        <p:nvSpPr>
          <p:cNvPr id="4" name="TextBox 4"/>
          <p:cNvSpPr txBox="1"/>
          <p:nvPr/>
        </p:nvSpPr>
        <p:spPr>
          <a:xfrm>
            <a:off x="579943" y="4863190"/>
            <a:ext cx="7315200" cy="592342"/>
          </a:xfrm>
          <a:prstGeom prst="rect">
            <a:avLst/>
          </a:prstGeom>
          <a:ln/>
        </p:spPr>
        <p:txBody>
          <a:bodyPr vert="horz" wrap="square" lIns="123825" tIns="123825" rIns="57150" bIns="123825" rtlCol="0" anchor="t" anchorCtr="0">
            <a:spAutoFit/>
          </a:bodyPr>
          <a:lstStyle/>
          <a:p>
            <a:pPr>
              <a:lnSpc>
                <a:spcPct val="120000"/>
              </a:lnSpc>
              <a:spcBef>
                <a:spcPts val="450"/>
              </a:spcBef>
            </a:pPr>
            <a:r>
              <a:rPr lang="en-US" sz="2025" dirty="0">
                <a:latin typeface="Microsoft Yahei"/>
                <a:ea typeface="Microsoft Yahei"/>
                <a:cs typeface="Microsoft Yahei"/>
              </a:rPr>
              <a:t>2025-11</a:t>
            </a:r>
          </a:p>
        </p:txBody>
        <p:extLst mod="1">
          <p:ext uri="http://schemas.baidu.com/office/drawing/2023/templateData">
            <bd:templateData xmlns="" xmlns:bd="http://schemas.baidu.com/office/drawing/2023/templateData">eyJfdGVtcGxhdGVEYXRhIjp7ImNvbnRlbnRUeXBlIjoiJERhdGUiLCJsaW5lQ291bnQiOiIxIiwid29yZENvdW50IjoiMjYifSwidGFnIjoibm9FZGl0In0=</bd:templateData>
          </p:ext>
        </p:extLst>
      </p:sp>
      <p:sp>
        <p:nvSpPr>
          <p:cNvPr id="6" name="矩形 5">
            <a:extLst>
              <a:ext uri="{FF2B5EF4-FFF2-40B4-BE49-F238E27FC236}">
                <a16:creationId xmlns:a16="http://schemas.microsoft.com/office/drawing/2014/main" id="{88D957EB-4473-7F71-A2A9-0E4F05563EB7}"/>
              </a:ext>
            </a:extLst>
          </p:cNvPr>
          <p:cNvSpPr/>
          <p:nvPr/>
        </p:nvSpPr>
        <p:spPr>
          <a:xfrm>
            <a:off x="350084" y="1247874"/>
            <a:ext cx="7774917" cy="769441"/>
          </a:xfrm>
          <a:prstGeom prst="rect">
            <a:avLst/>
          </a:prstGeom>
          <a:noFill/>
          <a:effectLst>
            <a:outerShdw blurRad="50800" dist="38100" dir="2700000" algn="tl" rotWithShape="0">
              <a:prstClr val="black">
                <a:alpha val="40000"/>
              </a:prstClr>
            </a:outerShdw>
          </a:effectLst>
        </p:spPr>
        <p:txBody>
          <a:bodyPr wrap="square" lIns="91440" tIns="45720" rIns="91440" bIns="45720">
            <a:spAutoFit/>
          </a:bodyPr>
          <a:lstStyle/>
          <a:p>
            <a:pPr algn="ctr"/>
            <a:r>
              <a:rPr lang="zh-CN" altLang="en-US" sz="4400" b="1" dirty="0"/>
              <a:t>践行获取分享，共创数界价值</a:t>
            </a:r>
            <a:endParaRPr lang="zh-CN" altLang="en-US" sz="11500" b="0" cap="none" spc="0" dirty="0">
              <a:ln w="0"/>
              <a:solidFill>
                <a:schemeClr val="tx1"/>
              </a:solidFill>
              <a:effectLst>
                <a:outerShdw blurRad="38100" dist="19050" dir="2700000" algn="tl" rotWithShape="0">
                  <a:schemeClr val="dk1">
                    <a:alpha val="40000"/>
                  </a:schemeClr>
                </a:outerShdw>
              </a:effectLst>
            </a:endParaRPr>
          </a:p>
        </p:txBody>
      </p:sp>
      <p:sp>
        <p:nvSpPr>
          <p:cNvPr id="7" name="矩形 6">
            <a:extLst>
              <a:ext uri="{FF2B5EF4-FFF2-40B4-BE49-F238E27FC236}">
                <a16:creationId xmlns:a16="http://schemas.microsoft.com/office/drawing/2014/main" id="{4AAE67BE-DE4A-7FB3-3D33-5A2A4FC9BF9E}"/>
              </a:ext>
            </a:extLst>
          </p:cNvPr>
          <p:cNvSpPr/>
          <p:nvPr/>
        </p:nvSpPr>
        <p:spPr>
          <a:xfrm>
            <a:off x="477067" y="2141772"/>
            <a:ext cx="2970686" cy="461665"/>
          </a:xfrm>
          <a:prstGeom prst="rect">
            <a:avLst/>
          </a:prstGeom>
          <a:noFill/>
        </p:spPr>
        <p:txBody>
          <a:bodyPr wrap="none" lIns="91440" tIns="45720" rIns="91440" bIns="45720">
            <a:spAutoFit/>
          </a:bodyPr>
          <a:lstStyle/>
          <a:p>
            <a:pPr algn="ctr"/>
            <a:r>
              <a:rPr lang="zh-CN" altLang="en-US" sz="2400" dirty="0"/>
              <a:t>我的</a:t>
            </a:r>
            <a:r>
              <a:rPr lang="en-US" altLang="zh-CN" sz="2400" dirty="0"/>
              <a:t>90</a:t>
            </a:r>
            <a:r>
              <a:rPr lang="zh-CN" altLang="en-US" sz="2400" dirty="0"/>
              <a:t>天成长与展望</a:t>
            </a:r>
            <a:endParaRPr lang="zh-CN" altLang="en-US" sz="66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extLst mod="1">
    <p:ext uri="http://schemas.baidu.com/office/drawing/2023/templateData">
      <bd:templateData xmlns="" xmlns:bd="http://schemas.baidu.com/office/drawing/2023/templateData">eyJtZCI6IuaVsOeVjOenkeaKgOWuouaIt+aIkOWKn+e7j+WOhui9rOato+aKpeWRiiIsInRwbGlkIjoiMTAwMDAiLCJ0cGxOYW1lIjoidGl0bGVfY3VzdG9tIiwiZWRpdGVkIjoidHJ1ZSJ9</bd:templateData>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6D35D741-C50B-6B00-256A-1818E8E6333A}"/>
              </a:ext>
            </a:extLst>
          </p:cNvPr>
          <p:cNvSpPr/>
          <p:nvPr/>
        </p:nvSpPr>
        <p:spPr>
          <a:xfrm>
            <a:off x="0" y="0"/>
            <a:ext cx="4383023" cy="5648960"/>
          </a:xfrm>
          <a:prstGeom prst="rect">
            <a:avLst/>
          </a:prstGeom>
          <a:solidFill>
            <a:srgbClr val="373C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p:txBody>
      </p:sp>
      <p:pic>
        <p:nvPicPr>
          <p:cNvPr id="3" name="图形 15">
            <a:extLst>
              <a:ext uri="{FF2B5EF4-FFF2-40B4-BE49-F238E27FC236}">
                <a16:creationId xmlns:a16="http://schemas.microsoft.com/office/drawing/2014/main" id="{FB9F851B-9838-5D08-4F25-4E8C828C5B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7359650" cy="6858000"/>
          </a:xfrm>
          <a:prstGeom prst="rect">
            <a:avLst/>
          </a:prstGeom>
        </p:spPr>
      </p:pic>
      <p:sp>
        <p:nvSpPr>
          <p:cNvPr id="20" name="文本框 19">
            <a:extLst>
              <a:ext uri="{FF2B5EF4-FFF2-40B4-BE49-F238E27FC236}">
                <a16:creationId xmlns:a16="http://schemas.microsoft.com/office/drawing/2014/main" id="{FA643135-C6ED-73CB-B19C-0CA51E77E5E3}"/>
              </a:ext>
            </a:extLst>
          </p:cNvPr>
          <p:cNvSpPr txBox="1"/>
          <p:nvPr/>
        </p:nvSpPr>
        <p:spPr>
          <a:xfrm rot="5400000">
            <a:off x="-337798" y="1815754"/>
            <a:ext cx="290688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373C53">
                    <a:lumMod val="60000"/>
                    <a:lumOff val="40000"/>
                    <a:alpha val="30000"/>
                  </a:srgbClr>
                </a:solidFill>
                <a:effectLst/>
                <a:uLnTx/>
                <a:uFillTx/>
                <a:latin typeface="微软雅黑" panose="020B0503020204020204" pitchFamily="34" charset="-122"/>
                <a:ea typeface="微软雅黑" panose="020B0503020204020204" pitchFamily="34" charset="-122"/>
                <a:cs typeface="+mn-cs"/>
              </a:rPr>
              <a:t> CONTENTS</a:t>
            </a:r>
            <a:endParaRPr kumimoji="0" lang="zh-CN" altLang="en-US" sz="3600" b="1" i="0" u="none" strike="noStrike" kern="1200" cap="none" spc="0" normalizeH="0" baseline="0" noProof="0" dirty="0">
              <a:ln>
                <a:noFill/>
              </a:ln>
              <a:solidFill>
                <a:srgbClr val="373C53">
                  <a:lumMod val="60000"/>
                  <a:lumOff val="40000"/>
                  <a:alpha val="30000"/>
                </a:srgbClr>
              </a:solidFill>
              <a:effectLst/>
              <a:uLnTx/>
              <a:uFillTx/>
              <a:latin typeface="微软雅黑" panose="020B0503020204020204" pitchFamily="34" charset="-122"/>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375829AC-CB98-A196-BF4D-54401422715B}"/>
              </a:ext>
            </a:extLst>
          </p:cNvPr>
          <p:cNvSpPr txBox="1"/>
          <p:nvPr/>
        </p:nvSpPr>
        <p:spPr>
          <a:xfrm>
            <a:off x="1109043" y="825409"/>
            <a:ext cx="646331"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373C53">
                    <a:lumMod val="20000"/>
                    <a:lumOff val="80000"/>
                  </a:srgbClr>
                </a:solidFill>
                <a:effectLst/>
                <a:uLnTx/>
                <a:uFillTx/>
                <a:latin typeface="微软雅黑 Light" panose="020B0502040204020203" pitchFamily="34" charset="-122"/>
                <a:ea typeface="微软雅黑 Light" panose="020B0502040204020203" pitchFamily="34" charset="-122"/>
                <a:cs typeface="+mn-cs"/>
              </a:rPr>
              <a:t>目</a:t>
            </a:r>
            <a:endParaRPr kumimoji="0" lang="en-US" altLang="zh-CN" sz="3600" b="0" i="0" u="none" strike="noStrike" kern="1200" cap="none" spc="0" normalizeH="0" baseline="0" noProof="0" dirty="0">
              <a:ln>
                <a:noFill/>
              </a:ln>
              <a:solidFill>
                <a:srgbClr val="373C53">
                  <a:lumMod val="20000"/>
                  <a:lumOff val="80000"/>
                </a:srgbClr>
              </a:solidFill>
              <a:effectLst/>
              <a:uLnTx/>
              <a:uFillTx/>
              <a:latin typeface="微软雅黑 Light" panose="020B0502040204020203" pitchFamily="34" charset="-122"/>
              <a:ea typeface="微软雅黑 Light" panose="020B0502040204020203"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373C53">
                    <a:lumMod val="20000"/>
                    <a:lumOff val="80000"/>
                  </a:srgbClr>
                </a:solidFill>
                <a:effectLst/>
                <a:uLnTx/>
                <a:uFillTx/>
                <a:latin typeface="微软雅黑 Light" panose="020B0502040204020203" pitchFamily="34" charset="-122"/>
                <a:ea typeface="微软雅黑 Light" panose="020B0502040204020203" pitchFamily="34" charset="-122"/>
                <a:cs typeface="+mn-cs"/>
              </a:rPr>
              <a:t>录</a:t>
            </a:r>
          </a:p>
        </p:txBody>
      </p:sp>
      <p:sp>
        <p:nvSpPr>
          <p:cNvPr id="29" name="图形 3">
            <a:extLst>
              <a:ext uri="{FF2B5EF4-FFF2-40B4-BE49-F238E27FC236}">
                <a16:creationId xmlns:a16="http://schemas.microsoft.com/office/drawing/2014/main" id="{4D74DB2A-E7D0-92AD-45DD-01E743D2D8BC}"/>
              </a:ext>
            </a:extLst>
          </p:cNvPr>
          <p:cNvSpPr/>
          <p:nvPr/>
        </p:nvSpPr>
        <p:spPr>
          <a:xfrm>
            <a:off x="5093722" y="2220807"/>
            <a:ext cx="5430513" cy="737052"/>
          </a:xfrm>
          <a:prstGeom prst="roundRect">
            <a:avLst>
              <a:gd name="adj" fmla="val 50000"/>
            </a:avLst>
          </a:prstGeom>
          <a:solidFill>
            <a:srgbClr val="327DF9"/>
          </a:solidFill>
          <a:ln w="661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微软雅黑"/>
              <a:ea typeface="微软雅黑"/>
              <a:cs typeface="+mn-cs"/>
            </a:endParaRPr>
          </a:p>
        </p:txBody>
      </p:sp>
      <p:sp>
        <p:nvSpPr>
          <p:cNvPr id="30" name="图形 10">
            <a:extLst>
              <a:ext uri="{FF2B5EF4-FFF2-40B4-BE49-F238E27FC236}">
                <a16:creationId xmlns:a16="http://schemas.microsoft.com/office/drawing/2014/main" id="{F66D0A21-8444-C17C-4670-E9821180F0D7}"/>
              </a:ext>
            </a:extLst>
          </p:cNvPr>
          <p:cNvSpPr/>
          <p:nvPr/>
        </p:nvSpPr>
        <p:spPr>
          <a:xfrm>
            <a:off x="5093722" y="3150542"/>
            <a:ext cx="5430513" cy="737052"/>
          </a:xfrm>
          <a:prstGeom prst="roundRect">
            <a:avLst>
              <a:gd name="adj" fmla="val 50000"/>
            </a:avLst>
          </a:prstGeom>
          <a:solidFill>
            <a:srgbClr val="7CC536"/>
          </a:solidFill>
          <a:ln w="661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微软雅黑"/>
              <a:ea typeface="微软雅黑"/>
              <a:cs typeface="+mn-cs"/>
            </a:endParaRPr>
          </a:p>
        </p:txBody>
      </p:sp>
      <p:sp>
        <p:nvSpPr>
          <p:cNvPr id="31" name="图形 13">
            <a:extLst>
              <a:ext uri="{FF2B5EF4-FFF2-40B4-BE49-F238E27FC236}">
                <a16:creationId xmlns:a16="http://schemas.microsoft.com/office/drawing/2014/main" id="{1CDA4705-77E3-26BB-4824-EFA41FDA9E71}"/>
              </a:ext>
            </a:extLst>
          </p:cNvPr>
          <p:cNvSpPr/>
          <p:nvPr/>
        </p:nvSpPr>
        <p:spPr>
          <a:xfrm>
            <a:off x="5093722" y="4080277"/>
            <a:ext cx="5430513" cy="737052"/>
          </a:xfrm>
          <a:prstGeom prst="roundRect">
            <a:avLst>
              <a:gd name="adj" fmla="val 50000"/>
            </a:avLst>
          </a:prstGeom>
          <a:solidFill>
            <a:srgbClr val="FFA437"/>
          </a:solidFill>
          <a:ln w="661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微软雅黑"/>
              <a:ea typeface="微软雅黑"/>
              <a:cs typeface="+mn-cs"/>
            </a:endParaRPr>
          </a:p>
        </p:txBody>
      </p:sp>
      <p:sp>
        <p:nvSpPr>
          <p:cNvPr id="32" name="文本框 31">
            <a:extLst>
              <a:ext uri="{FF2B5EF4-FFF2-40B4-BE49-F238E27FC236}">
                <a16:creationId xmlns:a16="http://schemas.microsoft.com/office/drawing/2014/main" id="{D7A87A22-4A10-A7F0-8003-AD745F6C4F0D}"/>
              </a:ext>
            </a:extLst>
          </p:cNvPr>
          <p:cNvSpPr txBox="1"/>
          <p:nvPr/>
        </p:nvSpPr>
        <p:spPr>
          <a:xfrm>
            <a:off x="5269086" y="2389198"/>
            <a:ext cx="5400178" cy="461665"/>
          </a:xfrm>
          <a:prstGeom prst="rect">
            <a:avLst/>
          </a:prstGeom>
          <a:noFill/>
        </p:spPr>
        <p:txBody>
          <a:bodyPr wrap="square" rtlCol="0">
            <a:spAutoFit/>
          </a:bodyPr>
          <a:lstStyle/>
          <a:p>
            <a:r>
              <a:rPr lang="en-US" altLang="zh-CN" sz="2400" b="1" dirty="0" err="1">
                <a:solidFill>
                  <a:schemeClr val="bg2"/>
                </a:solidFill>
                <a:latin typeface="Microsoft Yahei"/>
                <a:ea typeface="Microsoft Yahei"/>
                <a:cs typeface="Microsoft Yahei"/>
              </a:rPr>
              <a:t>学习与融入</a:t>
            </a:r>
            <a:r>
              <a:rPr lang="en-US" altLang="zh-CN" sz="2400" b="1" dirty="0">
                <a:solidFill>
                  <a:schemeClr val="bg2"/>
                </a:solidFill>
                <a:latin typeface="Microsoft Yahei"/>
                <a:ea typeface="Microsoft Yahei"/>
                <a:cs typeface="Microsoft Yahei"/>
              </a:rPr>
              <a:t>——</a:t>
            </a:r>
            <a:r>
              <a:rPr lang="en-US" altLang="zh-CN" sz="2400" b="1" dirty="0" err="1">
                <a:solidFill>
                  <a:schemeClr val="bg2"/>
                </a:solidFill>
                <a:latin typeface="Microsoft Yahei"/>
                <a:ea typeface="Microsoft Yahei"/>
                <a:cs typeface="Microsoft Yahei"/>
              </a:rPr>
              <a:t>夯实基础，快速成长</a:t>
            </a:r>
            <a:endParaRPr lang="zh-CN" altLang="en-US" sz="2400" dirty="0">
              <a:solidFill>
                <a:schemeClr val="bg2"/>
              </a:solidFill>
            </a:endParaRPr>
          </a:p>
        </p:txBody>
      </p:sp>
      <p:sp>
        <p:nvSpPr>
          <p:cNvPr id="34" name="文本框 33">
            <a:extLst>
              <a:ext uri="{FF2B5EF4-FFF2-40B4-BE49-F238E27FC236}">
                <a16:creationId xmlns:a16="http://schemas.microsoft.com/office/drawing/2014/main" id="{D55C91AA-FB45-969E-FB87-D383AB7EA243}"/>
              </a:ext>
            </a:extLst>
          </p:cNvPr>
          <p:cNvSpPr txBox="1"/>
          <p:nvPr/>
        </p:nvSpPr>
        <p:spPr>
          <a:xfrm>
            <a:off x="5269086" y="4217970"/>
            <a:ext cx="5194990" cy="461665"/>
          </a:xfrm>
          <a:prstGeom prst="rect">
            <a:avLst/>
          </a:prstGeom>
          <a:noFill/>
        </p:spPr>
        <p:txBody>
          <a:bodyPr wrap="square" rtlCol="0">
            <a:spAutoFit/>
          </a:bodyPr>
          <a:lstStyle/>
          <a:p>
            <a:r>
              <a:rPr lang="en-US" altLang="zh-CN" sz="2400" b="1" dirty="0" err="1">
                <a:solidFill>
                  <a:schemeClr val="bg2"/>
                </a:solidFill>
                <a:latin typeface="Microsoft Yahei"/>
                <a:ea typeface="Microsoft Yahei"/>
                <a:cs typeface="Microsoft Yahei"/>
              </a:rPr>
              <a:t>反思与规划</a:t>
            </a:r>
            <a:r>
              <a:rPr lang="en-US" altLang="zh-CN" sz="2400" b="1" dirty="0">
                <a:solidFill>
                  <a:schemeClr val="bg2"/>
                </a:solidFill>
                <a:latin typeface="Microsoft Yahei"/>
                <a:ea typeface="Microsoft Yahei"/>
                <a:cs typeface="Microsoft Yahei"/>
              </a:rPr>
              <a:t>——</a:t>
            </a:r>
            <a:r>
              <a:rPr lang="en-US" altLang="zh-CN" sz="2400" b="1" dirty="0" err="1">
                <a:solidFill>
                  <a:schemeClr val="bg2"/>
                </a:solidFill>
                <a:latin typeface="Microsoft Yahei"/>
                <a:ea typeface="Microsoft Yahei"/>
                <a:cs typeface="Microsoft Yahei"/>
              </a:rPr>
              <a:t>持续精进，共创未来</a:t>
            </a:r>
            <a:endParaRPr lang="zh-CN" altLang="en-US" sz="2400" dirty="0">
              <a:solidFill>
                <a:schemeClr val="bg2"/>
              </a:solidFill>
            </a:endParaRPr>
          </a:p>
        </p:txBody>
      </p:sp>
      <p:sp>
        <p:nvSpPr>
          <p:cNvPr id="38" name="文本框 37">
            <a:extLst>
              <a:ext uri="{FF2B5EF4-FFF2-40B4-BE49-F238E27FC236}">
                <a16:creationId xmlns:a16="http://schemas.microsoft.com/office/drawing/2014/main" id="{B030A3BF-0D9D-4A5B-F1A0-C840769249F5}"/>
              </a:ext>
            </a:extLst>
          </p:cNvPr>
          <p:cNvSpPr txBox="1"/>
          <p:nvPr/>
        </p:nvSpPr>
        <p:spPr>
          <a:xfrm>
            <a:off x="941033" y="5957214"/>
            <a:ext cx="160366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a:solidFill>
                  <a:srgbClr val="3F3F3F">
                    <a:lumMod val="40000"/>
                    <a:lumOff val="60000"/>
                  </a:srgbClr>
                </a:solidFill>
                <a:latin typeface="微软雅黑" panose="020B0503020204020204" pitchFamily="34" charset="-122"/>
                <a:ea typeface="微软雅黑" panose="020B0503020204020204" pitchFamily="34" charset="-122"/>
              </a:rPr>
              <a:t>予力每个人每个组织</a:t>
            </a:r>
            <a:endParaRPr lang="en-US" altLang="zh-CN" sz="1100" dirty="0">
              <a:solidFill>
                <a:srgbClr val="3F3F3F">
                  <a:lumMod val="40000"/>
                  <a:lumOff val="60000"/>
                </a:srgb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a:solidFill>
                  <a:srgbClr val="3F3F3F">
                    <a:lumMod val="40000"/>
                    <a:lumOff val="60000"/>
                  </a:srgbClr>
                </a:solidFill>
                <a:latin typeface="微软雅黑" panose="020B0503020204020204" pitchFamily="34" charset="-122"/>
                <a:ea typeface="微软雅黑" panose="020B0503020204020204" pitchFamily="34" charset="-122"/>
              </a:rPr>
              <a:t>创造自己的数字世界</a:t>
            </a:r>
            <a:endParaRPr kumimoji="0" lang="zh-CN" altLang="en-US" sz="1100" b="0" i="0" u="none" strike="noStrike" kern="1200" cap="none" spc="0" normalizeH="0" baseline="0" noProof="0" dirty="0">
              <a:ln>
                <a:noFill/>
              </a:ln>
              <a:solidFill>
                <a:srgbClr val="3F3F3F">
                  <a:lumMod val="40000"/>
                  <a:lumOff val="60000"/>
                </a:srgb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6DBA82FC-A43F-BEE3-88B4-FE82CC64EB6B}"/>
              </a:ext>
            </a:extLst>
          </p:cNvPr>
          <p:cNvSpPr txBox="1"/>
          <p:nvPr/>
        </p:nvSpPr>
        <p:spPr>
          <a:xfrm>
            <a:off x="5269086" y="3288235"/>
            <a:ext cx="5194990" cy="461665"/>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tabLst/>
              <a:defRPr/>
            </a:pPr>
            <a:r>
              <a:rPr lang="zh-CN" altLang="en-US" sz="2400" b="1" dirty="0">
                <a:solidFill>
                  <a:schemeClr val="bg2"/>
                </a:solidFill>
                <a:latin typeface="Microsoft Yahei"/>
                <a:ea typeface="Microsoft Yahei"/>
              </a:rPr>
              <a:t>实践与贡献</a:t>
            </a:r>
            <a:r>
              <a:rPr lang="en-US" altLang="zh-CN" sz="2400" b="1" dirty="0">
                <a:solidFill>
                  <a:schemeClr val="bg2"/>
                </a:solidFill>
                <a:latin typeface="Microsoft Yahei"/>
                <a:ea typeface="Microsoft Yahei"/>
              </a:rPr>
              <a:t>——</a:t>
            </a:r>
            <a:r>
              <a:rPr lang="zh-CN" altLang="en-US" sz="2400" b="1" dirty="0">
                <a:solidFill>
                  <a:schemeClr val="bg2"/>
                </a:solidFill>
                <a:latin typeface="Microsoft Yahei"/>
                <a:ea typeface="Microsoft Yahei"/>
              </a:rPr>
              <a:t>履行职责，输出价值</a:t>
            </a:r>
          </a:p>
        </p:txBody>
      </p:sp>
    </p:spTree>
    <p:extLst>
      <p:ext uri="{BB962C8B-B14F-4D97-AF65-F5344CB8AC3E}">
        <p14:creationId xmlns:p14="http://schemas.microsoft.com/office/powerpoint/2010/main" val="164586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4000"/>
          </a:stretch>
        </a:blipFill>
        <a:effectLst/>
      </p:bgPr>
    </p:bg>
    <p:spTree>
      <p:nvGrpSpPr>
        <p:cNvPr id="1" name=""/>
        <p:cNvGrpSpPr/>
        <p:nvPr/>
      </p:nvGrpSpPr>
      <p:grpSpPr>
        <a:xfrm>
          <a:off x="0" y="0"/>
          <a:ext cx="0" cy="0"/>
          <a:chOff x="0" y="0"/>
          <a:chExt cx="0" cy="0"/>
        </a:xfrm>
      </p:grpSpPr>
      <p:sp>
        <p:nvSpPr>
          <p:cNvPr id="2" name="TextBox 2"/>
          <p:cNvSpPr txBox="1"/>
          <p:nvPr/>
        </p:nvSpPr>
        <p:spPr>
          <a:xfrm>
            <a:off x="511937" y="2325785"/>
            <a:ext cx="8124825" cy="1841594"/>
          </a:xfrm>
          <a:prstGeom prst="rect">
            <a:avLst/>
          </a:prstGeom>
          <a:ln/>
        </p:spPr>
        <p:txBody>
          <a:bodyPr vert="horz" wrap="square" lIns="123825" tIns="123825" rIns="57150" bIns="123825" rtlCol="0" anchor="t" anchorCtr="0">
            <a:spAutoFit/>
          </a:bodyPr>
          <a:lstStyle/>
          <a:p>
            <a:pPr>
              <a:lnSpc>
                <a:spcPct val="120000"/>
              </a:lnSpc>
            </a:pPr>
            <a:r>
              <a:rPr lang="en-US" sz="4500" b="1" dirty="0" err="1">
                <a:solidFill>
                  <a:schemeClr val="tx2">
                    <a:lumMod val="10000"/>
                    <a:lumOff val="90000"/>
                  </a:schemeClr>
                </a:solidFill>
                <a:latin typeface="Microsoft Yahei"/>
                <a:ea typeface="Microsoft Yahei"/>
                <a:cs typeface="Microsoft Yahei"/>
              </a:rPr>
              <a:t>学习与融入</a:t>
            </a:r>
            <a:r>
              <a:rPr lang="en-US" sz="4500" b="1" dirty="0">
                <a:solidFill>
                  <a:schemeClr val="tx2">
                    <a:lumMod val="10000"/>
                    <a:lumOff val="90000"/>
                  </a:schemeClr>
                </a:solidFill>
                <a:latin typeface="Microsoft Yahei"/>
                <a:ea typeface="Microsoft Yahei"/>
                <a:cs typeface="Microsoft Yahei"/>
              </a:rPr>
              <a:t>——</a:t>
            </a:r>
            <a:r>
              <a:rPr lang="en-US" sz="4500" b="1" dirty="0" err="1">
                <a:solidFill>
                  <a:schemeClr val="tx2">
                    <a:lumMod val="10000"/>
                    <a:lumOff val="90000"/>
                  </a:schemeClr>
                </a:solidFill>
                <a:latin typeface="Microsoft Yahei"/>
                <a:ea typeface="Microsoft Yahei"/>
                <a:cs typeface="Microsoft Yahei"/>
              </a:rPr>
              <a:t>夯实基础，快速成长</a:t>
            </a:r>
            <a:endParaRPr lang="en-US" sz="4500" b="1" dirty="0">
              <a:solidFill>
                <a:schemeClr val="tx2">
                  <a:lumMod val="10000"/>
                  <a:lumOff val="90000"/>
                </a:schemeClr>
              </a:solidFill>
              <a:latin typeface="Microsoft Yahei"/>
              <a:ea typeface="Microsoft Yahei"/>
              <a:cs typeface="Microsoft Yahei"/>
            </a:endParaRPr>
          </a:p>
        </p:txBody>
        <p:extLst mod="1">
          <p:ext uri="http://schemas.baidu.com/office/drawing/2023/templateData">
            <bd:templateData xmlns="" xmlns:bd="http://schemas.baidu.com/office/drawing/2023/templateData">eyJfdGVtcGxhdGVEYXRhIjp7ImNvbnRlbnRUeXBlIjoiJHRpdGxlIiwibGluZUNvdW50IjoiMiIsIndvcmRDb3VudCI6IjEyIn0sInRhZyI6IiR0aXRsZSJ9</bd:templateData>
          </p:ext>
        </p:extLst>
      </p:sp>
      <p:sp>
        <p:nvSpPr>
          <p:cNvPr id="3" name="TextBox 3"/>
          <p:cNvSpPr txBox="1"/>
          <p:nvPr/>
        </p:nvSpPr>
        <p:spPr>
          <a:xfrm>
            <a:off x="10785490" y="2624328"/>
            <a:ext cx="1693380" cy="1543051"/>
          </a:xfrm>
          <a:prstGeom prst="rect">
            <a:avLst/>
          </a:prstGeom>
          <a:ln/>
        </p:spPr>
        <p:txBody>
          <a:bodyPr vert="horz" wrap="square" lIns="123825" tIns="123825" rIns="57150" bIns="123825" rtlCol="0" anchor="t" anchorCtr="0">
            <a:spAutoFit/>
          </a:bodyPr>
          <a:lstStyle/>
          <a:p>
            <a:pPr>
              <a:lnSpc>
                <a:spcPct val="120000"/>
              </a:lnSpc>
            </a:pPr>
            <a:r>
              <a:rPr lang="en-US" sz="7650" b="1" dirty="0">
                <a:solidFill>
                  <a:schemeClr val="accent1">
                    <a:alpha val="100000"/>
                  </a:schemeClr>
                </a:solidFill>
                <a:latin typeface="Microsoft Yahei"/>
                <a:ea typeface="Microsoft Yahei"/>
                <a:cs typeface="Microsoft Yahei"/>
              </a:rPr>
              <a:t>01</a:t>
            </a:r>
          </a:p>
        </p:txBody>
        <p:extLst mod="1">
          <p:ext uri="http://schemas.baidu.com/office/drawing/2023/templateData">
            <bd:templateData xmlns="" xmlns:bd="http://schemas.baidu.com/office/drawing/2023/templateData">eyJfdGVtcGxhdGVEYXRhIjp7ImNvbnRlbnRUeXBlIjoiJG51bWJlciIsImxpbmVDb3VudCI6IjEiLCJ3b3JkQ291bnQiOiI3In0sInRhZyI6Im5vRWRpdCJ9</bd:templateData>
          </p:ext>
        </p:extLst>
      </p:sp>
    </p:spTree>
  </p:cSld>
  <p:clrMapOvr>
    <a:masterClrMapping/>
  </p:clrMapOvr>
  <p:extLst mod="1">
    <p:ext uri="http://schemas.baidu.com/office/drawing/2023/templateData">
      <bd:templateData xmlns="" xmlns:bd="http://schemas.baidu.com/office/drawing/2023/templateData">eyJtZCI6IiMjIOWtpuS5oOS4juiejeWFpeKAlOKAlOWkr+WunuWfuuehgO+8jOW/q+mAn+aIkOmVvyIsInRwbGlkIjoiMTAwMDAiLCJ0cGxOYW1lIjoiaDJ0aXRsZV9jdXN0b20iLCJlZGl0ZWQiOiJmYWxzZSJ9</bd:templateData>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0200661-0451-925A-AD01-81B529F3EF97}"/>
              </a:ext>
            </a:extLst>
          </p:cNvPr>
          <p:cNvSpPr txBox="1"/>
          <p:nvPr/>
        </p:nvSpPr>
        <p:spPr>
          <a:xfrm>
            <a:off x="1776469" y="2098982"/>
            <a:ext cx="5686817" cy="461665"/>
          </a:xfrm>
          <a:prstGeom prst="rect">
            <a:avLst/>
          </a:prstGeom>
          <a:noFill/>
        </p:spPr>
        <p:txBody>
          <a:bodyPr wrap="square" rtlCol="0">
            <a:spAutoFit/>
          </a:bodyPr>
          <a:lstStyle/>
          <a:p>
            <a:r>
              <a:rPr lang="zh-CN" altLang="en-US" sz="2400" b="1" dirty="0">
                <a:solidFill>
                  <a:schemeClr val="accent3"/>
                </a:solidFill>
                <a:latin typeface="Microsoft Yahei"/>
                <a:ea typeface="Microsoft Yahei"/>
              </a:rPr>
              <a:t>文化融入 </a:t>
            </a:r>
            <a:r>
              <a:rPr lang="en-US" altLang="zh-CN" dirty="0"/>
              <a:t>—— </a:t>
            </a:r>
            <a:r>
              <a:rPr lang="zh-CN" altLang="en-US" dirty="0"/>
              <a:t>认同“获取分享”，践行团队协作</a:t>
            </a:r>
          </a:p>
        </p:txBody>
      </p:sp>
      <p:sp>
        <p:nvSpPr>
          <p:cNvPr id="3" name="文本框 2">
            <a:extLst>
              <a:ext uri="{FF2B5EF4-FFF2-40B4-BE49-F238E27FC236}">
                <a16:creationId xmlns:a16="http://schemas.microsoft.com/office/drawing/2014/main" id="{449465A6-140E-415F-515F-602DAACEBF4E}"/>
              </a:ext>
            </a:extLst>
          </p:cNvPr>
          <p:cNvSpPr txBox="1"/>
          <p:nvPr/>
        </p:nvSpPr>
        <p:spPr>
          <a:xfrm>
            <a:off x="2113460" y="3081843"/>
            <a:ext cx="5686817" cy="461665"/>
          </a:xfrm>
          <a:prstGeom prst="rect">
            <a:avLst/>
          </a:prstGeom>
          <a:noFill/>
        </p:spPr>
        <p:txBody>
          <a:bodyPr wrap="square" rtlCol="0">
            <a:spAutoFit/>
          </a:bodyPr>
          <a:lstStyle/>
          <a:p>
            <a:r>
              <a:rPr lang="zh-CN" altLang="en-US" sz="2400" b="1" dirty="0">
                <a:solidFill>
                  <a:schemeClr val="accent3"/>
                </a:solidFill>
                <a:latin typeface="Microsoft Yahei"/>
                <a:ea typeface="Microsoft Yahei"/>
              </a:rPr>
              <a:t>技能提升 </a:t>
            </a:r>
            <a:r>
              <a:rPr lang="en-US" altLang="zh-CN" dirty="0"/>
              <a:t>—— </a:t>
            </a:r>
            <a:r>
              <a:rPr lang="zh-CN" altLang="en-US" dirty="0"/>
              <a:t>掌握无代码平台，具备高码扩展能力</a:t>
            </a:r>
          </a:p>
        </p:txBody>
      </p:sp>
      <p:sp>
        <p:nvSpPr>
          <p:cNvPr id="4" name="文本框 3">
            <a:extLst>
              <a:ext uri="{FF2B5EF4-FFF2-40B4-BE49-F238E27FC236}">
                <a16:creationId xmlns:a16="http://schemas.microsoft.com/office/drawing/2014/main" id="{5F058D88-FE51-65FE-B8C0-9131F6A974F3}"/>
              </a:ext>
            </a:extLst>
          </p:cNvPr>
          <p:cNvSpPr txBox="1"/>
          <p:nvPr/>
        </p:nvSpPr>
        <p:spPr>
          <a:xfrm>
            <a:off x="2788188" y="4986302"/>
            <a:ext cx="5494751" cy="461665"/>
          </a:xfrm>
          <a:prstGeom prst="rect">
            <a:avLst/>
          </a:prstGeom>
          <a:noFill/>
        </p:spPr>
        <p:txBody>
          <a:bodyPr wrap="square" rtlCol="0">
            <a:spAutoFit/>
          </a:bodyPr>
          <a:lstStyle/>
          <a:p>
            <a:pPr marL="0" lvl="1"/>
            <a:r>
              <a:rPr lang="zh-CN" altLang="en-US" sz="2400" b="1" dirty="0">
                <a:solidFill>
                  <a:schemeClr val="accent3"/>
                </a:solidFill>
                <a:latin typeface="Microsoft Yahei"/>
                <a:ea typeface="Microsoft Yahei"/>
              </a:rPr>
              <a:t>项目实战 </a:t>
            </a:r>
            <a:r>
              <a:rPr lang="en-US" altLang="zh-CN" dirty="0"/>
              <a:t>—— </a:t>
            </a:r>
            <a:r>
              <a:rPr lang="zh-CN" altLang="en-US" dirty="0"/>
              <a:t>在真实项目中验证学习成果</a:t>
            </a:r>
          </a:p>
        </p:txBody>
      </p:sp>
      <p:sp>
        <p:nvSpPr>
          <p:cNvPr id="5" name="文本框 4">
            <a:extLst>
              <a:ext uri="{FF2B5EF4-FFF2-40B4-BE49-F238E27FC236}">
                <a16:creationId xmlns:a16="http://schemas.microsoft.com/office/drawing/2014/main" id="{9B1BC8F3-F7BF-AF97-8864-EA1E864D430A}"/>
              </a:ext>
            </a:extLst>
          </p:cNvPr>
          <p:cNvSpPr txBox="1"/>
          <p:nvPr/>
        </p:nvSpPr>
        <p:spPr>
          <a:xfrm>
            <a:off x="2449947" y="3994132"/>
            <a:ext cx="5580753" cy="461665"/>
          </a:xfrm>
          <a:prstGeom prst="rect">
            <a:avLst/>
          </a:prstGeom>
          <a:noFill/>
        </p:spPr>
        <p:txBody>
          <a:bodyPr wrap="square" rtlCol="0">
            <a:spAutoFit/>
          </a:bodyPr>
          <a:lstStyle/>
          <a:p>
            <a:r>
              <a:rPr lang="zh-CN" altLang="en-US" sz="2400" b="1" dirty="0">
                <a:solidFill>
                  <a:schemeClr val="accent3"/>
                </a:solidFill>
                <a:latin typeface="Microsoft Yahei"/>
                <a:ea typeface="Microsoft Yahei"/>
              </a:rPr>
              <a:t>业务理解 </a:t>
            </a:r>
            <a:r>
              <a:rPr lang="en-US" altLang="zh-CN" dirty="0"/>
              <a:t>—— </a:t>
            </a:r>
            <a:r>
              <a:rPr lang="zh-CN" altLang="en-US" dirty="0"/>
              <a:t>从技术执行到业务视角的转变</a:t>
            </a:r>
          </a:p>
        </p:txBody>
      </p:sp>
      <p:pic>
        <p:nvPicPr>
          <p:cNvPr id="10" name="Picture 8"/>
          <p:cNvPicPr>
            <a:picLocks noChangeAspect="1"/>
          </p:cNvPicPr>
          <p:nvPr/>
        </p:nvPicPr>
        <p:blipFill>
          <a:blip r:embed="rId2">
            <a:alphaModFix/>
          </a:blip>
          <a:srcRect l="26361" r="26361"/>
          <a:stretch>
            <a:fillRect/>
          </a:stretch>
        </p:blipFill>
        <p:spPr>
          <a:xfrm>
            <a:off x="8298374" y="1506198"/>
            <a:ext cx="3342265" cy="4711690"/>
          </a:xfrm>
          <a:prstGeom prst="rect">
            <a:avLst/>
          </a:prstGeom>
        </p:spPr>
        <p:extLst mod="1">
          <p:ext uri="http://schemas.baidu.com/office/drawing/2023/templateData">
            <bd:templateData xmlns="" xmlns:bd="http://schemas.baidu.com/office/drawing/2023/templateData">eyJfdGVtcGxhdGVEYXRhIjp7ImNvbnRlbnRUeXBlIjoiJGltZzAifSwidGFnIjoiJGltZzAifQ==</bd:templateData>
          </p:ext>
        </p:extLst>
      </p:pic>
      <p:pic>
        <p:nvPicPr>
          <p:cNvPr id="12" name="图形 11" descr="用户 纯色填充">
            <a:extLst>
              <a:ext uri="{FF2B5EF4-FFF2-40B4-BE49-F238E27FC236}">
                <a16:creationId xmlns:a16="http://schemas.microsoft.com/office/drawing/2014/main" id="{3C332963-F4CF-6A57-9DA9-9E0E4891CB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2009" y="1957584"/>
            <a:ext cx="744460" cy="744460"/>
          </a:xfrm>
          <a:prstGeom prst="rect">
            <a:avLst/>
          </a:prstGeom>
        </p:spPr>
      </p:pic>
      <p:pic>
        <p:nvPicPr>
          <p:cNvPr id="14" name="图形 13" descr="书架上的书籍 纯色填充">
            <a:extLst>
              <a:ext uri="{FF2B5EF4-FFF2-40B4-BE49-F238E27FC236}">
                <a16:creationId xmlns:a16="http://schemas.microsoft.com/office/drawing/2014/main" id="{F985DEEB-E335-11BA-3307-9BBA2CEB2A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69000" y="2910727"/>
            <a:ext cx="744460" cy="744460"/>
          </a:xfrm>
          <a:prstGeom prst="rect">
            <a:avLst/>
          </a:prstGeom>
        </p:spPr>
      </p:pic>
      <p:pic>
        <p:nvPicPr>
          <p:cNvPr id="16" name="图形 15" descr="火箭 纯色填充">
            <a:extLst>
              <a:ext uri="{FF2B5EF4-FFF2-40B4-BE49-F238E27FC236}">
                <a16:creationId xmlns:a16="http://schemas.microsoft.com/office/drawing/2014/main" id="{8191B87C-3939-8C4B-D6C9-D347A449069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11548" y="4844904"/>
            <a:ext cx="744460" cy="744460"/>
          </a:xfrm>
          <a:prstGeom prst="rect">
            <a:avLst/>
          </a:prstGeom>
        </p:spPr>
      </p:pic>
      <p:pic>
        <p:nvPicPr>
          <p:cNvPr id="18" name="图形 17" descr="灯泡 纯色填充">
            <a:extLst>
              <a:ext uri="{FF2B5EF4-FFF2-40B4-BE49-F238E27FC236}">
                <a16:creationId xmlns:a16="http://schemas.microsoft.com/office/drawing/2014/main" id="{77A2D44D-E247-3B2E-7A89-C3EBE658759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41230" y="3862043"/>
            <a:ext cx="744460" cy="744460"/>
          </a:xfrm>
          <a:prstGeom prst="rect">
            <a:avLst/>
          </a:prstGeom>
        </p:spPr>
      </p:pic>
      <p:sp>
        <p:nvSpPr>
          <p:cNvPr id="20" name="矩形 19">
            <a:extLst>
              <a:ext uri="{FF2B5EF4-FFF2-40B4-BE49-F238E27FC236}">
                <a16:creationId xmlns:a16="http://schemas.microsoft.com/office/drawing/2014/main" id="{7DA1AEC1-D8EA-CDCC-201F-01FBE0C04216}"/>
              </a:ext>
            </a:extLst>
          </p:cNvPr>
          <p:cNvSpPr/>
          <p:nvPr/>
        </p:nvSpPr>
        <p:spPr>
          <a:xfrm>
            <a:off x="905850" y="208788"/>
            <a:ext cx="8648521" cy="668901"/>
          </a:xfrm>
          <a:prstGeom prst="rect">
            <a:avLst/>
          </a:prstGeom>
          <a:noFill/>
          <a:effectLst>
            <a:outerShdw blurRad="50800" dist="38100" dir="2700000" algn="tl" rotWithShape="0">
              <a:prstClr val="black">
                <a:alpha val="40000"/>
              </a:prstClr>
            </a:outerShdw>
          </a:effectLst>
        </p:spPr>
        <p:txBody>
          <a:bodyPr wrap="none" lIns="91440" tIns="45720" rIns="91440" bIns="45720">
            <a:spAutoFit/>
          </a:bodyPr>
          <a:lstStyle/>
          <a:p>
            <a:pPr>
              <a:lnSpc>
                <a:spcPct val="140000"/>
              </a:lnSpc>
            </a:pPr>
            <a:r>
              <a:rPr lang="zh-CN" altLang="en-US" sz="3000" b="1" dirty="0">
                <a:solidFill>
                  <a:schemeClr val="dk2">
                    <a:alpha val="100000"/>
                  </a:schemeClr>
                </a:solidFill>
                <a:latin typeface="Noto Sans SC"/>
                <a:ea typeface="Noto Sans SC"/>
              </a:rPr>
              <a:t>系统化地成长，将每一个‘学到’转化为‘做到’</a:t>
            </a:r>
          </a:p>
        </p:txBody>
      </p:sp>
    </p:spTree>
    <p:extLst>
      <p:ext uri="{BB962C8B-B14F-4D97-AF65-F5344CB8AC3E}">
        <p14:creationId xmlns:p14="http://schemas.microsoft.com/office/powerpoint/2010/main" val="3178349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sp>
        <p:nvSpPr>
          <p:cNvPr id="2" name="TextBox 2"/>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zh-CN" altLang="en-US" sz="3000" b="1" dirty="0">
                <a:solidFill>
                  <a:schemeClr val="dk2">
                    <a:alpha val="100000"/>
                  </a:schemeClr>
                </a:solidFill>
                <a:latin typeface="Noto Sans SC"/>
                <a:ea typeface="Noto Sans SC"/>
                <a:cs typeface="Noto Sans SC"/>
              </a:rPr>
              <a:t>文化融入 </a:t>
            </a:r>
            <a:r>
              <a:rPr lang="en-US" altLang="zh-CN" sz="3000" b="1" dirty="0">
                <a:solidFill>
                  <a:schemeClr val="dk2">
                    <a:alpha val="100000"/>
                  </a:schemeClr>
                </a:solidFill>
                <a:latin typeface="Noto Sans SC"/>
                <a:ea typeface="Noto Sans SC"/>
                <a:cs typeface="Noto Sans SC"/>
              </a:rPr>
              <a:t>—— </a:t>
            </a:r>
            <a:r>
              <a:rPr lang="zh-CN" altLang="en-US" sz="3000" b="1" dirty="0">
                <a:solidFill>
                  <a:schemeClr val="dk2">
                    <a:alpha val="100000"/>
                  </a:schemeClr>
                </a:solidFill>
                <a:latin typeface="Noto Sans SC"/>
                <a:ea typeface="Noto Sans SC"/>
                <a:cs typeface="Noto Sans SC"/>
              </a:rPr>
              <a:t>理解并践行“获取分享”</a:t>
            </a:r>
            <a:endParaRPr lang="en-US" sz="3000" b="1" dirty="0">
              <a:solidFill>
                <a:schemeClr val="dk2">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grpSp>
        <p:nvGrpSpPr>
          <p:cNvPr id="3" name="Group 3"/>
          <p:cNvGrpSpPr/>
          <p:nvPr/>
        </p:nvGrpSpPr>
        <p:grpSpPr>
          <a:xfrm>
            <a:off x="839115" y="1512589"/>
            <a:ext cx="197186" cy="5357334"/>
            <a:chOff x="839115" y="1512589"/>
            <a:chExt cx="197186" cy="5357334"/>
          </a:xfrm>
        </p:grpSpPr>
        <p:sp>
          <p:nvSpPr>
            <p:cNvPr id="4" name="AutoShape 4"/>
            <p:cNvSpPr/>
            <p:nvPr/>
          </p:nvSpPr>
          <p:spPr>
            <a:xfrm>
              <a:off x="839115" y="1512589"/>
              <a:ext cx="197186" cy="197186"/>
            </a:xfrm>
            <a:prstGeom prst="ellipse">
              <a:avLst/>
            </a:prstGeom>
            <a:solidFill>
              <a:schemeClr val="accent1">
                <a:alpha val="100000"/>
              </a:schemeClr>
            </a:solidFill>
            <a:ln/>
          </p:spPr>
        </p:sp>
        <p:sp>
          <p:nvSpPr>
            <p:cNvPr id="5" name="AutoShape 5"/>
            <p:cNvSpPr/>
            <p:nvPr/>
          </p:nvSpPr>
          <p:spPr>
            <a:xfrm>
              <a:off x="839115" y="3230148"/>
              <a:ext cx="197186" cy="197186"/>
            </a:xfrm>
            <a:prstGeom prst="ellipse">
              <a:avLst/>
            </a:prstGeom>
            <a:solidFill>
              <a:schemeClr val="accent1">
                <a:alpha val="100000"/>
              </a:schemeClr>
            </a:solidFill>
            <a:ln/>
          </p:spPr>
        </p:sp>
        <p:sp>
          <p:nvSpPr>
            <p:cNvPr id="6" name="AutoShape 6"/>
            <p:cNvSpPr/>
            <p:nvPr/>
          </p:nvSpPr>
          <p:spPr>
            <a:xfrm>
              <a:off x="839115" y="4975845"/>
              <a:ext cx="197186" cy="197186"/>
            </a:xfrm>
            <a:prstGeom prst="ellipse">
              <a:avLst/>
            </a:prstGeom>
            <a:solidFill>
              <a:schemeClr val="accent1">
                <a:alpha val="100000"/>
              </a:schemeClr>
            </a:solidFill>
            <a:ln/>
          </p:spPr>
        </p:sp>
        <p:cxnSp>
          <p:nvCxnSpPr>
            <p:cNvPr id="7" name="Connector 7"/>
            <p:cNvCxnSpPr/>
            <p:nvPr/>
          </p:nvCxnSpPr>
          <p:spPr>
            <a:xfrm>
              <a:off x="937708" y="1624780"/>
              <a:ext cx="0" cy="5245143"/>
            </a:xfrm>
            <a:prstGeom prst="line">
              <a:avLst/>
            </a:prstGeom>
            <a:ln w="1905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grpSp>
      <p:sp>
        <p:nvSpPr>
          <p:cNvPr id="9" name="TextBox 9"/>
          <p:cNvSpPr txBox="1"/>
          <p:nvPr/>
        </p:nvSpPr>
        <p:spPr>
          <a:xfrm>
            <a:off x="1297192" y="1308287"/>
            <a:ext cx="4348638" cy="605790"/>
          </a:xfrm>
          <a:prstGeom prst="rect">
            <a:avLst/>
          </a:prstGeom>
          <a:ln/>
        </p:spPr>
        <p:txBody>
          <a:bodyPr vert="horz" wrap="square" lIns="123825" tIns="123825" rIns="57150" bIns="123825" rtlCol="0" anchor="t" anchorCtr="0">
            <a:noAutofit/>
          </a:bodyPr>
          <a:lstStyle/>
          <a:p>
            <a:pPr>
              <a:lnSpc>
                <a:spcPct val="120000"/>
              </a:lnSpc>
              <a:spcBef>
                <a:spcPts val="450"/>
              </a:spcBef>
            </a:pPr>
            <a:r>
              <a:rPr lang="en-US" sz="2000" b="1" dirty="0" err="1">
                <a:solidFill>
                  <a:schemeClr val="accent1">
                    <a:alpha val="100000"/>
                  </a:schemeClr>
                </a:solidFill>
                <a:latin typeface="Noto Sans SC"/>
                <a:ea typeface="Noto Sans SC"/>
                <a:cs typeface="Noto Sans SC"/>
              </a:rPr>
              <a:t>文化认同与践行</a:t>
            </a:r>
            <a:endParaRPr lang="en-US" sz="2000" b="1" dirty="0">
              <a:solidFill>
                <a:schemeClr val="accent1">
                  <a:alpha val="100000"/>
                </a:schemeClr>
              </a:solidFill>
              <a:latin typeface="Noto Sans SC"/>
              <a:ea typeface="Noto Sans SC"/>
              <a:cs typeface="Noto Sans SC"/>
            </a:endParaRPr>
          </a:p>
        </p:txBody>
        <p:extLst>
          <p:ext uri="http://schemas.baidu.com/office/drawing/2023/templateData">
            <bd:templateData xmlns="" xmlns:bd="http://schemas.baidu.com/office/drawing/2023/templateData">eyJfdGVtcGxhdGVEYXRhIjp7ImNvbnRlbnRUeXBlIjoiJGl0ZW0xX3RpdGxlIiwibGluZUNvdW50IjoiMSIsIndvcmRDb3VudCI6IjE1In0sInRhZyI6IiRpdGVtMV90aXRsZSJ9</bd:templateData>
          </p:ext>
        </p:extLst>
      </p:sp>
      <p:sp>
        <p:nvSpPr>
          <p:cNvPr id="10" name="TextBox 10"/>
          <p:cNvSpPr txBox="1"/>
          <p:nvPr/>
        </p:nvSpPr>
        <p:spPr>
          <a:xfrm>
            <a:off x="1297192" y="4762018"/>
            <a:ext cx="4414526" cy="624840"/>
          </a:xfrm>
          <a:prstGeom prst="rect">
            <a:avLst/>
          </a:prstGeom>
          <a:ln/>
        </p:spPr>
        <p:txBody>
          <a:bodyPr vert="horz" wrap="square" lIns="123825" tIns="123825" rIns="57150" bIns="123825" rtlCol="0" anchor="t" anchorCtr="0">
            <a:noAutofit/>
          </a:bodyPr>
          <a:lstStyle/>
          <a:p>
            <a:pPr>
              <a:lnSpc>
                <a:spcPct val="120000"/>
              </a:lnSpc>
              <a:spcBef>
                <a:spcPts val="450"/>
              </a:spcBef>
            </a:pPr>
            <a:r>
              <a:rPr lang="en-US" sz="2000" b="1" dirty="0" err="1">
                <a:solidFill>
                  <a:schemeClr val="accent1">
                    <a:alpha val="100000"/>
                  </a:schemeClr>
                </a:solidFill>
                <a:latin typeface="Noto Sans SC"/>
                <a:ea typeface="Noto Sans SC"/>
                <a:cs typeface="Noto Sans SC"/>
              </a:rPr>
              <a:t>跨部门资源整合</a:t>
            </a:r>
            <a:endParaRPr lang="en-US" sz="2000" b="1" dirty="0">
              <a:solidFill>
                <a:schemeClr val="accent1">
                  <a:alpha val="100000"/>
                </a:schemeClr>
              </a:solidFill>
              <a:latin typeface="Noto Sans SC"/>
              <a:ea typeface="Noto Sans SC"/>
              <a:cs typeface="Noto Sans SC"/>
            </a:endParaRPr>
          </a:p>
        </p:txBody>
        <p:extLst>
          <p:ext uri="http://schemas.baidu.com/office/drawing/2023/templateData">
            <bd:templateData xmlns="" xmlns:bd="http://schemas.baidu.com/office/drawing/2023/templateData">eyJfdGVtcGxhdGVEYXRhIjp7ImNvbnRlbnRUeXBlIjoiJGl0ZW0zX3RpdGxlIiwibGluZUNvdW50IjoiMSIsIndvcmRDb3VudCI6IjE1In0sInRhZyI6IiRpdGVtM190aXRsZSJ9</bd:templateData>
          </p:ext>
        </p:extLst>
      </p:sp>
      <p:sp>
        <p:nvSpPr>
          <p:cNvPr id="11" name="TextBox 11"/>
          <p:cNvSpPr txBox="1"/>
          <p:nvPr/>
        </p:nvSpPr>
        <p:spPr>
          <a:xfrm>
            <a:off x="1297192" y="3025846"/>
            <a:ext cx="4348638" cy="605790"/>
          </a:xfrm>
          <a:prstGeom prst="rect">
            <a:avLst/>
          </a:prstGeom>
          <a:ln/>
        </p:spPr>
        <p:txBody>
          <a:bodyPr vert="horz" wrap="square" lIns="123825" tIns="123825" rIns="57150" bIns="123825" rtlCol="0" anchor="t" anchorCtr="0">
            <a:noAutofit/>
          </a:bodyPr>
          <a:lstStyle/>
          <a:p>
            <a:pPr>
              <a:lnSpc>
                <a:spcPct val="120000"/>
              </a:lnSpc>
              <a:spcBef>
                <a:spcPts val="450"/>
              </a:spcBef>
            </a:pPr>
            <a:r>
              <a:rPr lang="en-US" sz="2000" b="1" dirty="0" err="1">
                <a:solidFill>
                  <a:schemeClr val="accent1">
                    <a:alpha val="100000"/>
                  </a:schemeClr>
                </a:solidFill>
                <a:latin typeface="Noto Sans SC"/>
                <a:ea typeface="Noto Sans SC"/>
                <a:cs typeface="Noto Sans SC"/>
              </a:rPr>
              <a:t>团队协作机制掌握</a:t>
            </a:r>
            <a:endParaRPr lang="en-US" sz="2000" b="1" dirty="0">
              <a:solidFill>
                <a:schemeClr val="accent1">
                  <a:alpha val="100000"/>
                </a:schemeClr>
              </a:solidFill>
              <a:latin typeface="Noto Sans SC"/>
              <a:ea typeface="Noto Sans SC"/>
              <a:cs typeface="Noto Sans SC"/>
            </a:endParaRPr>
          </a:p>
        </p:txBody>
        <p:extLst>
          <p:ext uri="http://schemas.baidu.com/office/drawing/2023/templateData">
            <bd:templateData xmlns="" xmlns:bd="http://schemas.baidu.com/office/drawing/2023/templateData">eyJfdGVtcGxhdGVEYXRhIjp7ImNvbnRlbnRUeXBlIjoiJGl0ZW0yX3RpdGxlIiwibGluZUNvdW50IjoiMSIsIndvcmRDb3VudCI6IjE1In0sInRhZyI6IiRpdGVtMl90aXRsZSJ9</bd:templateData>
          </p:ext>
        </p:extLst>
      </p:sp>
      <p:sp>
        <p:nvSpPr>
          <p:cNvPr id="12" name="TextBox 12"/>
          <p:cNvSpPr txBox="1"/>
          <p:nvPr/>
        </p:nvSpPr>
        <p:spPr>
          <a:xfrm>
            <a:off x="1297192" y="1815305"/>
            <a:ext cx="6136741" cy="1203960"/>
          </a:xfrm>
          <a:prstGeom prst="rect">
            <a:avLst/>
          </a:prstGeom>
          <a:ln/>
        </p:spPr>
        <p:txBody>
          <a:bodyPr vert="horz" wrap="square" lIns="123825" tIns="0" rIns="57150" bIns="0" rtlCol="0" anchor="t" anchorCtr="0">
            <a:noAutofit/>
          </a:bodyPr>
          <a:lstStyle/>
          <a:p>
            <a:r>
              <a:rPr lang="zh-CN" altLang="en-US" dirty="0"/>
              <a:t>入职数界科技以来，我深度认同“客户第一”与“获取分享制”。在无代码场景中，我始终从客户业务痛点出发，并将沉淀的方法、组件积极分享，真正在“获取”与“分享”的循环中，与团队共同成长。</a:t>
            </a:r>
            <a:endParaRPr lang="zh-CN" altLang="en-US" sz="2000" dirty="0"/>
          </a:p>
        </p:txBody>
        <p:extLst mod="1">
          <p:ext uri="http://schemas.baidu.com/office/drawing/2023/templateData">
            <bd:templateData xmlns="" xmlns:bd="http://schemas.baidu.com/office/drawing/2023/templateData">eyJfdGVtcGxhdGVEYXRhIjp7ImNvbnRlbnRUeXBlIjoiJGl0ZW0xX2MiLCJsaW5lQ291bnQiOiIzIiwid29yZENvdW50IjoiMzAifSwidGFnIjoiJGl0ZW0xX2MifQ==</bd:templateData>
          </p:ext>
        </p:extLst>
      </p:sp>
      <p:sp>
        <p:nvSpPr>
          <p:cNvPr id="13" name="TextBox 13"/>
          <p:cNvSpPr txBox="1"/>
          <p:nvPr/>
        </p:nvSpPr>
        <p:spPr>
          <a:xfrm>
            <a:off x="1297192" y="3554425"/>
            <a:ext cx="6124470" cy="1421420"/>
          </a:xfrm>
          <a:prstGeom prst="rect">
            <a:avLst/>
          </a:prstGeom>
          <a:ln/>
        </p:spPr>
        <p:txBody>
          <a:bodyPr vert="horz" wrap="square" lIns="123825" tIns="0" rIns="57150" bIns="0" rtlCol="0" anchor="t" anchorCtr="0">
            <a:noAutofit/>
          </a:bodyPr>
          <a:lstStyle/>
          <a:p>
            <a:r>
              <a:rPr lang="zh-CN" altLang="en-US" dirty="0"/>
              <a:t>我深刻理解无代码项目的成功依赖紧密协作。通过主动协同产品、运营等角色，我们高效对齐业务蓝图与实现路径，确保从方案到落地的顺畅，这本身就是对“共创价值、共享成果”的最佳诠释。</a:t>
            </a:r>
            <a:endParaRPr lang="zh-CN" altLang="en-US" sz="2000" dirty="0"/>
          </a:p>
        </p:txBody>
        <p:extLst mod="1">
          <p:ext uri="http://schemas.baidu.com/office/drawing/2023/templateData">
            <bd:templateData xmlns="" xmlns:bd="http://schemas.baidu.com/office/drawing/2023/templateData">eyJfdGVtcGxhdGVEYXRhIjp7ImNvbnRlbnRUeXBlIjoiJGl0ZW0yX2MiLCJsaW5lQ291bnQiOiIzIiwid29yZENvdW50IjoiMzAifSwidGFnIjoiJGl0ZW0yX2MifQ==</bd:templateData>
          </p:ext>
        </p:extLst>
      </p:sp>
      <p:sp>
        <p:nvSpPr>
          <p:cNvPr id="14" name="TextBox 14"/>
          <p:cNvSpPr txBox="1"/>
          <p:nvPr/>
        </p:nvSpPr>
        <p:spPr>
          <a:xfrm>
            <a:off x="1297192" y="5293419"/>
            <a:ext cx="6112200" cy="1576504"/>
          </a:xfrm>
          <a:prstGeom prst="rect">
            <a:avLst/>
          </a:prstGeom>
          <a:ln/>
        </p:spPr>
        <p:txBody>
          <a:bodyPr vert="horz" wrap="square" lIns="123825" tIns="0" rIns="57150" bIns="0" rtlCol="0" anchor="t" anchorCtr="0">
            <a:noAutofit/>
          </a:bodyPr>
          <a:lstStyle/>
          <a:p>
            <a:r>
              <a:rPr lang="zh-CN" altLang="en-US" dirty="0"/>
              <a:t>在跨部门协作中，我注重整合各方的业务需求与数据资源，推动无代码能力的共享与复用。这不仅放大了平台价值，也践行了“获取分享”文化，实现了“</a:t>
            </a:r>
            <a:r>
              <a:rPr lang="en-US" altLang="zh-CN" dirty="0"/>
              <a:t>1+1&gt;2”</a:t>
            </a:r>
            <a:r>
              <a:rPr lang="zh-CN" altLang="en-US" dirty="0"/>
              <a:t>的协同效能。</a:t>
            </a:r>
            <a:endParaRPr lang="en-US" dirty="0"/>
          </a:p>
        </p:txBody>
        <p:extLst mod="1">
          <p:ext uri="http://schemas.baidu.com/office/drawing/2023/templateData">
            <bd:templateData xmlns="" xmlns:bd="http://schemas.baidu.com/office/drawing/2023/templateData">eyJfdGVtcGxhdGVEYXRhIjp7ImNvbnRlbnRUeXBlIjoiJGl0ZW0zX2MiLCJsaW5lQ291bnQiOiIzIiwid29yZENvdW50IjoiMzAifSwidGFnIjoiJGl0ZW0zX2MifQ==</bd:templateData>
          </p:ext>
        </p:extLst>
      </p:sp>
      <p:pic>
        <p:nvPicPr>
          <p:cNvPr id="17" name="图片 16">
            <a:extLst>
              <a:ext uri="{FF2B5EF4-FFF2-40B4-BE49-F238E27FC236}">
                <a16:creationId xmlns:a16="http://schemas.microsoft.com/office/drawing/2014/main" id="{CB834B8D-7FB6-A1CC-D119-BFA2D9450271}"/>
              </a:ext>
            </a:extLst>
          </p:cNvPr>
          <p:cNvPicPr>
            <a:picLocks noChangeAspect="1"/>
          </p:cNvPicPr>
          <p:nvPr/>
        </p:nvPicPr>
        <p:blipFill>
          <a:blip r:embed="rId2"/>
          <a:stretch>
            <a:fillRect/>
          </a:stretch>
        </p:blipFill>
        <p:spPr>
          <a:xfrm>
            <a:off x="7828656" y="1178113"/>
            <a:ext cx="3892866" cy="4718892"/>
          </a:xfrm>
          <a:prstGeom prst="rect">
            <a:avLst/>
          </a:prstGeom>
          <a:effectLst>
            <a:glow rad="127000">
              <a:schemeClr val="accent1">
                <a:alpha val="99000"/>
              </a:schemeClr>
            </a:glow>
            <a:outerShdw blurRad="50800" dist="38100" dir="5400000" algn="t" rotWithShape="0">
              <a:prstClr val="black">
                <a:alpha val="40000"/>
              </a:prstClr>
            </a:outerShdw>
          </a:effectLst>
        </p:spPr>
      </p:pic>
      <p:sp>
        <p:nvSpPr>
          <p:cNvPr id="18" name="矩形 17">
            <a:extLst>
              <a:ext uri="{FF2B5EF4-FFF2-40B4-BE49-F238E27FC236}">
                <a16:creationId xmlns:a16="http://schemas.microsoft.com/office/drawing/2014/main" id="{9C853685-BD5C-596B-8D56-BE92D7438EDC}"/>
              </a:ext>
            </a:extLst>
          </p:cNvPr>
          <p:cNvSpPr/>
          <p:nvPr/>
        </p:nvSpPr>
        <p:spPr>
          <a:xfrm>
            <a:off x="8990259" y="6060014"/>
            <a:ext cx="1569660" cy="369332"/>
          </a:xfrm>
          <a:prstGeom prst="rect">
            <a:avLst/>
          </a:prstGeom>
          <a:noFill/>
        </p:spPr>
        <p:txBody>
          <a:bodyPr wrap="none" lIns="91440" tIns="45720" rIns="91440" bIns="45720">
            <a:spAutoFit/>
          </a:bodyPr>
          <a:lstStyle/>
          <a:p>
            <a:pPr algn="ctr"/>
            <a:r>
              <a:rPr lang="zh-CN" altLang="en-US" b="0" cap="none" spc="0" dirty="0">
                <a:ln w="0"/>
                <a:solidFill>
                  <a:schemeClr val="accent3"/>
                </a:solidFill>
                <a:effectLst>
                  <a:outerShdw blurRad="38100" dist="19050" dir="2700000" algn="tl" rotWithShape="0">
                    <a:schemeClr val="dk1">
                      <a:alpha val="40000"/>
                    </a:schemeClr>
                  </a:outerShdw>
                </a:effectLst>
              </a:rPr>
              <a:t>我的分享沉淀</a:t>
            </a:r>
          </a:p>
        </p:txBody>
      </p:sp>
    </p:spTree>
  </p:cSld>
  <p:clrMapOvr>
    <a:masterClrMapping/>
  </p:clrMapOvr>
  <p:extLst mod="1">
    <p:ext uri="http://schemas.baidu.com/office/drawing/2023/templateData">
      <bd:templateData xmlns="" xmlns:bd="http://schemas.baidu.com/office/drawing/2023/templateData">eyJtZCI6IiMjIOWFrOWPuOaWh+WMluS4juWboumYn+WNj+S9nFxuIyMjIOaWh+WMluiupOWQjOS4jui3teihjFxu5rex5YWl5a2m5Lmg5YWs5Y+4XCLlrqLmiLfoh7PkuIrjgIHliJvmlrDpqbHliqhcIueahOaguOW/g+S7t+WAvOingu+8jOmAmui/h+WPguS4juaWsOWRmOW3peWfueiureOAgemDqOmXqOWIhuS6q+S8muetiea0u+WKqO+8jOW/q+mAn+eQhuino+W5tuiejeWFpeaJgeW5s+WMluOAgeaVj+aNt+WNj+S9nOeahOe7hOe7h+aWh+WMlu+8jOS4u+WKqOaJv+aLhei3qOmDqOmXqOWNj+S9nOS7u+WKoTPmrKHjgIJcbiMjIyDlm6LpmJ/ljY/kvZzmnLrliLbmjozmj6FcbueGn+e7g+aOjOaPoeWFrOWPuOS9v+eUqOeahOmjnuS5puWNj+S9nOW3peWFt+WSjE9LUuebruagh+euoeeQhuaWueazle+8jOWcqOmhueebruaOqOi/m+S4reS4juS6p+WTgeOAgeaKgOacr+WboumYn+W7uueri+mrmOaViOayn+mAmuacuuWItu+8jOehruS/neS/oeaBr+WQjOatpeeOh+i+vjk1JeS7peS4iuOAglxuIyMjIOi3qOmDqOmXqOi1hOa6kOaVtOWQiFxu5Li75a+85a6M5oiQ5biC5Zy66YOo5LiO5a6i5oi35oiQ5Yqf6YOo55qE6ZyA5rGC5a+55o6l5rWB56iL5LyY5YyW77yM5bu656uL5qCH5YeG5YyW6ZyA5rGC5qih5p2/77yM5bCG6Leo6YOo6Zeo5Y2P5L2c5pWI546H5o+Q5Y2HMzAl77yM6I635a2j5bqm5Y2P5L2c5qCH5YW15o+Q5ZCN44CCIiwidHBsaWQiOiIxMDAwMCIsInRwbE5hbWUiOiJsaXN0M19zYW1lU3R5bGUxcGljMiIsImVkaXRlZCI6ImZhbHNlIn0=</bd:templateData>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BE47C4ED-C441-10D5-FD2F-0B6456C693CF}"/>
              </a:ext>
            </a:extLst>
          </p:cNvPr>
          <p:cNvSpPr txBox="1"/>
          <p:nvPr/>
        </p:nvSpPr>
        <p:spPr>
          <a:xfrm>
            <a:off x="688965" y="66783"/>
            <a:ext cx="7615791" cy="914400"/>
          </a:xfrm>
          <a:prstGeom prst="rect">
            <a:avLst/>
          </a:prstGeom>
          <a:ln/>
        </p:spPr>
        <p:txBody>
          <a:bodyPr vert="horz" wrap="square" lIns="123825" tIns="123825" rIns="57150" bIns="123825" rtlCol="0" anchor="ctr" anchorCtr="0">
            <a:noAutofit/>
          </a:bodyPr>
          <a:lstStyle/>
          <a:p>
            <a:pPr>
              <a:lnSpc>
                <a:spcPct val="140000"/>
              </a:lnSpc>
            </a:pPr>
            <a:r>
              <a:rPr lang="zh-CN" altLang="en-US" sz="3000" b="1" dirty="0">
                <a:solidFill>
                  <a:schemeClr val="dk2">
                    <a:alpha val="100000"/>
                  </a:schemeClr>
                </a:solidFill>
                <a:latin typeface="Noto Sans SC"/>
                <a:ea typeface="Noto Sans SC"/>
                <a:cs typeface="Noto Sans SC"/>
              </a:rPr>
              <a:t>技能提升 </a:t>
            </a:r>
            <a:r>
              <a:rPr lang="en-US" altLang="zh-CN" sz="3000" b="1" dirty="0">
                <a:solidFill>
                  <a:schemeClr val="dk2">
                    <a:alpha val="100000"/>
                  </a:schemeClr>
                </a:solidFill>
                <a:latin typeface="Noto Sans SC"/>
                <a:ea typeface="Noto Sans SC"/>
                <a:cs typeface="Noto Sans SC"/>
              </a:rPr>
              <a:t>—— </a:t>
            </a:r>
            <a:r>
              <a:rPr lang="zh-CN" altLang="en-US" sz="3000" b="1" dirty="0">
                <a:solidFill>
                  <a:schemeClr val="dk2">
                    <a:alpha val="100000"/>
                  </a:schemeClr>
                </a:solidFill>
                <a:latin typeface="Noto Sans SC"/>
                <a:ea typeface="Noto Sans SC"/>
                <a:cs typeface="Noto Sans SC"/>
              </a:rPr>
              <a:t>从</a:t>
            </a:r>
            <a:r>
              <a:rPr lang="en-US" altLang="zh-CN" sz="3000" b="1" dirty="0">
                <a:solidFill>
                  <a:schemeClr val="dk2">
                    <a:alpha val="100000"/>
                  </a:schemeClr>
                </a:solidFill>
                <a:latin typeface="Noto Sans SC"/>
                <a:ea typeface="Noto Sans SC"/>
                <a:cs typeface="Noto Sans SC"/>
              </a:rPr>
              <a:t>SDE</a:t>
            </a:r>
            <a:r>
              <a:rPr lang="zh-CN" altLang="en-US" sz="3000" b="1" dirty="0">
                <a:solidFill>
                  <a:schemeClr val="dk2">
                    <a:alpha val="100000"/>
                  </a:schemeClr>
                </a:solidFill>
                <a:latin typeface="Noto Sans SC"/>
                <a:ea typeface="Noto Sans SC"/>
                <a:cs typeface="Noto Sans SC"/>
              </a:rPr>
              <a:t>到</a:t>
            </a:r>
            <a:r>
              <a:rPr lang="en-US" altLang="zh-CN" sz="3000" b="1" dirty="0">
                <a:solidFill>
                  <a:schemeClr val="dk2">
                    <a:alpha val="100000"/>
                  </a:schemeClr>
                </a:solidFill>
                <a:latin typeface="Noto Sans SC"/>
                <a:ea typeface="Noto Sans SC"/>
                <a:cs typeface="Noto Sans SC"/>
              </a:rPr>
              <a:t>SPDE</a:t>
            </a:r>
            <a:r>
              <a:rPr lang="zh-CN" altLang="en-US" sz="3000" b="1" dirty="0">
                <a:solidFill>
                  <a:schemeClr val="dk2">
                    <a:alpha val="100000"/>
                  </a:schemeClr>
                </a:solidFill>
                <a:latin typeface="Noto Sans SC"/>
                <a:ea typeface="Noto Sans SC"/>
                <a:cs typeface="Noto Sans SC"/>
              </a:rPr>
              <a:t>的全路径认证</a:t>
            </a:r>
            <a:endParaRPr lang="en-US" sz="3000" b="1" dirty="0">
              <a:solidFill>
                <a:schemeClr val="dk2">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sp>
        <p:nvSpPr>
          <p:cNvPr id="6" name="文本框 5">
            <a:extLst>
              <a:ext uri="{FF2B5EF4-FFF2-40B4-BE49-F238E27FC236}">
                <a16:creationId xmlns:a16="http://schemas.microsoft.com/office/drawing/2014/main" id="{0D52281B-5B16-187B-F3D4-31700852447E}"/>
              </a:ext>
            </a:extLst>
          </p:cNvPr>
          <p:cNvSpPr txBox="1"/>
          <p:nvPr/>
        </p:nvSpPr>
        <p:spPr>
          <a:xfrm>
            <a:off x="924854" y="981183"/>
            <a:ext cx="7144011" cy="3055645"/>
          </a:xfrm>
          <a:prstGeom prst="rect">
            <a:avLst/>
          </a:prstGeom>
          <a:noFill/>
        </p:spPr>
        <p:txBody>
          <a:bodyPr wrap="square" rtlCol="0">
            <a:spAutoFit/>
          </a:bodyPr>
          <a:lstStyle/>
          <a:p>
            <a:pPr>
              <a:lnSpc>
                <a:spcPct val="150000"/>
              </a:lnSpc>
            </a:pPr>
            <a:r>
              <a:rPr lang="zh-CN" altLang="en-US" b="1" dirty="0"/>
              <a:t>核心能力矩阵：</a:t>
            </a:r>
            <a:endParaRPr lang="en-US" altLang="zh-CN" b="1" dirty="0"/>
          </a:p>
          <a:p>
            <a:pPr>
              <a:lnSpc>
                <a:spcPct val="150000"/>
              </a:lnSpc>
            </a:pPr>
            <a:r>
              <a:rPr lang="zh-CN" altLang="en-US" sz="1600" dirty="0"/>
              <a:t>🛠️</a:t>
            </a:r>
            <a:r>
              <a:rPr lang="zh-CN" altLang="en-US" sz="1600" b="1" dirty="0"/>
              <a:t>快速认证，高效学习</a:t>
            </a:r>
            <a:endParaRPr lang="en-US" altLang="zh-CN" sz="1600" b="1" dirty="0"/>
          </a:p>
          <a:p>
            <a:pPr>
              <a:lnSpc>
                <a:spcPct val="150000"/>
              </a:lnSpc>
            </a:pPr>
            <a:r>
              <a:rPr lang="en-US" altLang="zh-CN" sz="1600" b="1" dirty="0"/>
              <a:t>       </a:t>
            </a:r>
            <a:r>
              <a:rPr lang="zh-CN" altLang="en-US" sz="1600" dirty="0"/>
              <a:t>在</a:t>
            </a:r>
            <a:r>
              <a:rPr lang="zh-CN" altLang="en-US" sz="1600" b="1" dirty="0"/>
              <a:t> </a:t>
            </a:r>
            <a:r>
              <a:rPr lang="en-US" altLang="zh-CN" sz="1600" b="1" dirty="0"/>
              <a:t>2 </a:t>
            </a:r>
            <a:r>
              <a:rPr lang="zh-CN" altLang="en-US" sz="1600" b="1" dirty="0"/>
              <a:t>个月内</a:t>
            </a:r>
            <a:r>
              <a:rPr lang="zh-CN" altLang="en-US" sz="1600" dirty="0"/>
              <a:t>完成 </a:t>
            </a:r>
            <a:r>
              <a:rPr lang="en-US" altLang="zh-CN" sz="1600" dirty="0"/>
              <a:t>SDE → SPDE </a:t>
            </a:r>
            <a:r>
              <a:rPr lang="zh-CN" altLang="en-US" sz="1600" dirty="0"/>
              <a:t>全路径认证，较平均周期（通常为</a:t>
            </a:r>
            <a:r>
              <a:rPr lang="en-US" altLang="zh-CN" sz="1600" dirty="0"/>
              <a:t>3-4</a:t>
            </a:r>
            <a:r>
              <a:rPr lang="zh-CN" altLang="en-US" sz="1600" dirty="0"/>
              <a:t>个月）</a:t>
            </a:r>
            <a:r>
              <a:rPr lang="zh-CN" altLang="en-US" sz="1600" b="1" dirty="0"/>
              <a:t>缩短近 </a:t>
            </a:r>
            <a:r>
              <a:rPr lang="en-US" altLang="zh-CN" sz="1600" b="1" dirty="0"/>
              <a:t>50%</a:t>
            </a:r>
            <a:r>
              <a:rPr lang="zh-CN" altLang="en-US" sz="1600" dirty="0"/>
              <a:t>，但这个过程让我对平台建立了系统性的理解，为后续支持项目打下了坚实基础。</a:t>
            </a:r>
            <a:endParaRPr lang="zh-CN" altLang="en-US" dirty="0"/>
          </a:p>
          <a:p>
            <a:pPr>
              <a:lnSpc>
                <a:spcPct val="150000"/>
              </a:lnSpc>
            </a:pPr>
            <a:r>
              <a:rPr lang="zh-CN" altLang="en-US" sz="1600" dirty="0"/>
              <a:t>🛠️</a:t>
            </a:r>
            <a:r>
              <a:rPr lang="zh-CN" altLang="en-US" sz="1600" b="1" dirty="0"/>
              <a:t>技能落地，支持业务</a:t>
            </a:r>
            <a:endParaRPr lang="en-US" altLang="zh-CN" sz="1600" b="1" dirty="0"/>
          </a:p>
          <a:p>
            <a:pPr>
              <a:lnSpc>
                <a:spcPct val="150000"/>
              </a:lnSpc>
            </a:pPr>
            <a:r>
              <a:rPr lang="zh-CN" altLang="en-US" sz="1600" b="1" dirty="0"/>
              <a:t>       </a:t>
            </a:r>
            <a:r>
              <a:rPr lang="zh-CN" altLang="en-US" sz="1600" dirty="0"/>
              <a:t>掌握 </a:t>
            </a:r>
            <a:r>
              <a:rPr lang="en-US" altLang="zh-CN" sz="1600" dirty="0" err="1"/>
              <a:t>Smartdaten</a:t>
            </a:r>
            <a:r>
              <a:rPr lang="en-US" altLang="zh-CN" sz="1600" dirty="0"/>
              <a:t> </a:t>
            </a:r>
            <a:r>
              <a:rPr lang="zh-CN" altLang="en-US" sz="1600" b="1" dirty="0"/>
              <a:t>数据模型、组件配置、逻辑模块 </a:t>
            </a:r>
            <a:r>
              <a:rPr lang="zh-CN" altLang="en-US" sz="1600" dirty="0"/>
              <a:t>三大核心模块</a:t>
            </a:r>
            <a:r>
              <a:rPr lang="zh-CN" altLang="en-US" sz="1600" b="1" dirty="0"/>
              <a:t>，</a:t>
            </a:r>
            <a:r>
              <a:rPr lang="zh-CN" altLang="en-US" sz="1600" dirty="0"/>
              <a:t>具备</a:t>
            </a:r>
            <a:r>
              <a:rPr lang="zh-CN" altLang="en-US" sz="1600" b="1" dirty="0"/>
              <a:t>前后端二开能力，</a:t>
            </a:r>
            <a:r>
              <a:rPr lang="zh-CN" altLang="en-US" sz="1600" dirty="0"/>
              <a:t>助力客户定制化需求开发。</a:t>
            </a:r>
          </a:p>
        </p:txBody>
      </p:sp>
      <p:pic>
        <p:nvPicPr>
          <p:cNvPr id="13" name="图片 12">
            <a:extLst>
              <a:ext uri="{FF2B5EF4-FFF2-40B4-BE49-F238E27FC236}">
                <a16:creationId xmlns:a16="http://schemas.microsoft.com/office/drawing/2014/main" id="{574C4B64-BA9A-8BD4-E089-54C2C0337271}"/>
              </a:ext>
            </a:extLst>
          </p:cNvPr>
          <p:cNvPicPr>
            <a:picLocks noChangeAspect="1"/>
          </p:cNvPicPr>
          <p:nvPr/>
        </p:nvPicPr>
        <p:blipFill>
          <a:blip r:embed="rId2"/>
          <a:stretch>
            <a:fillRect/>
          </a:stretch>
        </p:blipFill>
        <p:spPr>
          <a:xfrm>
            <a:off x="8068866" y="981183"/>
            <a:ext cx="3803580" cy="2708789"/>
          </a:xfrm>
          <a:prstGeom prst="rect">
            <a:avLst/>
          </a:prstGeom>
        </p:spPr>
      </p:pic>
      <p:pic>
        <p:nvPicPr>
          <p:cNvPr id="19" name="图片 18">
            <a:extLst>
              <a:ext uri="{FF2B5EF4-FFF2-40B4-BE49-F238E27FC236}">
                <a16:creationId xmlns:a16="http://schemas.microsoft.com/office/drawing/2014/main" id="{A3744FD9-66CC-7397-1EA3-EACBECEB0BD5}"/>
              </a:ext>
            </a:extLst>
          </p:cNvPr>
          <p:cNvPicPr>
            <a:picLocks noChangeAspect="1"/>
          </p:cNvPicPr>
          <p:nvPr/>
        </p:nvPicPr>
        <p:blipFill>
          <a:blip r:embed="rId3"/>
          <a:stretch>
            <a:fillRect/>
          </a:stretch>
        </p:blipFill>
        <p:spPr>
          <a:xfrm>
            <a:off x="924853" y="4036828"/>
            <a:ext cx="5879258" cy="2647385"/>
          </a:xfrm>
          <a:prstGeom prst="rect">
            <a:avLst/>
          </a:prstGeom>
        </p:spPr>
      </p:pic>
      <p:sp>
        <p:nvSpPr>
          <p:cNvPr id="20" name="文本框 19">
            <a:extLst>
              <a:ext uri="{FF2B5EF4-FFF2-40B4-BE49-F238E27FC236}">
                <a16:creationId xmlns:a16="http://schemas.microsoft.com/office/drawing/2014/main" id="{24243293-A8FF-EF78-925A-7B0288964256}"/>
              </a:ext>
            </a:extLst>
          </p:cNvPr>
          <p:cNvSpPr txBox="1"/>
          <p:nvPr/>
        </p:nvSpPr>
        <p:spPr>
          <a:xfrm>
            <a:off x="7041731" y="4085128"/>
            <a:ext cx="4782714" cy="2270814"/>
          </a:xfrm>
          <a:prstGeom prst="rect">
            <a:avLst/>
          </a:prstGeom>
          <a:noFill/>
        </p:spPr>
        <p:txBody>
          <a:bodyPr wrap="square" rtlCol="0">
            <a:spAutoFit/>
          </a:bodyPr>
          <a:lstStyle/>
          <a:p>
            <a:pPr>
              <a:lnSpc>
                <a:spcPct val="150000"/>
              </a:lnSpc>
            </a:pPr>
            <a:r>
              <a:rPr lang="zh-CN" altLang="en-US" sz="1600" b="1" dirty="0"/>
              <a:t>🛠️成果量化，驱动价值</a:t>
            </a:r>
            <a:endParaRPr lang="en-US" altLang="zh-CN" sz="1600" b="1" dirty="0"/>
          </a:p>
          <a:p>
            <a:pPr>
              <a:lnSpc>
                <a:spcPct val="150000"/>
              </a:lnSpc>
            </a:pPr>
            <a:r>
              <a:rPr lang="zh-CN" altLang="en-US" sz="1600" dirty="0"/>
              <a:t>       学完就能用上，是最有成就感的事。比如在红沿河项目里，我直接用认证中学到的二开能力解决了客户的数据流问题，不仅保障了进度，也直接提升了客户满意度。这让我坚信，我的学习直接转化为了对客户的价值。</a:t>
            </a:r>
            <a:endParaRPr lang="zh-CN" altLang="en-US" dirty="0"/>
          </a:p>
        </p:txBody>
      </p:sp>
    </p:spTree>
    <p:extLst>
      <p:ext uri="{BB962C8B-B14F-4D97-AF65-F5344CB8AC3E}">
        <p14:creationId xmlns:p14="http://schemas.microsoft.com/office/powerpoint/2010/main" val="166512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sp>
        <p:nvSpPr>
          <p:cNvPr id="3" name="TextBox 3"/>
          <p:cNvSpPr txBox="1"/>
          <p:nvPr/>
        </p:nvSpPr>
        <p:spPr>
          <a:xfrm>
            <a:off x="476023" y="265328"/>
            <a:ext cx="11239500" cy="826637"/>
          </a:xfrm>
          <a:prstGeom prst="rect">
            <a:avLst/>
          </a:prstGeom>
          <a:ln/>
        </p:spPr>
        <p:txBody>
          <a:bodyPr vert="horz" wrap="square" lIns="123825" tIns="123825" rIns="57150" bIns="123825" rtlCol="0" anchor="t" anchorCtr="0">
            <a:spAutoFit/>
          </a:bodyPr>
          <a:lstStyle/>
          <a:p>
            <a:pPr>
              <a:lnSpc>
                <a:spcPct val="140000"/>
              </a:lnSpc>
            </a:pPr>
            <a:r>
              <a:rPr lang="zh-CN" altLang="en-US" sz="3000" b="1" dirty="0">
                <a:solidFill>
                  <a:schemeClr val="dk2">
                    <a:alpha val="100000"/>
                  </a:schemeClr>
                </a:solidFill>
                <a:latin typeface="Noto Sans SC"/>
                <a:ea typeface="Noto Sans SC"/>
                <a:cs typeface="Noto Sans SC"/>
              </a:rPr>
              <a:t>业务理解 </a:t>
            </a:r>
            <a:r>
              <a:rPr lang="en-US" altLang="zh-CN" sz="3000" b="1" dirty="0">
                <a:solidFill>
                  <a:schemeClr val="dk2">
                    <a:alpha val="100000"/>
                  </a:schemeClr>
                </a:solidFill>
                <a:latin typeface="Noto Sans SC"/>
                <a:ea typeface="Noto Sans SC"/>
                <a:cs typeface="Noto Sans SC"/>
              </a:rPr>
              <a:t>—— </a:t>
            </a:r>
            <a:r>
              <a:rPr lang="zh-CN" altLang="en-US" sz="3000" b="1" dirty="0">
                <a:solidFill>
                  <a:schemeClr val="dk2">
                    <a:alpha val="100000"/>
                  </a:schemeClr>
                </a:solidFill>
                <a:latin typeface="Noto Sans SC"/>
                <a:ea typeface="Noto Sans SC"/>
                <a:cs typeface="Noto Sans SC"/>
              </a:rPr>
              <a:t>从技术执行到业务视角</a:t>
            </a:r>
            <a:endParaRPr lang="en-US" sz="3000" b="1" dirty="0">
              <a:solidFill>
                <a:schemeClr val="dk2">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sp>
        <p:nvSpPr>
          <p:cNvPr id="2" name="文本框 1">
            <a:extLst>
              <a:ext uri="{FF2B5EF4-FFF2-40B4-BE49-F238E27FC236}">
                <a16:creationId xmlns:a16="http://schemas.microsoft.com/office/drawing/2014/main" id="{63D14BA2-3AC3-D5E1-C2CE-1203290422E1}"/>
              </a:ext>
            </a:extLst>
          </p:cNvPr>
          <p:cNvSpPr txBox="1"/>
          <p:nvPr/>
        </p:nvSpPr>
        <p:spPr>
          <a:xfrm>
            <a:off x="600460" y="1180528"/>
            <a:ext cx="5988230" cy="2893100"/>
          </a:xfrm>
          <a:prstGeom prst="rect">
            <a:avLst/>
          </a:prstGeom>
          <a:noFill/>
        </p:spPr>
        <p:txBody>
          <a:bodyPr wrap="square" rtlCol="0">
            <a:spAutoFit/>
          </a:bodyPr>
          <a:lstStyle/>
          <a:p>
            <a:r>
              <a:rPr lang="zh-CN" altLang="en-US" b="1" dirty="0"/>
              <a:t>认知升级：构建技术与业务的桥梁</a:t>
            </a:r>
          </a:p>
          <a:p>
            <a:r>
              <a:rPr lang="zh-CN" altLang="en-US" b="1" dirty="0"/>
              <a:t>从“怎么做”到“为什么做”</a:t>
            </a:r>
            <a:endParaRPr lang="zh-CN" altLang="en-US" dirty="0"/>
          </a:p>
          <a:p>
            <a:pPr marL="0" lvl="1"/>
            <a:r>
              <a:rPr lang="zh-CN" altLang="en-US" dirty="0"/>
              <a:t>       学会在动手前，先深入理解客户的</a:t>
            </a:r>
            <a:r>
              <a:rPr lang="zh-CN" altLang="en-US" b="1" dirty="0"/>
              <a:t>业务场景与核心痛点</a:t>
            </a:r>
            <a:r>
              <a:rPr lang="zh-CN" altLang="en-US" dirty="0"/>
              <a:t>，而不仅仅是完成开发任务。</a:t>
            </a:r>
          </a:p>
          <a:p>
            <a:r>
              <a:rPr lang="zh-CN" altLang="en-US" b="1" dirty="0"/>
              <a:t>掌握“业务语言”，实现同频沟通</a:t>
            </a:r>
            <a:endParaRPr lang="zh-CN" altLang="en-US" dirty="0"/>
          </a:p>
          <a:p>
            <a:pPr marL="0" lvl="1"/>
            <a:r>
              <a:rPr lang="zh-CN" altLang="en-US" dirty="0"/>
              <a:t>       能精准拆解模糊需求，将其转化为清晰的</a:t>
            </a:r>
            <a:r>
              <a:rPr lang="zh-CN" altLang="en-US" b="1" dirty="0"/>
              <a:t>低保真原型与操作流程</a:t>
            </a:r>
            <a:r>
              <a:rPr lang="zh-CN" altLang="en-US" dirty="0"/>
              <a:t>，并与客户、产品经理高效对齐。</a:t>
            </a:r>
          </a:p>
          <a:p>
            <a:r>
              <a:rPr lang="zh-CN" altLang="en-US" b="1" dirty="0"/>
              <a:t>用原型验证思路，让价值前置可视</a:t>
            </a:r>
            <a:endParaRPr lang="zh-CN" altLang="en-US" dirty="0"/>
          </a:p>
          <a:p>
            <a:pPr marL="0" lvl="1"/>
            <a:r>
              <a:rPr lang="zh-CN" altLang="en-US" dirty="0"/>
              <a:t>       在鲁泰项目中，通过应用低保真原型，将需求确认效率提升约</a:t>
            </a:r>
            <a:r>
              <a:rPr lang="en-US" altLang="zh-CN" b="1" dirty="0"/>
              <a:t>60%</a:t>
            </a:r>
            <a:r>
              <a:rPr lang="zh-CN" altLang="en-US" dirty="0"/>
              <a:t>，有效避免了后期返工。</a:t>
            </a:r>
          </a:p>
        </p:txBody>
      </p:sp>
      <p:sp>
        <p:nvSpPr>
          <p:cNvPr id="10" name="文本框 9">
            <a:extLst>
              <a:ext uri="{FF2B5EF4-FFF2-40B4-BE49-F238E27FC236}">
                <a16:creationId xmlns:a16="http://schemas.microsoft.com/office/drawing/2014/main" id="{700AD8BA-58F3-4059-E994-4A14D8A86848}"/>
              </a:ext>
            </a:extLst>
          </p:cNvPr>
          <p:cNvSpPr txBox="1"/>
          <p:nvPr/>
        </p:nvSpPr>
        <p:spPr>
          <a:xfrm>
            <a:off x="525698" y="5151278"/>
            <a:ext cx="6137754" cy="1231106"/>
          </a:xfrm>
          <a:prstGeom prst="rect">
            <a:avLst/>
          </a:prstGeom>
          <a:noFill/>
        </p:spPr>
        <p:txBody>
          <a:bodyPr wrap="square" rtlCol="0">
            <a:spAutoFit/>
          </a:bodyPr>
          <a:lstStyle/>
          <a:p>
            <a:r>
              <a:rPr lang="zh-CN" altLang="en-US" sz="2000" b="1" dirty="0"/>
              <a:t>业务视角带来的改变</a:t>
            </a:r>
            <a:r>
              <a:rPr lang="en-US" altLang="zh-CN" sz="2000" b="1" dirty="0"/>
              <a:t>:</a:t>
            </a:r>
          </a:p>
          <a:p>
            <a:pPr marL="285750" indent="-285750">
              <a:buFont typeface="Arial" panose="020B0604020202020204" pitchFamily="34" charset="0"/>
              <a:buChar char="•"/>
            </a:pPr>
            <a:r>
              <a:rPr lang="zh-CN" altLang="en-US" b="1" dirty="0"/>
              <a:t>沟通同频</a:t>
            </a:r>
            <a:r>
              <a:rPr lang="zh-CN" altLang="en-US" dirty="0"/>
              <a:t>：与客户、产品使用统一的“业务语言”。</a:t>
            </a:r>
          </a:p>
          <a:p>
            <a:pPr marL="285750" indent="-285750">
              <a:buFont typeface="Arial" panose="020B0604020202020204" pitchFamily="34" charset="0"/>
              <a:buChar char="•"/>
            </a:pPr>
            <a:r>
              <a:rPr lang="zh-CN" altLang="en-US" b="1" dirty="0"/>
              <a:t>质量前置</a:t>
            </a:r>
            <a:r>
              <a:rPr lang="zh-CN" altLang="en-US" dirty="0"/>
              <a:t>：从源头减少误解与变更风险。</a:t>
            </a:r>
          </a:p>
          <a:p>
            <a:pPr marL="285750" indent="-285750">
              <a:buFont typeface="Arial" panose="020B0604020202020204" pitchFamily="34" charset="0"/>
              <a:buChar char="•"/>
            </a:pPr>
            <a:r>
              <a:rPr lang="zh-CN" altLang="en-US" b="1" dirty="0"/>
              <a:t>价值可视</a:t>
            </a:r>
            <a:r>
              <a:rPr lang="zh-CN" altLang="en-US" dirty="0"/>
              <a:t>：通过原型让客户提前感知成果，增强信任。</a:t>
            </a:r>
          </a:p>
        </p:txBody>
      </p:sp>
      <p:pic>
        <p:nvPicPr>
          <p:cNvPr id="19" name="图片 18">
            <a:extLst>
              <a:ext uri="{FF2B5EF4-FFF2-40B4-BE49-F238E27FC236}">
                <a16:creationId xmlns:a16="http://schemas.microsoft.com/office/drawing/2014/main" id="{DF13349D-DF2E-1B07-42B9-E3212BFFAB39}"/>
              </a:ext>
            </a:extLst>
          </p:cNvPr>
          <p:cNvPicPr>
            <a:picLocks noChangeAspect="1"/>
          </p:cNvPicPr>
          <p:nvPr/>
        </p:nvPicPr>
        <p:blipFill>
          <a:blip r:embed="rId2"/>
          <a:stretch>
            <a:fillRect/>
          </a:stretch>
        </p:blipFill>
        <p:spPr>
          <a:xfrm>
            <a:off x="282783" y="4073628"/>
            <a:ext cx="11625980" cy="928401"/>
          </a:xfrm>
          <a:prstGeom prst="rect">
            <a:avLst/>
          </a:prstGeom>
        </p:spPr>
      </p:pic>
      <p:sp>
        <p:nvSpPr>
          <p:cNvPr id="20" name="矩形 19">
            <a:extLst>
              <a:ext uri="{FF2B5EF4-FFF2-40B4-BE49-F238E27FC236}">
                <a16:creationId xmlns:a16="http://schemas.microsoft.com/office/drawing/2014/main" id="{666DF42A-3C5A-2FAB-A153-77484C5B9C97}"/>
              </a:ext>
            </a:extLst>
          </p:cNvPr>
          <p:cNvSpPr/>
          <p:nvPr/>
        </p:nvSpPr>
        <p:spPr>
          <a:xfrm>
            <a:off x="6913718" y="5247819"/>
            <a:ext cx="4752584" cy="1477328"/>
          </a:xfrm>
          <a:prstGeom prst="rect">
            <a:avLst/>
          </a:prstGeom>
          <a:noFill/>
        </p:spPr>
        <p:txBody>
          <a:bodyPr wrap="square" lIns="91440" tIns="45720" rIns="91440" bIns="45720">
            <a:spAutoFit/>
          </a:bodyPr>
          <a:lstStyle/>
          <a:p>
            <a:r>
              <a:rPr lang="zh-CN" altLang="en-US" dirty="0"/>
              <a:t>       这是我</a:t>
            </a:r>
            <a:r>
              <a:rPr lang="en-US" altLang="zh-CN" dirty="0"/>
              <a:t>90</a:t>
            </a:r>
            <a:r>
              <a:rPr lang="zh-CN" altLang="en-US" dirty="0"/>
              <a:t>天里一个很重要的思维转变。我学会了不只是‘做功能’，而是‘解问题’。以前接到需求想的是“怎么做”，现在会先多问一句“为什么要这么做”，去理解客户背后的业务场景。”</a:t>
            </a:r>
          </a:p>
        </p:txBody>
      </p:sp>
      <p:pic>
        <p:nvPicPr>
          <p:cNvPr id="4" name="图片 3">
            <a:extLst>
              <a:ext uri="{FF2B5EF4-FFF2-40B4-BE49-F238E27FC236}">
                <a16:creationId xmlns:a16="http://schemas.microsoft.com/office/drawing/2014/main" id="{620D7649-2357-531F-F7EE-CBE53DDA019B}"/>
              </a:ext>
            </a:extLst>
          </p:cNvPr>
          <p:cNvPicPr>
            <a:picLocks noChangeAspect="1"/>
          </p:cNvPicPr>
          <p:nvPr/>
        </p:nvPicPr>
        <p:blipFill>
          <a:blip r:embed="rId3"/>
          <a:stretch>
            <a:fillRect/>
          </a:stretch>
        </p:blipFill>
        <p:spPr>
          <a:xfrm>
            <a:off x="6663452" y="1122511"/>
            <a:ext cx="5454018" cy="2801868"/>
          </a:xfrm>
          <a:prstGeom prst="rect">
            <a:avLst/>
          </a:prstGeom>
        </p:spPr>
      </p:pic>
    </p:spTree>
  </p:cSld>
  <p:clrMapOvr>
    <a:masterClrMapping/>
  </p:clrMapOvr>
  <p:extLst mod="1">
    <p:ext uri="http://schemas.baidu.com/office/drawing/2023/templateData">
      <bd:templateData xmlns="" xmlns:bd="http://schemas.baidu.com/office/drawing/2023/templateData">eyJtZCI6IiMjIOWyl+S9jeaKgOiDveS4juS4muWKoea1geeoi1xuIyMjIENSTeezu+e7n+a3seW6puaOjOaPoVxu5a6M5oiQU2FsZXNmb3JjZemrmOe6p+WKn+iDveiupOivge+8jOW7uueri+WuouaIt+WIhue6p+euoeeQhuaooeWei++8jOS8mOWMluWuouaIt+S/oeaBr+W9leWFpeaooeadv++8jOS9v+WuouaIt+aVsOaNruWujOaVtOW6puS7jjcwJeaPkOWNh+iHszkyJeOAglxuIyMjIOWuouaIt+aIkOWKn1NPUOaehOW7ulxu5qKz55CG5bm25a6M5ZaE5a6i5oi35YGl5bq35bqm6K+E5Lyw5L2T57O777yM5Yi25a6a5YyF5ZCrMTLkuKrlhbPplK7mjIfmoIfnmoTnm5HmtYvnnIvmnb/vvIzmjqjliqjlrqLmiLfnu63nuqbpooTorabmnLrliLbmj5DliY0zMOWkqeinpuWPkeOAglxuIyMjIOaVsOaNruWIhuaekOiDveWKm+aPkOWNh1xu6YCa6L+HUG93ZXIgQknkuJPpobnln7norq3vvIzni6znq4vlrozmiJDlrqLmiLfkvb/nlKjooYzkuLrliIbmnpDmiqXlkYrvvIzlj5HnjrAz5Liq5YWz6ZSu5Yqf6IO95L2/55So55eb54K577yM5o6o5Yqo5Lqn5ZOB6L+t5Luj5LyY5YyW44CCXG4jIyMg5YWo5rWB56iL5pyN5Yqh5qCH5YeG5YyWXG7kuLvlr7znvJblhpnjgIrlrqLmiLfmiJDlip/mnI3liqHmiYvlhozjgIvvvIzmtrXnm5bku44gb25ib2FyZGluZyDliLDnu63nuqbnmoQ35Liq5YWz6ZSu546v6IqC77yM6KKr6YeH57qz5Li66YOo6Zeo5qCH5YeG5pON5L2c5oyH5Y2X44CCIiwidHBsaWQiOiIxMDAwMCIsInRwbE5hbWUiOiJsaXN0NF9JbWdDMiIsImVkaXRlZCI6ImZhbHNlIn0=</bd:templateData>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sp>
        <p:nvSpPr>
          <p:cNvPr id="9" name="TextBox 9"/>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zh-CN" altLang="en-US" sz="3000" b="1" dirty="0">
                <a:solidFill>
                  <a:schemeClr val="dk2">
                    <a:alpha val="100000"/>
                  </a:schemeClr>
                </a:solidFill>
                <a:latin typeface="Noto Sans SC"/>
                <a:ea typeface="Noto Sans SC"/>
                <a:cs typeface="Noto Sans SC"/>
              </a:rPr>
              <a:t>项目实战 </a:t>
            </a:r>
            <a:r>
              <a:rPr lang="en-US" altLang="zh-CN" sz="3000" b="1" dirty="0">
                <a:solidFill>
                  <a:schemeClr val="dk2">
                    <a:alpha val="100000"/>
                  </a:schemeClr>
                </a:solidFill>
                <a:latin typeface="Noto Sans SC"/>
                <a:ea typeface="Noto Sans SC"/>
                <a:cs typeface="Noto Sans SC"/>
              </a:rPr>
              <a:t>—— </a:t>
            </a:r>
            <a:r>
              <a:rPr lang="zh-CN" altLang="en-US" sz="3000" b="1" dirty="0">
                <a:solidFill>
                  <a:schemeClr val="dk2">
                    <a:alpha val="100000"/>
                  </a:schemeClr>
                </a:solidFill>
                <a:latin typeface="Noto Sans SC"/>
                <a:ea typeface="Noto Sans SC"/>
                <a:cs typeface="Noto Sans SC"/>
              </a:rPr>
              <a:t>在真实场景中验证学习</a:t>
            </a:r>
            <a:endParaRPr lang="en-US" sz="3000" b="1" dirty="0">
              <a:solidFill>
                <a:schemeClr val="dk2">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pic>
        <p:nvPicPr>
          <p:cNvPr id="21" name="图片 20">
            <a:extLst>
              <a:ext uri="{FF2B5EF4-FFF2-40B4-BE49-F238E27FC236}">
                <a16:creationId xmlns:a16="http://schemas.microsoft.com/office/drawing/2014/main" id="{D785E4AC-5416-B620-DC8F-7D592839AD03}"/>
              </a:ext>
            </a:extLst>
          </p:cNvPr>
          <p:cNvPicPr>
            <a:picLocks noChangeAspect="1"/>
          </p:cNvPicPr>
          <p:nvPr/>
        </p:nvPicPr>
        <p:blipFill>
          <a:blip r:embed="rId2"/>
          <a:stretch>
            <a:fillRect/>
          </a:stretch>
        </p:blipFill>
        <p:spPr>
          <a:xfrm>
            <a:off x="6438377" y="1179728"/>
            <a:ext cx="5470134" cy="2791023"/>
          </a:xfrm>
          <a:prstGeom prst="rect">
            <a:avLst/>
          </a:prstGeom>
        </p:spPr>
      </p:pic>
      <p:sp>
        <p:nvSpPr>
          <p:cNvPr id="2" name="TextBox 2">
            <a:extLst>
              <a:ext uri="{FF2B5EF4-FFF2-40B4-BE49-F238E27FC236}">
                <a16:creationId xmlns:a16="http://schemas.microsoft.com/office/drawing/2014/main" id="{E53E8987-6343-52AB-2A68-3810D12BEFAB}"/>
              </a:ext>
            </a:extLst>
          </p:cNvPr>
          <p:cNvSpPr txBox="1"/>
          <p:nvPr/>
        </p:nvSpPr>
        <p:spPr>
          <a:xfrm>
            <a:off x="617168" y="1600628"/>
            <a:ext cx="5821209" cy="1127521"/>
          </a:xfrm>
          <a:prstGeom prst="rect">
            <a:avLst/>
          </a:prstGeom>
          <a:ln/>
        </p:spPr>
        <p:txBody>
          <a:bodyPr vert="horz" wrap="square" lIns="114300" tIns="57150" rIns="114300" bIns="57150" rtlCol="0" anchor="t" anchorCtr="0">
            <a:noAutofit/>
          </a:bodyPr>
          <a:lstStyle/>
          <a:p>
            <a:r>
              <a:rPr lang="zh-CN" altLang="en-US" sz="1600" dirty="0"/>
              <a:t>深入鲁泰、奥莱特等项目一线，精准识别客户在“</a:t>
            </a:r>
            <a:r>
              <a:rPr lang="en-US" altLang="zh-CN" sz="1600" dirty="0"/>
              <a:t>Hive</a:t>
            </a:r>
            <a:r>
              <a:rPr lang="zh-CN" altLang="en-US" sz="1600" dirty="0"/>
              <a:t>二开”、“大屏地球模块”等场景的技术痛点。</a:t>
            </a:r>
          </a:p>
          <a:p>
            <a:r>
              <a:rPr lang="zh-CN" altLang="en-US" sz="1600" dirty="0"/>
              <a:t>主导设计并推动</a:t>
            </a:r>
            <a:r>
              <a:rPr lang="en-US" altLang="zh-CN" sz="1600" dirty="0"/>
              <a:t>3</a:t>
            </a:r>
            <a:r>
              <a:rPr lang="zh-CN" altLang="en-US" sz="1600" dirty="0"/>
              <a:t>套定制化解决方案落地，其中红沿河</a:t>
            </a:r>
            <a:r>
              <a:rPr lang="en-US" altLang="zh-CN" sz="1600" dirty="0"/>
              <a:t>Hive</a:t>
            </a:r>
            <a:r>
              <a:rPr lang="zh-CN" altLang="en-US" sz="1600" dirty="0"/>
              <a:t>二开成功升级，解决了数据流报错等关键问题。</a:t>
            </a:r>
          </a:p>
        </p:txBody>
        <p:extLst mod="1">
          <p:ext uri="http://schemas.baidu.com/office/drawing/2023/templateData">
            <bd:templateData xmlns="" xmlns:bd="http://schemas.baidu.com/office/drawing/2023/templateData">eyJfdGVtcGxhdGVEYXRhIjp7ImNvbnRlbnRUeXBlIjoiJGl0ZW0xX2MiLCJsaW5lQ291bnQiOiIzIiwid29yZENvdW50IjoiNDAifSwidGFnIjoiJGl0ZW0xX2MifQ==</bd:templateData>
          </p:ext>
        </p:extLst>
      </p:sp>
      <p:sp>
        <p:nvSpPr>
          <p:cNvPr id="3" name="TextBox 5">
            <a:extLst>
              <a:ext uri="{FF2B5EF4-FFF2-40B4-BE49-F238E27FC236}">
                <a16:creationId xmlns:a16="http://schemas.microsoft.com/office/drawing/2014/main" id="{118D5985-943D-31AE-601B-8BC2A5E9E31B}"/>
              </a:ext>
            </a:extLst>
          </p:cNvPr>
          <p:cNvSpPr txBox="1"/>
          <p:nvPr/>
        </p:nvSpPr>
        <p:spPr>
          <a:xfrm>
            <a:off x="617169" y="1018040"/>
            <a:ext cx="3893800" cy="829460"/>
          </a:xfrm>
          <a:prstGeom prst="rect">
            <a:avLst/>
          </a:prstGeom>
          <a:ln/>
        </p:spPr>
        <p:txBody>
          <a:bodyPr vert="horz" wrap="square" lIns="114300" tIns="57150" rIns="114300" bIns="57150" rtlCol="0" anchor="ctr" anchorCtr="0">
            <a:noAutofit/>
          </a:bodyPr>
          <a:lstStyle/>
          <a:p>
            <a:pPr>
              <a:lnSpc>
                <a:spcPct val="77000"/>
              </a:lnSpc>
            </a:pPr>
            <a:r>
              <a:rPr lang="zh-CN" altLang="en-US" sz="2000" b="1" dirty="0">
                <a:solidFill>
                  <a:schemeClr val="accent1">
                    <a:alpha val="100000"/>
                  </a:schemeClr>
                </a:solidFill>
                <a:latin typeface="Noto Sans SC"/>
                <a:ea typeface="Noto Sans SC"/>
              </a:rPr>
              <a:t>客户需求攻坚与定制化方案落地</a:t>
            </a:r>
            <a:endParaRPr lang="en-US" sz="2000" b="1" dirty="0">
              <a:solidFill>
                <a:schemeClr val="accent1">
                  <a:alpha val="100000"/>
                </a:schemeClr>
              </a:solidFill>
              <a:latin typeface="Noto Sans SC"/>
              <a:ea typeface="Noto Sans SC"/>
            </a:endParaRPr>
          </a:p>
        </p:txBody>
        <p:extLst mod="1">
          <p:ext uri="http://schemas.baidu.com/office/drawing/2023/templateData">
            <bd:templateData xmlns="" xmlns:bd="http://schemas.baidu.com/office/drawing/2023/templateData">eyJfdGVtcGxhdGVEYXRhIjp7ImNvbnRlbnRUeXBlIjoiJGl0ZW0xX3RpdGxlIiwibGluZUNvdW50IjoiMSIsIndvcmRDb3VudCI6IjI2In0sInRhZyI6IiRpdGVtMV90aXRsZSJ9</bd:templateData>
          </p:ext>
        </p:extLst>
      </p:sp>
      <p:sp>
        <p:nvSpPr>
          <p:cNvPr id="6" name="TextBox 6">
            <a:extLst>
              <a:ext uri="{FF2B5EF4-FFF2-40B4-BE49-F238E27FC236}">
                <a16:creationId xmlns:a16="http://schemas.microsoft.com/office/drawing/2014/main" id="{6E4F07FA-1A96-CF98-BDD2-EB2CC97CA25D}"/>
              </a:ext>
            </a:extLst>
          </p:cNvPr>
          <p:cNvSpPr txBox="1"/>
          <p:nvPr/>
        </p:nvSpPr>
        <p:spPr>
          <a:xfrm>
            <a:off x="6580339" y="4885151"/>
            <a:ext cx="5611661" cy="1333806"/>
          </a:xfrm>
          <a:prstGeom prst="rect">
            <a:avLst/>
          </a:prstGeom>
          <a:ln/>
        </p:spPr>
        <p:txBody>
          <a:bodyPr vert="horz" wrap="square" lIns="114300" tIns="57150" rIns="114300" bIns="57150" rtlCol="0" anchor="t" anchorCtr="0">
            <a:noAutofit/>
          </a:bodyPr>
          <a:lstStyle/>
          <a:p>
            <a:r>
              <a:rPr lang="zh-CN" altLang="en-US" sz="1600" dirty="0"/>
              <a:t>为合作伙伴提供二开框架讲解、接口说明等深度技术支持，推动冯工、马工等顺利完成地图模块开发。</a:t>
            </a:r>
          </a:p>
          <a:p>
            <a:r>
              <a:rPr lang="zh-CN" altLang="en-US" sz="1600" dirty="0"/>
              <a:t>将项目经验沉淀为标准化技术支撑流程与文档，提升团队复用的效率。</a:t>
            </a:r>
            <a:endParaRPr lang="en-US" altLang="zh-CN" sz="1600" dirty="0"/>
          </a:p>
          <a:p>
            <a:r>
              <a:rPr lang="zh-CN" altLang="en-US" sz="1600" dirty="0"/>
              <a:t>对红沿河的伙伴进行技术培训，使其更好地完成开发工作</a:t>
            </a:r>
          </a:p>
        </p:txBody>
        <p:extLst mod="1">
          <p:ext uri="http://schemas.baidu.com/office/drawing/2023/templateData">
            <bd:templateData xmlns="" xmlns:bd="http://schemas.baidu.com/office/drawing/2023/templateData">eyJfdGVtcGxhdGVEYXRhIjp7ImNvbnRlbnRUeXBlIjoiJGl0ZW0yX2MiLCJsaW5lQ291bnQiOiIzIiwid29yZENvdW50IjoiNDAifSwidGFnIjoiJGl0ZW0yX2MifQ==</bd:templateData>
          </p:ext>
        </p:extLst>
      </p:sp>
      <p:sp>
        <p:nvSpPr>
          <p:cNvPr id="7" name="TextBox 7">
            <a:extLst>
              <a:ext uri="{FF2B5EF4-FFF2-40B4-BE49-F238E27FC236}">
                <a16:creationId xmlns:a16="http://schemas.microsoft.com/office/drawing/2014/main" id="{038F0969-5A54-4378-7A2C-0AE1ADE3139B}"/>
              </a:ext>
            </a:extLst>
          </p:cNvPr>
          <p:cNvSpPr txBox="1"/>
          <p:nvPr/>
        </p:nvSpPr>
        <p:spPr>
          <a:xfrm>
            <a:off x="6438377" y="4414757"/>
            <a:ext cx="2689704" cy="470394"/>
          </a:xfrm>
          <a:prstGeom prst="rect">
            <a:avLst/>
          </a:prstGeom>
          <a:ln/>
        </p:spPr>
        <p:txBody>
          <a:bodyPr vert="horz" wrap="square" lIns="114300" tIns="57150" rIns="114300" bIns="57150" rtlCol="0" anchor="ctr" anchorCtr="0">
            <a:noAutofit/>
          </a:bodyPr>
          <a:lstStyle/>
          <a:p>
            <a:pPr>
              <a:lnSpc>
                <a:spcPct val="77000"/>
              </a:lnSpc>
            </a:pPr>
            <a:r>
              <a:rPr lang="zh-CN" altLang="en-US" sz="2000" b="1" dirty="0">
                <a:solidFill>
                  <a:schemeClr val="accent1">
                    <a:alpha val="100000"/>
                  </a:schemeClr>
                </a:solidFill>
                <a:latin typeface="Noto Sans SC"/>
                <a:ea typeface="Noto Sans SC"/>
              </a:rPr>
              <a:t>技术赋能与知识沉淀</a:t>
            </a:r>
            <a:endParaRPr lang="en-US" sz="2000" b="1" dirty="0">
              <a:solidFill>
                <a:schemeClr val="accent1">
                  <a:alpha val="100000"/>
                </a:schemeClr>
              </a:solidFill>
              <a:latin typeface="Noto Sans SC"/>
              <a:ea typeface="Noto Sans SC"/>
            </a:endParaRPr>
          </a:p>
        </p:txBody>
        <p:extLst mod="1">
          <p:ext uri="http://schemas.baidu.com/office/drawing/2023/templateData">
            <bd:templateData xmlns="" xmlns:bd="http://schemas.baidu.com/office/drawing/2023/templateData">eyJfdGVtcGxhdGVEYXRhIjp7ImNvbnRlbnRUeXBlIjoiJGl0ZW0yX3RpdGxlIiwibGluZUNvdW50IjoiMSIsIndvcmRDb3VudCI6IjI2In0sInRhZyI6IiRpdGVtMl90aXRsZSJ9</bd:templateData>
          </p:ext>
        </p:extLst>
      </p:sp>
      <p:sp>
        <p:nvSpPr>
          <p:cNvPr id="8" name="TextBox 8">
            <a:extLst>
              <a:ext uri="{FF2B5EF4-FFF2-40B4-BE49-F238E27FC236}">
                <a16:creationId xmlns:a16="http://schemas.microsoft.com/office/drawing/2014/main" id="{4A89718A-DD08-C464-B176-27375B22331E}"/>
              </a:ext>
            </a:extLst>
          </p:cNvPr>
          <p:cNvSpPr txBox="1"/>
          <p:nvPr/>
        </p:nvSpPr>
        <p:spPr>
          <a:xfrm>
            <a:off x="617167" y="3086549"/>
            <a:ext cx="5821210" cy="1171928"/>
          </a:xfrm>
          <a:prstGeom prst="rect">
            <a:avLst/>
          </a:prstGeom>
          <a:ln/>
        </p:spPr>
        <p:txBody>
          <a:bodyPr vert="horz" wrap="square" lIns="114300" tIns="57150" rIns="114300" bIns="57150" rtlCol="0" anchor="t" anchorCtr="0">
            <a:noAutofit/>
          </a:bodyPr>
          <a:lstStyle/>
          <a:p>
            <a:r>
              <a:rPr lang="zh-CN" altLang="en-US" sz="1600" dirty="0"/>
              <a:t>重构客户数据清洗流程，引入自动化校验机制，将数据错误率从</a:t>
            </a:r>
            <a:r>
              <a:rPr lang="en-US" altLang="zh-CN" sz="1600" dirty="0"/>
              <a:t>5%</a:t>
            </a:r>
            <a:r>
              <a:rPr lang="zh-CN" altLang="en-US" sz="1600" dirty="0"/>
              <a:t>降至</a:t>
            </a:r>
            <a:r>
              <a:rPr lang="en-US" altLang="zh-CN" sz="1600" dirty="0"/>
              <a:t>0.3%</a:t>
            </a:r>
            <a:r>
              <a:rPr lang="zh-CN" altLang="en-US" sz="1600" dirty="0"/>
              <a:t>。</a:t>
            </a:r>
          </a:p>
          <a:p>
            <a:r>
              <a:rPr lang="zh-CN" altLang="en-US" sz="1600" dirty="0"/>
              <a:t>解决红沿河数据流时好时坏的生产隐患，提升系统稳定性与客户信任度。</a:t>
            </a:r>
          </a:p>
        </p:txBody>
        <p:extLst mod="1">
          <p:ext uri="http://schemas.baidu.com/office/drawing/2023/templateData">
            <bd:templateData xmlns="" xmlns:bd="http://schemas.baidu.com/office/drawing/2023/templateData">eyJfdGVtcGxhdGVEYXRhIjp7ImNvbnRlbnRUeXBlIjoiJGl0ZW0zX2MiLCJsaW5lQ291bnQiOiIzIiwid29yZENvdW50IjoiNDAifSwidGFnIjoiJGl0ZW0zX2MifQ==</bd:templateData>
          </p:ext>
        </p:extLst>
      </p:sp>
      <p:sp>
        <p:nvSpPr>
          <p:cNvPr id="10" name="TextBox 9">
            <a:extLst>
              <a:ext uri="{FF2B5EF4-FFF2-40B4-BE49-F238E27FC236}">
                <a16:creationId xmlns:a16="http://schemas.microsoft.com/office/drawing/2014/main" id="{76BFDF6D-BF94-96B3-A9C2-C4CE6C736B41}"/>
              </a:ext>
            </a:extLst>
          </p:cNvPr>
          <p:cNvSpPr txBox="1"/>
          <p:nvPr/>
        </p:nvSpPr>
        <p:spPr>
          <a:xfrm>
            <a:off x="617167" y="2600212"/>
            <a:ext cx="5129359" cy="710213"/>
          </a:xfrm>
          <a:prstGeom prst="rect">
            <a:avLst/>
          </a:prstGeom>
          <a:ln/>
        </p:spPr>
        <p:txBody>
          <a:bodyPr vert="horz" wrap="square" lIns="114300" tIns="57150" rIns="114300" bIns="57150" rtlCol="0" anchor="ctr" anchorCtr="0">
            <a:noAutofit/>
          </a:bodyPr>
          <a:lstStyle/>
          <a:p>
            <a:pPr>
              <a:lnSpc>
                <a:spcPct val="77000"/>
              </a:lnSpc>
            </a:pPr>
            <a:r>
              <a:rPr lang="zh-CN" altLang="en-US" sz="2000" b="1" dirty="0">
                <a:solidFill>
                  <a:schemeClr val="accent1">
                    <a:alpha val="100000"/>
                  </a:schemeClr>
                </a:solidFill>
                <a:latin typeface="Noto Sans SC"/>
                <a:ea typeface="Noto Sans SC"/>
                <a:cs typeface="Noto Sans SC"/>
              </a:rPr>
              <a:t>数据流程优化与稳定性建设</a:t>
            </a:r>
            <a:endParaRPr lang="en-US" sz="20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eyJfdGVtcGxhdGVEYXRhIjp7ImNvbnRlbnRUeXBlIjoiJGl0ZW0zX3RpdGxlIiwibGluZUNvdW50IjoiMSIsIndvcmRDb3VudCI6IjI2In0sInRhZyI6IiRpdGVtM190aXRsZSJ9</bd:templateData>
          </p:ext>
        </p:extLst>
      </p:sp>
      <p:pic>
        <p:nvPicPr>
          <p:cNvPr id="14" name="图片 13">
            <a:extLst>
              <a:ext uri="{FF2B5EF4-FFF2-40B4-BE49-F238E27FC236}">
                <a16:creationId xmlns:a16="http://schemas.microsoft.com/office/drawing/2014/main" id="{4CD12337-DB43-F118-0E14-9874A45E0F2F}"/>
              </a:ext>
            </a:extLst>
          </p:cNvPr>
          <p:cNvPicPr>
            <a:picLocks noChangeAspect="1"/>
          </p:cNvPicPr>
          <p:nvPr/>
        </p:nvPicPr>
        <p:blipFill>
          <a:blip r:embed="rId3"/>
          <a:stretch>
            <a:fillRect/>
          </a:stretch>
        </p:blipFill>
        <p:spPr>
          <a:xfrm>
            <a:off x="813274" y="4148633"/>
            <a:ext cx="5282725" cy="2443679"/>
          </a:xfrm>
          <a:prstGeom prst="rect">
            <a:avLst/>
          </a:prstGeom>
        </p:spPr>
      </p:pic>
    </p:spTree>
  </p:cSld>
  <p:clrMapOvr>
    <a:masterClrMapping/>
  </p:clrMapOvr>
  <p:extLst mod="1">
    <p:ext uri="http://schemas.baidu.com/office/drawing/2023/templateData">
      <bd:templateData xmlns="" xmlns:bd="http://schemas.baidu.com/office/drawing/2023/templateData">eyJtZCI6IiMjIOS6p+WTgeefpeivhuS4juihjOS4muiupOefpVxuIyMjIOS6p+WTgeS9k+ezu+a3seW6puWtpuS5oFxu5a6M5oiQ5YWs5Y+45YWo6YOo5Lqn5ZOB57q/55qE5oqA5pyv6K6k6K+B77yM5Yi25L2c5a+55q+U56ue5ZOB55qE5Yqf6IO955+p6Zi15Zu+77yM5Zyo5YaF6YOo5Z+56K6t5Lit6I636K+EXCLmnIDkvbPlrabkuaDmoYjkvotcIuOAglxuIyMjIOihjOS4muino+WGs+aWueahiOayiea3gFxu56CU56m26YeR6J6N44CB6Zu25ZSu6KGM5LiaVE9QMTDlrqLmiLfmoYjkvovvvIzmj5Dngrzlh7o15aWX5qCH5YeG5YyW6Kej5Yaz5pa55qGI5qih5p2/77yM5aSn5bmF5o+Q5Y2H5ZCM57G75a6i5oi35pyN5Yqh5pWI546H44CCXG4jIyMg5biC5Zy66LaL5Yq/5rSe5a+fXG7lrprmnJ/ovpPlh7rooYzkuJrliIbmnpDmnIjmiqXvvIzph43ngrnlhbPms6jlrqLmiLfmlbDlrZfljJbmiJDnhp/luqbmvJTlj5jvvIzlh4bnoa7pooTmtYtTYWFT6KGM5Lia5LuO5bel5YW35ZCR5bmz5Y+w6L2s5Z6L6LaL5Yq/77yM5Li66YOo6Zeo5oiY55Wl6LCD5pW05o+Q5L6b5L6d5o2u44CCIiwidHBsaWQiOiIxMDAwMCIsInRwbE5hbWUiOiJsaXN0M19pbWc1IiwiZWRpdGVkIjoiZmFsc2UifQ==</bd:templateData>
    </p:ext>
  </p:extLs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4000"/>
          </a:stretch>
        </a:blipFill>
        <a:effectLst/>
      </p:bgPr>
    </p:bg>
    <p:spTree>
      <p:nvGrpSpPr>
        <p:cNvPr id="1" name=""/>
        <p:cNvGrpSpPr/>
        <p:nvPr/>
      </p:nvGrpSpPr>
      <p:grpSpPr>
        <a:xfrm>
          <a:off x="0" y="0"/>
          <a:ext cx="0" cy="0"/>
          <a:chOff x="0" y="0"/>
          <a:chExt cx="0" cy="0"/>
        </a:xfrm>
      </p:grpSpPr>
      <p:sp>
        <p:nvSpPr>
          <p:cNvPr id="2" name="TextBox 2"/>
          <p:cNvSpPr txBox="1"/>
          <p:nvPr/>
        </p:nvSpPr>
        <p:spPr>
          <a:xfrm>
            <a:off x="485043" y="2325785"/>
            <a:ext cx="8124825" cy="1841594"/>
          </a:xfrm>
          <a:prstGeom prst="rect">
            <a:avLst/>
          </a:prstGeom>
          <a:ln/>
        </p:spPr>
        <p:txBody>
          <a:bodyPr vert="horz" wrap="square" lIns="123825" tIns="123825" rIns="57150" bIns="123825" rtlCol="0" anchor="t" anchorCtr="0">
            <a:spAutoFit/>
          </a:bodyPr>
          <a:lstStyle/>
          <a:p>
            <a:pPr>
              <a:lnSpc>
                <a:spcPct val="120000"/>
              </a:lnSpc>
            </a:pPr>
            <a:r>
              <a:rPr lang="en-US" sz="4500" b="1" dirty="0" err="1">
                <a:solidFill>
                  <a:schemeClr val="tx2">
                    <a:lumMod val="10000"/>
                    <a:lumOff val="90000"/>
                  </a:schemeClr>
                </a:solidFill>
                <a:latin typeface="Microsoft Yahei"/>
                <a:ea typeface="Microsoft Yahei"/>
                <a:cs typeface="Microsoft Yahei"/>
              </a:rPr>
              <a:t>实践与贡献</a:t>
            </a:r>
            <a:r>
              <a:rPr lang="en-US" sz="4500" b="1" dirty="0">
                <a:solidFill>
                  <a:schemeClr val="tx2">
                    <a:lumMod val="10000"/>
                    <a:lumOff val="90000"/>
                  </a:schemeClr>
                </a:solidFill>
                <a:latin typeface="Microsoft Yahei"/>
                <a:ea typeface="Microsoft Yahei"/>
                <a:cs typeface="Microsoft Yahei"/>
              </a:rPr>
              <a:t>——</a:t>
            </a:r>
            <a:r>
              <a:rPr lang="en-US" sz="4500" b="1" dirty="0" err="1">
                <a:solidFill>
                  <a:schemeClr val="tx2">
                    <a:lumMod val="10000"/>
                    <a:lumOff val="90000"/>
                  </a:schemeClr>
                </a:solidFill>
                <a:latin typeface="Microsoft Yahei"/>
                <a:ea typeface="Microsoft Yahei"/>
                <a:cs typeface="Microsoft Yahei"/>
              </a:rPr>
              <a:t>履行职责，输出价值</a:t>
            </a:r>
            <a:endParaRPr lang="en-US" sz="4500" b="1" dirty="0">
              <a:solidFill>
                <a:schemeClr val="tx2">
                  <a:lumMod val="10000"/>
                  <a:lumOff val="90000"/>
                </a:schemeClr>
              </a:solidFill>
              <a:latin typeface="Microsoft Yahei"/>
              <a:ea typeface="Microsoft Yahei"/>
              <a:cs typeface="Microsoft Yahei"/>
            </a:endParaRPr>
          </a:p>
        </p:txBody>
        <p:extLst mod="1">
          <p:ext uri="http://schemas.baidu.com/office/drawing/2023/templateData">
            <bd:templateData xmlns="" xmlns:bd="http://schemas.baidu.com/office/drawing/2023/templateData">eyJfdGVtcGxhdGVEYXRhIjp7ImNvbnRlbnRUeXBlIjoiJHRpdGxlIiwibGluZUNvdW50IjoiMiIsIndvcmRDb3VudCI6IjEyIn0sInRhZyI6IiR0aXRsZSJ9</bd:templateData>
          </p:ext>
        </p:extLst>
      </p:sp>
      <p:sp>
        <p:nvSpPr>
          <p:cNvPr id="3" name="TextBox 3"/>
          <p:cNvSpPr txBox="1"/>
          <p:nvPr/>
        </p:nvSpPr>
        <p:spPr>
          <a:xfrm>
            <a:off x="10673431" y="2624328"/>
            <a:ext cx="1518569" cy="1543051"/>
          </a:xfrm>
          <a:prstGeom prst="rect">
            <a:avLst/>
          </a:prstGeom>
          <a:ln/>
        </p:spPr>
        <p:txBody>
          <a:bodyPr vert="horz" wrap="square" lIns="123825" tIns="123825" rIns="57150" bIns="123825" rtlCol="0" anchor="t" anchorCtr="0">
            <a:spAutoFit/>
          </a:bodyPr>
          <a:lstStyle/>
          <a:p>
            <a:pPr>
              <a:lnSpc>
                <a:spcPct val="120000"/>
              </a:lnSpc>
            </a:pPr>
            <a:r>
              <a:rPr lang="en-US" sz="7650" b="1" dirty="0">
                <a:solidFill>
                  <a:schemeClr val="accent1">
                    <a:alpha val="100000"/>
                  </a:schemeClr>
                </a:solidFill>
                <a:latin typeface="Microsoft Yahei"/>
                <a:ea typeface="Microsoft Yahei"/>
                <a:cs typeface="Microsoft Yahei"/>
              </a:rPr>
              <a:t>02</a:t>
            </a:r>
          </a:p>
        </p:txBody>
        <p:extLst mod="1">
          <p:ext uri="http://schemas.baidu.com/office/drawing/2023/templateData">
            <bd:templateData xmlns="" xmlns:bd="http://schemas.baidu.com/office/drawing/2023/templateData">eyJfdGVtcGxhdGVEYXRhIjp7ImNvbnRlbnRUeXBlIjoiJG51bWJlciIsImxpbmVDb3VudCI6IjEiLCJ3b3JkQ291bnQiOiI3In0sInRhZyI6Im5vRWRpdCJ9</bd:templateData>
          </p:ext>
        </p:extLst>
      </p:sp>
    </p:spTree>
  </p:cSld>
  <p:clrMapOvr>
    <a:masterClrMapping/>
  </p:clrMapOvr>
  <p:extLst mod="1">
    <p:ext uri="http://schemas.baidu.com/office/drawing/2023/templateData">
      <bd:templateData xmlns="" xmlns:bd="http://schemas.baidu.com/office/drawing/2023/templateData">eyJtZCI6IiMjIOWunui3teS4jui0oeeMruKAlOKAlOWxpeihjOiBjOi0o++8jOi+k+WHuuS7t+WAvCIsInRwbGlkIjoiMTAwMDAiLCJ0cGxOYW1lIjoiaDJ0aXRsZV9jdXN0b20iLCJlZGl0ZWQiOiJmYWxzZSJ9</bd:templateData>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sp>
        <p:nvSpPr>
          <p:cNvPr id="2" name="AutoShape 2"/>
          <p:cNvSpPr/>
          <p:nvPr/>
        </p:nvSpPr>
        <p:spPr>
          <a:xfrm>
            <a:off x="-12203" y="2031785"/>
            <a:ext cx="12215953" cy="3790487"/>
          </a:xfrm>
          <a:prstGeom prst="rect">
            <a:avLst/>
          </a:prstGeom>
          <a:solidFill>
            <a:schemeClr val="accent1">
              <a:alpha val="10000"/>
            </a:schemeClr>
          </a:solidFill>
          <a:ln/>
        </p:spPr>
        <p:extLst mod="1">
          <p:ext uri="http://schemas.baidu.com/office/drawing/2023/templateData">
            <bd:templateData xmlns="" xmlns:bd="http://schemas.baidu.com/office/drawing/2023/templateData">eyJ0YWciOiJub0VkaXQifQ==</bd:templateData>
          </p:ext>
        </p:extLst>
      </p:sp>
      <p:sp>
        <p:nvSpPr>
          <p:cNvPr id="3" name="TextBox 3"/>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dirty="0" err="1">
                <a:solidFill>
                  <a:schemeClr val="dk1">
                    <a:alpha val="100000"/>
                  </a:schemeClr>
                </a:solidFill>
                <a:latin typeface="Noto Sans SC"/>
                <a:ea typeface="Noto Sans SC"/>
                <a:cs typeface="Noto Sans SC"/>
              </a:rPr>
              <a:t>个人成长与能力提升</a:t>
            </a:r>
            <a:endParaRPr lang="en-US" sz="3000" b="1" dirty="0">
              <a:solidFill>
                <a:schemeClr val="dk1">
                  <a:alpha val="100000"/>
                </a:schemeClr>
              </a:solidFill>
              <a:latin typeface="Noto Sans SC"/>
              <a:ea typeface="Noto Sans SC"/>
              <a:cs typeface="Noto Sans SC"/>
            </a:endParaRPr>
          </a:p>
        </p:txBody>
        <p:extLst>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pic>
        <p:nvPicPr>
          <p:cNvPr id="4" name="Picture 4"/>
          <p:cNvPicPr>
            <a:picLocks noChangeAspect="1"/>
          </p:cNvPicPr>
          <p:nvPr/>
        </p:nvPicPr>
        <p:blipFill>
          <a:blip r:embed="rId2">
            <a:alphaModFix/>
          </a:blip>
          <a:srcRect/>
          <a:stretch>
            <a:fillRect/>
          </a:stretch>
        </p:blipFill>
        <p:spPr>
          <a:xfrm>
            <a:off x="-6460" y="1306250"/>
            <a:ext cx="3445093" cy="4882264"/>
          </a:xfrm>
          <a:prstGeom prst="rect">
            <a:avLst/>
          </a:prstGeom>
        </p:spPr>
        <p:extLst>
          <p:ext uri="http://schemas.baidu.com/office/drawing/2023/templateData">
            <bd:templateData xmlns="" xmlns:bd="http://schemas.baidu.com/office/drawing/2023/templateData">eyJfdGVtcGxhdGVEYXRhIjp7ImNvbnRlbnRUeXBlIjoiJGltZzAifSwidGFnIjoiJGltZzAifQ==</bd:templateData>
          </p:ext>
        </p:extLst>
      </p:pic>
      <p:sp>
        <p:nvSpPr>
          <p:cNvPr id="5" name="AutoShape 5"/>
          <p:cNvSpPr/>
          <p:nvPr/>
        </p:nvSpPr>
        <p:spPr>
          <a:xfrm>
            <a:off x="3663624" y="3142239"/>
            <a:ext cx="2370067" cy="676456"/>
          </a:xfrm>
          <a:prstGeom prst="rect">
            <a:avLst/>
          </a:prstGeom>
          <a:noFill/>
          <a:ln/>
        </p:spPr>
        <p:txBody>
          <a:bodyPr vert="horz" wrap="square" lIns="91440" tIns="45720" rIns="91440" bIns="45720" rtlCol="0" anchor="ctr" anchorCtr="0">
            <a:normAutofit/>
          </a:bodyPr>
          <a:lstStyle/>
          <a:p>
            <a:pPr algn="ctr">
              <a:lnSpc>
                <a:spcPct val="120000"/>
              </a:lnSpc>
              <a:defRPr/>
            </a:pPr>
            <a:r>
              <a:rPr lang="zh-CN" altLang="en-US" b="1" dirty="0"/>
              <a:t>技术能力</a:t>
            </a:r>
            <a:endParaRPr lang="en-US" sz="1100" dirty="0"/>
          </a:p>
        </p:txBody>
        <p:extLst mod="1">
          <p:ext uri="http://schemas.baidu.com/office/drawing/2023/templateData">
            <bd:templateData xmlns="" xmlns:bd="http://schemas.baidu.com/office/drawing/2023/templateData">eyJfdGVtcGxhdGVEYXRhIjp7ImNvbnRlbnRUeXBlIjoiJGl0ZW0xX3RpdGxlIiwibGluZUNvdW50IjoiMiIsIndvcmRDb3VudCI6IjgifSwidGFnIjoiJGl0ZW0xX3RpdGxlIn0=</bd:templateData>
          </p:ext>
        </p:extLst>
      </p:sp>
      <p:sp>
        <p:nvSpPr>
          <p:cNvPr id="6" name="TextBox 6"/>
          <p:cNvSpPr txBox="1"/>
          <p:nvPr/>
        </p:nvSpPr>
        <p:spPr>
          <a:xfrm>
            <a:off x="3601542" y="3818696"/>
            <a:ext cx="2494231" cy="1574182"/>
          </a:xfrm>
          <a:prstGeom prst="rect">
            <a:avLst/>
          </a:prstGeom>
          <a:ln/>
        </p:spPr>
        <p:txBody>
          <a:bodyPr vert="horz" wrap="square" lIns="123825" tIns="57150" rIns="57150" bIns="57150" rtlCol="0" anchor="t" anchorCtr="0">
            <a:noAutofit/>
          </a:bodyPr>
          <a:lstStyle/>
          <a:p>
            <a:pPr>
              <a:lnSpc>
                <a:spcPct val="140000"/>
              </a:lnSpc>
            </a:pPr>
            <a:r>
              <a:rPr lang="zh-CN" altLang="en-US" sz="1600" dirty="0"/>
              <a:t>从传统编码思维转向“组装式”开发，掌握无代码平台架构与二开能力</a:t>
            </a:r>
            <a:endParaRPr lang="en-US" sz="1200" dirty="0">
              <a:solidFill>
                <a:schemeClr val="dk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eyJfdGVtcGxhdGVEYXRhIjp7ImNvbnRlbnRUeXBlIjoiJGl0ZW0xX2MiLCJsaW5lQ291bnQiOiI1Iiwid29yZENvdW50IjoiMTIifSwidGFnIjoiJGl0ZW0xX2MifQ==</bd:templateData>
          </p:ext>
        </p:extLst>
      </p:sp>
      <p:sp>
        <p:nvSpPr>
          <p:cNvPr id="7" name="AutoShape 7"/>
          <p:cNvSpPr/>
          <p:nvPr/>
        </p:nvSpPr>
        <p:spPr>
          <a:xfrm>
            <a:off x="6463136" y="3169478"/>
            <a:ext cx="2350643" cy="621980"/>
          </a:xfrm>
          <a:prstGeom prst="rect">
            <a:avLst/>
          </a:prstGeom>
          <a:noFill/>
          <a:ln/>
        </p:spPr>
        <p:txBody>
          <a:bodyPr vert="horz" wrap="square" lIns="91440" tIns="45720" rIns="91440" bIns="45720" rtlCol="0" anchor="ctr" anchorCtr="0">
            <a:normAutofit/>
          </a:bodyPr>
          <a:lstStyle/>
          <a:p>
            <a:pPr algn="ctr">
              <a:lnSpc>
                <a:spcPct val="120000"/>
              </a:lnSpc>
              <a:defRPr/>
            </a:pPr>
            <a:r>
              <a:rPr lang="zh-CN" altLang="en-US" b="1" dirty="0"/>
              <a:t>业务理解</a:t>
            </a:r>
            <a:endParaRPr lang="en-US" sz="1100" dirty="0"/>
          </a:p>
        </p:txBody>
        <p:extLst mod="1">
          <p:ext uri="http://schemas.baidu.com/office/drawing/2023/templateData">
            <bd:templateData xmlns="" xmlns:bd="http://schemas.baidu.com/office/drawing/2023/templateData">eyJfdGVtcGxhdGVEYXRhIjp7ImNvbnRlbnRUeXBlIjoiJGl0ZW0yX3RpdGxlIiwibGluZUNvdW50IjoiMSIsIndvcmRDb3VudCI6IjgifSwidGFnIjoiJGl0ZW0yX3RpdGxlIn0=</bd:templateData>
          </p:ext>
        </p:extLst>
      </p:sp>
      <p:grpSp>
        <p:nvGrpSpPr>
          <p:cNvPr id="8" name="Group 8"/>
          <p:cNvGrpSpPr/>
          <p:nvPr/>
        </p:nvGrpSpPr>
        <p:grpSpPr>
          <a:xfrm>
            <a:off x="4524808" y="2388580"/>
            <a:ext cx="647700" cy="647700"/>
            <a:chOff x="4524808" y="2388580"/>
            <a:chExt cx="647700" cy="647700"/>
          </a:xfrm>
        </p:grpSpPr>
        <p:sp>
          <p:nvSpPr>
            <p:cNvPr id="9" name="AutoShape 9"/>
            <p:cNvSpPr/>
            <p:nvPr/>
          </p:nvSpPr>
          <p:spPr>
            <a:xfrm>
              <a:off x="4524808" y="2388580"/>
              <a:ext cx="647700" cy="647700"/>
            </a:xfrm>
            <a:prstGeom prst="ellipse">
              <a:avLst/>
            </a:prstGeom>
            <a:solidFill>
              <a:schemeClr val="accent1">
                <a:alpha val="100000"/>
              </a:schemeClr>
            </a:solidFill>
            <a:ln/>
          </p:spPr>
        </p:sp>
        <p:sp>
          <p:nvSpPr>
            <p:cNvPr id="10" name="Freeform 10"/>
            <p:cNvSpPr/>
            <p:nvPr/>
          </p:nvSpPr>
          <p:spPr>
            <a:xfrm>
              <a:off x="4704501" y="2568273"/>
              <a:ext cx="292001" cy="292001"/>
            </a:xfrm>
            <a:custGeom>
              <a:avLst/>
              <a:gdLst/>
              <a:ahLst/>
              <a:cxnLst/>
              <a:rect l="l" t="t" r="r" b="b"/>
              <a:pathLst>
                <a:path w="304800" h="304800">
                  <a:moveTo>
                    <a:pt x="0" y="209550"/>
                  </a:moveTo>
                  <a:lnTo>
                    <a:pt x="152410" y="247650"/>
                  </a:lnTo>
                  <a:lnTo>
                    <a:pt x="304800" y="209550"/>
                  </a:lnTo>
                  <a:lnTo>
                    <a:pt x="304800" y="247650"/>
                  </a:lnTo>
                  <a:lnTo>
                    <a:pt x="152410" y="285750"/>
                  </a:lnTo>
                  <a:lnTo>
                    <a:pt x="0" y="247650"/>
                  </a:lnTo>
                  <a:close/>
                </a:path>
                <a:path w="304800" h="304800">
                  <a:moveTo>
                    <a:pt x="0" y="133350"/>
                  </a:moveTo>
                  <a:lnTo>
                    <a:pt x="152410" y="171450"/>
                  </a:lnTo>
                  <a:lnTo>
                    <a:pt x="304800" y="133350"/>
                  </a:lnTo>
                  <a:lnTo>
                    <a:pt x="304800" y="171450"/>
                  </a:lnTo>
                  <a:lnTo>
                    <a:pt x="152410" y="209550"/>
                  </a:lnTo>
                  <a:lnTo>
                    <a:pt x="0" y="171450"/>
                  </a:lnTo>
                  <a:close/>
                </a:path>
                <a:path w="304800" h="304800">
                  <a:moveTo>
                    <a:pt x="0" y="57150"/>
                  </a:moveTo>
                  <a:lnTo>
                    <a:pt x="152410" y="19050"/>
                  </a:lnTo>
                  <a:lnTo>
                    <a:pt x="304800" y="57150"/>
                  </a:lnTo>
                  <a:lnTo>
                    <a:pt x="304800" y="95250"/>
                  </a:lnTo>
                  <a:lnTo>
                    <a:pt x="152410" y="133350"/>
                  </a:lnTo>
                  <a:lnTo>
                    <a:pt x="0" y="95250"/>
                  </a:lnTo>
                </a:path>
              </a:pathLst>
            </a:custGeom>
            <a:solidFill>
              <a:srgbClr val="FFFFFF">
                <a:alpha val="100000"/>
              </a:srgbClr>
            </a:solidFill>
            <a:ln/>
          </p:spPr>
        </p:sp>
      </p:grpSp>
      <p:grpSp>
        <p:nvGrpSpPr>
          <p:cNvPr id="11" name="Group 11"/>
          <p:cNvGrpSpPr/>
          <p:nvPr/>
        </p:nvGrpSpPr>
        <p:grpSpPr>
          <a:xfrm>
            <a:off x="7314608" y="2388580"/>
            <a:ext cx="647700" cy="647700"/>
            <a:chOff x="7314608" y="2388580"/>
            <a:chExt cx="647700" cy="647700"/>
          </a:xfrm>
        </p:grpSpPr>
        <p:sp>
          <p:nvSpPr>
            <p:cNvPr id="12" name="AutoShape 12"/>
            <p:cNvSpPr/>
            <p:nvPr/>
          </p:nvSpPr>
          <p:spPr>
            <a:xfrm>
              <a:off x="7314608" y="2388580"/>
              <a:ext cx="647700" cy="647700"/>
            </a:xfrm>
            <a:prstGeom prst="ellipse">
              <a:avLst/>
            </a:prstGeom>
            <a:solidFill>
              <a:schemeClr val="accent2">
                <a:alpha val="100000"/>
                <a:lumMod val="5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13" name="Freeform 13"/>
            <p:cNvSpPr/>
            <p:nvPr/>
          </p:nvSpPr>
          <p:spPr>
            <a:xfrm>
              <a:off x="7480729" y="2563626"/>
              <a:ext cx="331605" cy="331605"/>
            </a:xfrm>
            <a:custGeom>
              <a:avLst/>
              <a:gdLst/>
              <a:ahLst/>
              <a:cxnLst/>
              <a:rect l="l" t="t" r="r" b="b"/>
              <a:pathLst>
                <a:path w="304800" h="304800">
                  <a:moveTo>
                    <a:pt x="274320" y="243840"/>
                  </a:moveTo>
                  <a:lnTo>
                    <a:pt x="304800" y="243840"/>
                  </a:lnTo>
                  <a:lnTo>
                    <a:pt x="304800" y="259080"/>
                  </a:lnTo>
                  <a:cubicBezTo>
                    <a:pt x="304800" y="267500"/>
                    <a:pt x="297980" y="274320"/>
                    <a:pt x="289560" y="274320"/>
                  </a:cubicBezTo>
                  <a:lnTo>
                    <a:pt x="289560" y="274320"/>
                  </a:lnTo>
                  <a:lnTo>
                    <a:pt x="15240" y="274320"/>
                  </a:lnTo>
                  <a:cubicBezTo>
                    <a:pt x="6820" y="274320"/>
                    <a:pt x="0" y="267500"/>
                    <a:pt x="0" y="259080"/>
                  </a:cubicBezTo>
                  <a:lnTo>
                    <a:pt x="0" y="259080"/>
                  </a:lnTo>
                  <a:lnTo>
                    <a:pt x="0" y="243840"/>
                  </a:lnTo>
                  <a:lnTo>
                    <a:pt x="30480" y="243840"/>
                  </a:lnTo>
                  <a:lnTo>
                    <a:pt x="30480" y="60960"/>
                  </a:lnTo>
                  <a:cubicBezTo>
                    <a:pt x="30480" y="44196"/>
                    <a:pt x="44196" y="30480"/>
                    <a:pt x="60960" y="30480"/>
                  </a:cubicBezTo>
                  <a:lnTo>
                    <a:pt x="243840" y="30480"/>
                  </a:lnTo>
                  <a:cubicBezTo>
                    <a:pt x="260671" y="30480"/>
                    <a:pt x="274320" y="44129"/>
                    <a:pt x="274320" y="60960"/>
                  </a:cubicBezTo>
                  <a:lnTo>
                    <a:pt x="274320" y="60960"/>
                  </a:lnTo>
                  <a:lnTo>
                    <a:pt x="274320" y="243840"/>
                  </a:lnTo>
                  <a:close/>
                </a:path>
                <a:path w="304800" h="304800">
                  <a:moveTo>
                    <a:pt x="60960" y="60960"/>
                  </a:moveTo>
                  <a:lnTo>
                    <a:pt x="60960" y="198120"/>
                  </a:lnTo>
                  <a:lnTo>
                    <a:pt x="243840" y="198120"/>
                  </a:lnTo>
                  <a:lnTo>
                    <a:pt x="243840" y="60960"/>
                  </a:lnTo>
                  <a:lnTo>
                    <a:pt x="60960" y="60960"/>
                  </a:lnTo>
                  <a:close/>
                </a:path>
                <a:path w="304800" h="304800">
                  <a:moveTo>
                    <a:pt x="121920" y="228600"/>
                  </a:moveTo>
                  <a:lnTo>
                    <a:pt x="121920" y="243840"/>
                  </a:lnTo>
                  <a:lnTo>
                    <a:pt x="182880" y="243840"/>
                  </a:lnTo>
                  <a:lnTo>
                    <a:pt x="182880" y="228600"/>
                  </a:lnTo>
                  <a:lnTo>
                    <a:pt x="121920" y="228600"/>
                  </a:lnTo>
                </a:path>
              </a:pathLst>
            </a:custGeom>
            <a:solidFill>
              <a:srgbClr val="FFFFFF">
                <a:alpha val="100000"/>
              </a:srgbClr>
            </a:solidFill>
            <a:ln/>
          </p:spPr>
        </p:sp>
      </p:grpSp>
      <p:grpSp>
        <p:nvGrpSpPr>
          <p:cNvPr id="14" name="Group 14"/>
          <p:cNvGrpSpPr/>
          <p:nvPr/>
        </p:nvGrpSpPr>
        <p:grpSpPr>
          <a:xfrm>
            <a:off x="10305117" y="2388580"/>
            <a:ext cx="647700" cy="647700"/>
            <a:chOff x="10305117" y="2388580"/>
            <a:chExt cx="647700" cy="647700"/>
          </a:xfrm>
        </p:grpSpPr>
        <p:sp>
          <p:nvSpPr>
            <p:cNvPr id="15" name="AutoShape 15"/>
            <p:cNvSpPr/>
            <p:nvPr/>
          </p:nvSpPr>
          <p:spPr>
            <a:xfrm>
              <a:off x="10305117" y="2388580"/>
              <a:ext cx="647700" cy="647700"/>
            </a:xfrm>
            <a:prstGeom prst="ellipse">
              <a:avLst/>
            </a:prstGeom>
            <a:solidFill>
              <a:schemeClr val="accent3">
                <a:alpha val="100000"/>
              </a:schemeClr>
            </a:solidFill>
            <a:ln/>
          </p:spPr>
        </p:sp>
        <p:sp>
          <p:nvSpPr>
            <p:cNvPr id="16" name="Freeform 16"/>
            <p:cNvSpPr/>
            <p:nvPr/>
          </p:nvSpPr>
          <p:spPr>
            <a:xfrm>
              <a:off x="10463753" y="2557933"/>
              <a:ext cx="337298" cy="337298"/>
            </a:xfrm>
            <a:custGeom>
              <a:avLst/>
              <a:gdLst/>
              <a:ahLst/>
              <a:cxnLst/>
              <a:rect l="l" t="t" r="r" b="b"/>
              <a:pathLst>
                <a:path w="304800" h="304800">
                  <a:moveTo>
                    <a:pt x="147180" y="28632"/>
                  </a:moveTo>
                  <a:lnTo>
                    <a:pt x="19907" y="83468"/>
                  </a:lnTo>
                  <a:lnTo>
                    <a:pt x="147304" y="137874"/>
                  </a:lnTo>
                  <a:lnTo>
                    <a:pt x="276015" y="83344"/>
                  </a:lnTo>
                  <a:lnTo>
                    <a:pt x="147180" y="28632"/>
                  </a:lnTo>
                  <a:close/>
                </a:path>
                <a:path w="304800" h="304800">
                  <a:moveTo>
                    <a:pt x="152400" y="144723"/>
                  </a:moveTo>
                  <a:lnTo>
                    <a:pt x="152400" y="276168"/>
                  </a:lnTo>
                  <a:lnTo>
                    <a:pt x="276177" y="217408"/>
                  </a:lnTo>
                  <a:lnTo>
                    <a:pt x="276177" y="92145"/>
                  </a:lnTo>
                  <a:lnTo>
                    <a:pt x="152400" y="144723"/>
                  </a:lnTo>
                  <a:close/>
                </a:path>
                <a:path w="304800" h="304800">
                  <a:moveTo>
                    <a:pt x="19098" y="217408"/>
                  </a:moveTo>
                  <a:lnTo>
                    <a:pt x="143294" y="276168"/>
                  </a:lnTo>
                  <a:lnTo>
                    <a:pt x="143294" y="144723"/>
                  </a:lnTo>
                  <a:lnTo>
                    <a:pt x="19098" y="92145"/>
                  </a:lnTo>
                  <a:lnTo>
                    <a:pt x="19098" y="217408"/>
                  </a:lnTo>
                </a:path>
              </a:pathLst>
            </a:custGeom>
            <a:solidFill>
              <a:srgbClr val="FFFFFF">
                <a:alpha val="100000"/>
              </a:srgbClr>
            </a:solidFill>
            <a:ln/>
          </p:spPr>
        </p:sp>
      </p:grpSp>
      <p:sp>
        <p:nvSpPr>
          <p:cNvPr id="17" name="TextBox 17"/>
          <p:cNvSpPr txBox="1"/>
          <p:nvPr/>
        </p:nvSpPr>
        <p:spPr>
          <a:xfrm>
            <a:off x="9324820" y="3818696"/>
            <a:ext cx="2608295" cy="1574182"/>
          </a:xfrm>
          <a:prstGeom prst="rect">
            <a:avLst/>
          </a:prstGeom>
          <a:ln/>
        </p:spPr>
        <p:txBody>
          <a:bodyPr vert="horz" wrap="square" lIns="123825" tIns="57150" rIns="57150" bIns="57150" rtlCol="0" anchor="t" anchorCtr="0">
            <a:noAutofit/>
          </a:bodyPr>
          <a:lstStyle/>
          <a:p>
            <a:pPr>
              <a:lnSpc>
                <a:spcPct val="140000"/>
              </a:lnSpc>
            </a:pPr>
            <a:r>
              <a:rPr lang="zh-CN" altLang="en-US" sz="1600" dirty="0"/>
              <a:t>初步具备项目全周期管理意识，支持多项目并行推进</a:t>
            </a:r>
            <a:endParaRPr lang="en-US" sz="1600" dirty="0"/>
          </a:p>
        </p:txBody>
        <p:extLst mod="1">
          <p:ext uri="http://schemas.baidu.com/office/drawing/2023/templateData">
            <bd:templateData xmlns="" xmlns:bd="http://schemas.baidu.com/office/drawing/2023/templateData">eyJfdGVtcGxhdGVEYXRhIjp7ImNvbnRlbnRUeXBlIjoiJGl0ZW0zX2MiLCJsaW5lQ291bnQiOiI1Iiwid29yZENvdW50IjoiMTMifSwidGFnIjoiJGl0ZW0zX2MifQ==</bd:templateData>
          </p:ext>
        </p:extLst>
      </p:sp>
      <p:sp>
        <p:nvSpPr>
          <p:cNvPr id="18" name="TextBox 18"/>
          <p:cNvSpPr txBox="1"/>
          <p:nvPr/>
        </p:nvSpPr>
        <p:spPr>
          <a:xfrm>
            <a:off x="6364675" y="3818696"/>
            <a:ext cx="2547566" cy="1574182"/>
          </a:xfrm>
          <a:prstGeom prst="rect">
            <a:avLst/>
          </a:prstGeom>
          <a:ln/>
        </p:spPr>
        <p:txBody>
          <a:bodyPr vert="horz" wrap="square" lIns="123825" tIns="57150" rIns="57150" bIns="57150" rtlCol="0" anchor="t" anchorCtr="0">
            <a:noAutofit/>
          </a:bodyPr>
          <a:lstStyle/>
          <a:p>
            <a:pPr>
              <a:lnSpc>
                <a:spcPct val="140000"/>
              </a:lnSpc>
            </a:pPr>
            <a:r>
              <a:rPr lang="zh-CN" altLang="en-US" sz="1600" dirty="0"/>
              <a:t>深入客户业务场景，逐步具备需求转化与解决方案设计能力</a:t>
            </a:r>
            <a:endParaRPr lang="en-US" sz="1600" dirty="0"/>
          </a:p>
        </p:txBody>
        <p:extLst mod="1">
          <p:ext uri="http://schemas.baidu.com/office/drawing/2023/templateData">
            <bd:templateData xmlns="" xmlns:bd="http://schemas.baidu.com/office/drawing/2023/templateData">eyJfdGVtcGxhdGVEYXRhIjp7ImNvbnRlbnRUeXBlIjoiJGl0ZW0yX2MiLCJsaW5lQ291bnQiOiI1Iiwid29yZENvdW50IjoiMTIifSwidGFnIjoiJGl0ZW0yX2MifQ==</bd:templateData>
          </p:ext>
        </p:extLst>
      </p:sp>
      <p:cxnSp>
        <p:nvCxnSpPr>
          <p:cNvPr id="19" name="Connector 19"/>
          <p:cNvCxnSpPr/>
          <p:nvPr/>
        </p:nvCxnSpPr>
        <p:spPr>
          <a:xfrm>
            <a:off x="6225150" y="3216570"/>
            <a:ext cx="0" cy="1623471"/>
          </a:xfrm>
          <a:prstGeom prst="line">
            <a:avLst/>
          </a:prstGeom>
          <a:ln w="9525">
            <a:solidFill>
              <a:schemeClr val="accent1"/>
            </a:solidFill>
            <a:prstDash val="lg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 xmlns:bd="http://schemas.baidu.com/office/drawing/2023/templateData">eyJ0YWciOiJub0VkaXQifQ==</bd:templateData>
          </p:ext>
        </p:extLst>
      </p:cxnSp>
      <p:cxnSp>
        <p:nvCxnSpPr>
          <p:cNvPr id="20" name="Connector 20"/>
          <p:cNvCxnSpPr/>
          <p:nvPr/>
        </p:nvCxnSpPr>
        <p:spPr>
          <a:xfrm>
            <a:off x="9097670" y="3216570"/>
            <a:ext cx="0" cy="1623471"/>
          </a:xfrm>
          <a:prstGeom prst="line">
            <a:avLst/>
          </a:prstGeom>
          <a:ln w="9525">
            <a:solidFill>
              <a:schemeClr val="accent1"/>
            </a:solidFill>
            <a:prstDash val="lg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 xmlns:bd="http://schemas.baidu.com/office/drawing/2023/templateData">eyJ0YWciOiJub0VkaXQifQ==</bd:templateData>
          </p:ext>
        </p:extLst>
      </p:cxnSp>
      <p:sp>
        <p:nvSpPr>
          <p:cNvPr id="21" name="AutoShape 21"/>
          <p:cNvSpPr/>
          <p:nvPr/>
        </p:nvSpPr>
        <p:spPr>
          <a:xfrm>
            <a:off x="9453646" y="3169478"/>
            <a:ext cx="2350643" cy="621980"/>
          </a:xfrm>
          <a:prstGeom prst="rect">
            <a:avLst/>
          </a:prstGeom>
          <a:noFill/>
          <a:ln/>
        </p:spPr>
        <p:txBody>
          <a:bodyPr vert="horz" wrap="square" lIns="91440" tIns="45720" rIns="91440" bIns="45720" rtlCol="0" anchor="ctr" anchorCtr="0">
            <a:normAutofit/>
          </a:bodyPr>
          <a:lstStyle/>
          <a:p>
            <a:pPr algn="ctr">
              <a:lnSpc>
                <a:spcPct val="120000"/>
              </a:lnSpc>
              <a:defRPr/>
            </a:pPr>
            <a:r>
              <a:rPr lang="zh-CN" altLang="en-US" b="1" dirty="0"/>
              <a:t>项目管理</a:t>
            </a:r>
            <a:endParaRPr lang="en-US" sz="1100" dirty="0"/>
          </a:p>
        </p:txBody>
        <p:extLst mod="1">
          <p:ext uri="http://schemas.baidu.com/office/drawing/2023/templateData">
            <bd:templateData xmlns="" xmlns:bd="http://schemas.baidu.com/office/drawing/2023/templateData">eyJfdGVtcGxhdGVEYXRhIjp7ImNvbnRlbnRUeXBlIjoiJGl0ZW0zX3RpdGxlIiwibGluZUNvdW50IjoiMSIsIndvcmRDb3VudCI6IjgifSwidGFnIjoiJGl0ZW0zX3RpdGxlIn0=</bd:templateData>
          </p:ext>
        </p:extLst>
      </p:sp>
    </p:spTree>
  </p:cSld>
  <p:clrMapOvr>
    <a:masterClrMapping/>
  </p:clrMapOvr>
  <p:extLst mod="1">
    <p:ext uri="http://schemas.baidu.com/office/drawing/2023/templateData">
      <bd:templateData xmlns="" xmlns:bd="http://schemas.baidu.com/office/drawing/2023/templateData">eyJtZCI6IiMjIOS4quS6uuaIkOmVv+S4juiDveWKm+aPkOWNh1xuIyMjIOaKgOacr+iDveWKm+a3seWMllxu57O757uf5a2m5Lmg5pWw5o2u5LuT5bqT5p625p6E5LiO5a6e5pe26K6h566X5qGG5p6277yI5aaCRmxpbmvvvInvvIzpgJrov4forqTor4HogIPor5XlubblupTnlKjkuo7lrqLmiLfpobnnm67vvIzlrp7njrDmlbDmja7lpITnkIblu7bov5/ku47lsI/ml7bnuqfpmY3oh7PliIbpkp/nuqfjgIJcbiMjIyDlrqLmiLfmsp/pgJrnrZbnlaXmj5DljYdcbuWPguWKoOmrmOmYtuWVhuWKoeayn+mAmuWfueiure+8jOaOjOaPoemdnuaatOWKm+ayn+mAmuaKgOW3p++8jOWuouaIt+S8muiuruaViOeOh+aPkOmrmDUwJe+8jOWto+W6puWuouaIt+e7ree6pueOh+i+vjkyJeOAglxuIyMjIOihjOS4muiupOefpeS9k+ezu+WMllxu5rex5YWl56CU56m26Zu25ZSu6KGM5Lia5pWw5o2u5bqU55So5Zy65pmv77yM6L6T5Ye644CK6Zu25ZSu5a6i5oi35pWw5o2u6amx5Yqo5aKe6ZW/55m955qu5Lmm44CL77yM5oiQ5Li66YOo6Zeo6KGM5Lia5YiG5p6Q5Y+C6ICD6LWE5paZ44CCIiwidHBsaWQiOiIxMDAwMCIsInRwbE5hbWUiOiJsaXN0M18yMDI1MDYyNjI0IiwiZWRpdGVkIjoiZmFsc2UifQ==</bd:templateData>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2">
            <a:alphaModFix/>
          </a:blip>
          <a:srcRect l="13502" r="13502"/>
          <a:stretch>
            <a:fillRect/>
          </a:stretch>
        </p:blipFill>
        <p:spPr>
          <a:xfrm>
            <a:off x="8754492" y="930511"/>
            <a:ext cx="2848785" cy="5753326"/>
          </a:xfrm>
          <a:prstGeom prst="rect">
            <a:avLst/>
          </a:prstGeom>
        </p:spPr>
        <p:extLst mod="1">
          <p:ext uri="http://schemas.baidu.com/office/drawing/2023/templateData">
            <bd:templateData xmlns="" xmlns:bd="http://schemas.baidu.com/office/drawing/2023/templateData">eyJfdGVtcGxhdGVEYXRhIjp7ImNvbnRlbnRUeXBlIjoiJGltZzAifSwidGFnIjoiJGltZzAifQ==</bd:templateData>
          </p:ext>
        </p:extLst>
      </p:pic>
      <p:sp>
        <p:nvSpPr>
          <p:cNvPr id="4" name="TextBox 4"/>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dirty="0" err="1">
                <a:solidFill>
                  <a:schemeClr val="dk2">
                    <a:alpha val="100000"/>
                  </a:schemeClr>
                </a:solidFill>
                <a:latin typeface="Noto Sans SC"/>
                <a:ea typeface="Noto Sans SC"/>
                <a:cs typeface="Noto Sans SC"/>
              </a:rPr>
              <a:t>核心工作任务及成果</a:t>
            </a:r>
            <a:endParaRPr lang="en-US" sz="3000" b="1" dirty="0">
              <a:solidFill>
                <a:schemeClr val="dk2">
                  <a:alpha val="100000"/>
                </a:schemeClr>
              </a:solidFill>
              <a:latin typeface="Noto Sans SC"/>
              <a:ea typeface="Noto Sans SC"/>
              <a:cs typeface="Noto Sans SC"/>
            </a:endParaRPr>
          </a:p>
        </p:txBody>
        <p:extLst>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sp>
        <p:nvSpPr>
          <p:cNvPr id="11" name="文本框 10">
            <a:extLst>
              <a:ext uri="{FF2B5EF4-FFF2-40B4-BE49-F238E27FC236}">
                <a16:creationId xmlns:a16="http://schemas.microsoft.com/office/drawing/2014/main" id="{82834043-878F-8813-5FF5-FD8A19D846CC}"/>
              </a:ext>
            </a:extLst>
          </p:cNvPr>
          <p:cNvSpPr txBox="1"/>
          <p:nvPr/>
        </p:nvSpPr>
        <p:spPr>
          <a:xfrm>
            <a:off x="588723" y="1182009"/>
            <a:ext cx="6438378" cy="2831544"/>
          </a:xfrm>
          <a:prstGeom prst="rect">
            <a:avLst/>
          </a:prstGeom>
          <a:noFill/>
        </p:spPr>
        <p:txBody>
          <a:bodyPr wrap="square" rtlCol="0">
            <a:spAutoFit/>
          </a:bodyPr>
          <a:lstStyle/>
          <a:p>
            <a:r>
              <a:rPr lang="zh-CN" altLang="en-US" sz="1600" b="1" dirty="0"/>
              <a:t>🎯 认证与技能</a:t>
            </a:r>
            <a:endParaRPr lang="zh-CN" altLang="en-US" sz="1600" dirty="0"/>
          </a:p>
          <a:p>
            <a:pPr lvl="1"/>
            <a:r>
              <a:rPr lang="en-US" altLang="zh-CN" sz="1600" b="1" dirty="0"/>
              <a:t>3</a:t>
            </a:r>
            <a:r>
              <a:rPr lang="zh-CN" altLang="en-US" sz="1600" b="1" dirty="0"/>
              <a:t>个月</a:t>
            </a:r>
            <a:r>
              <a:rPr lang="zh-CN" altLang="en-US" sz="1600" dirty="0"/>
              <a:t> 内完成 </a:t>
            </a:r>
            <a:r>
              <a:rPr lang="zh-CN" altLang="en-US" sz="1600" b="1" dirty="0"/>
              <a:t>多项</a:t>
            </a:r>
            <a:r>
              <a:rPr lang="zh-CN" altLang="en-US" sz="1600" dirty="0"/>
              <a:t>核心技术认证 </a:t>
            </a:r>
            <a:r>
              <a:rPr lang="en-US" altLang="zh-CN" sz="1600" dirty="0"/>
              <a:t>(SDE, SADE, SPDE, SDAE)</a:t>
            </a:r>
          </a:p>
          <a:p>
            <a:pPr lvl="1"/>
            <a:r>
              <a:rPr lang="zh-CN" altLang="en-US" sz="1600" dirty="0"/>
              <a:t>全面掌握 </a:t>
            </a:r>
            <a:r>
              <a:rPr lang="zh-CN" altLang="en-US" sz="1600" b="1" dirty="0"/>
              <a:t>数据模型、组件配置、逻辑模块</a:t>
            </a:r>
            <a:r>
              <a:rPr lang="zh-CN" altLang="en-US" sz="1600" dirty="0"/>
              <a:t> 三大核心能力</a:t>
            </a:r>
          </a:p>
          <a:p>
            <a:r>
              <a:rPr lang="zh-CN" altLang="en-US" sz="1600" b="1" dirty="0"/>
              <a:t>🤝 客户支持与协同</a:t>
            </a:r>
            <a:endParaRPr lang="zh-CN" altLang="en-US" sz="1600" dirty="0"/>
          </a:p>
          <a:p>
            <a:pPr lvl="1"/>
            <a:r>
              <a:rPr lang="zh-CN" altLang="en-US" sz="1600" dirty="0"/>
              <a:t>深度支撑 </a:t>
            </a:r>
            <a:r>
              <a:rPr lang="en-US" altLang="zh-CN" sz="1600" b="1" dirty="0"/>
              <a:t>2</a:t>
            </a:r>
            <a:r>
              <a:rPr lang="zh-CN" altLang="en-US" sz="1600" b="1" dirty="0"/>
              <a:t>个</a:t>
            </a:r>
            <a:r>
              <a:rPr lang="zh-CN" altLang="en-US" sz="1600" dirty="0"/>
              <a:t> 重点客户项目 </a:t>
            </a:r>
            <a:r>
              <a:rPr lang="en-US" altLang="zh-CN" sz="1600" dirty="0"/>
              <a:t>(</a:t>
            </a:r>
            <a:r>
              <a:rPr lang="zh-CN" altLang="en-US" sz="1600" dirty="0"/>
              <a:t>红沿河、奥莱特</a:t>
            </a:r>
            <a:r>
              <a:rPr lang="en-US" altLang="zh-CN" sz="1600" dirty="0"/>
              <a:t>)</a:t>
            </a:r>
          </a:p>
          <a:p>
            <a:pPr lvl="1"/>
            <a:r>
              <a:rPr lang="zh-CN" altLang="en-US" sz="1600" dirty="0"/>
              <a:t>作为技术接口人，</a:t>
            </a:r>
            <a:r>
              <a:rPr lang="en-US" altLang="zh-CN" sz="1600" b="1" dirty="0"/>
              <a:t>100%</a:t>
            </a:r>
            <a:r>
              <a:rPr lang="zh-CN" altLang="en-US" sz="1600" b="1" dirty="0"/>
              <a:t>响应</a:t>
            </a:r>
            <a:r>
              <a:rPr lang="zh-CN" altLang="en-US" sz="1600" dirty="0"/>
              <a:t>并闭环 </a:t>
            </a:r>
            <a:r>
              <a:rPr lang="en-US" altLang="zh-CN" sz="1600" b="1" dirty="0"/>
              <a:t>20+</a:t>
            </a:r>
            <a:r>
              <a:rPr lang="zh-CN" altLang="en-US" sz="1600" dirty="0"/>
              <a:t> 项客户技术问题</a:t>
            </a:r>
          </a:p>
          <a:p>
            <a:pPr lvl="1"/>
            <a:r>
              <a:rPr lang="zh-CN" altLang="en-US" sz="1600" dirty="0"/>
              <a:t>主动协调并主导 </a:t>
            </a:r>
            <a:r>
              <a:rPr lang="en-US" altLang="zh-CN" sz="1600" b="1" dirty="0"/>
              <a:t>5+</a:t>
            </a:r>
            <a:r>
              <a:rPr lang="zh-CN" altLang="en-US" sz="1600" b="1" dirty="0"/>
              <a:t>场</a:t>
            </a:r>
            <a:r>
              <a:rPr lang="zh-CN" altLang="en-US" sz="1600" dirty="0"/>
              <a:t> 跨部门</a:t>
            </a:r>
            <a:r>
              <a:rPr lang="en-US" altLang="zh-CN" sz="1600" dirty="0"/>
              <a:t>/</a:t>
            </a:r>
            <a:r>
              <a:rPr lang="zh-CN" altLang="en-US" sz="1600" dirty="0"/>
              <a:t>客户技术会议</a:t>
            </a:r>
          </a:p>
          <a:p>
            <a:r>
              <a:rPr lang="zh-CN" altLang="en-US" sz="1600" b="1" dirty="0"/>
              <a:t>⚡ 项目交付与赋能</a:t>
            </a:r>
            <a:endParaRPr lang="zh-CN" altLang="en-US" sz="1600" dirty="0"/>
          </a:p>
          <a:p>
            <a:pPr lvl="1"/>
            <a:r>
              <a:rPr lang="zh-CN" altLang="en-US" sz="1600" dirty="0"/>
              <a:t>推动 </a:t>
            </a:r>
            <a:r>
              <a:rPr lang="en-US" altLang="zh-CN" sz="1600" b="1" dirty="0"/>
              <a:t>3</a:t>
            </a:r>
            <a:r>
              <a:rPr lang="zh-CN" altLang="en-US" sz="1600" b="1" dirty="0"/>
              <a:t>套</a:t>
            </a:r>
            <a:r>
              <a:rPr lang="zh-CN" altLang="en-US" sz="1600" dirty="0"/>
              <a:t> 定制化解决方案落地</a:t>
            </a:r>
          </a:p>
          <a:p>
            <a:pPr lvl="1"/>
            <a:r>
              <a:rPr lang="zh-CN" altLang="en-US" sz="1600" dirty="0"/>
              <a:t>为 </a:t>
            </a:r>
            <a:r>
              <a:rPr lang="zh-CN" altLang="en-US" sz="1600" b="1" dirty="0"/>
              <a:t>多位</a:t>
            </a:r>
            <a:r>
              <a:rPr lang="zh-CN" altLang="en-US" sz="1600" dirty="0"/>
              <a:t>伙伴</a:t>
            </a:r>
            <a:r>
              <a:rPr lang="en-US" altLang="zh-CN" sz="1600" dirty="0"/>
              <a:t>(</a:t>
            </a:r>
            <a:r>
              <a:rPr lang="zh-CN" altLang="en-US" sz="1600" dirty="0"/>
              <a:t>冯工、马工等</a:t>
            </a:r>
            <a:r>
              <a:rPr lang="en-US" altLang="zh-CN" sz="1600" dirty="0"/>
              <a:t>)</a:t>
            </a:r>
            <a:r>
              <a:rPr lang="zh-CN" altLang="en-US" sz="1600" dirty="0"/>
              <a:t>提供技术赋能，助力其完成开发任务</a:t>
            </a:r>
          </a:p>
          <a:p>
            <a:endParaRPr lang="zh-CN" altLang="en-US" dirty="0"/>
          </a:p>
        </p:txBody>
      </p:sp>
      <p:sp>
        <p:nvSpPr>
          <p:cNvPr id="12" name="文本框 11">
            <a:extLst>
              <a:ext uri="{FF2B5EF4-FFF2-40B4-BE49-F238E27FC236}">
                <a16:creationId xmlns:a16="http://schemas.microsoft.com/office/drawing/2014/main" id="{A6FD81F0-0FD6-4FF8-FB70-9F374E9D00D4}"/>
              </a:ext>
            </a:extLst>
          </p:cNvPr>
          <p:cNvSpPr txBox="1"/>
          <p:nvPr/>
        </p:nvSpPr>
        <p:spPr>
          <a:xfrm>
            <a:off x="588723" y="3883070"/>
            <a:ext cx="7778629" cy="2800767"/>
          </a:xfrm>
          <a:prstGeom prst="rect">
            <a:avLst/>
          </a:prstGeom>
          <a:noFill/>
        </p:spPr>
        <p:txBody>
          <a:bodyPr wrap="square" rtlCol="0">
            <a:spAutoFit/>
          </a:bodyPr>
          <a:lstStyle/>
          <a:p>
            <a:r>
              <a:rPr lang="zh-CN" altLang="en-US" sz="1600" b="1" dirty="0"/>
              <a:t>项目：</a:t>
            </a:r>
            <a:r>
              <a:rPr lang="zh-CN" altLang="en-US" sz="1600" b="1" dirty="0">
                <a:solidFill>
                  <a:srgbClr val="FF0000"/>
                </a:solidFill>
              </a:rPr>
              <a:t>红沿河项目技术攻坚与客户支持</a:t>
            </a:r>
            <a:endParaRPr lang="zh-CN" altLang="en-US" sz="1600" dirty="0">
              <a:solidFill>
                <a:srgbClr val="FF0000"/>
              </a:solidFill>
            </a:endParaRPr>
          </a:p>
          <a:p>
            <a:r>
              <a:rPr lang="zh-CN" altLang="en-US" sz="1600" b="1" dirty="0"/>
              <a:t>挑战</a:t>
            </a:r>
            <a:r>
              <a:rPr lang="zh-CN" altLang="en-US" sz="1600" dirty="0"/>
              <a:t>：客户面临“</a:t>
            </a:r>
            <a:r>
              <a:rPr lang="en-US" altLang="zh-CN" sz="1600" dirty="0"/>
              <a:t>Hive</a:t>
            </a:r>
            <a:r>
              <a:rPr lang="zh-CN" altLang="en-US" sz="1600" dirty="0"/>
              <a:t>二开升级”与“数据流不稳定”等核心痛点，影响系统稳定性。</a:t>
            </a:r>
          </a:p>
          <a:p>
            <a:r>
              <a:rPr lang="zh-CN" altLang="en-US" sz="1600" b="1" dirty="0"/>
              <a:t>行动与量化成果</a:t>
            </a:r>
            <a:r>
              <a:rPr lang="zh-CN" altLang="en-US" sz="1600" dirty="0"/>
              <a:t>：</a:t>
            </a:r>
          </a:p>
          <a:p>
            <a:pPr marL="0" lvl="1"/>
            <a:r>
              <a:rPr lang="zh-CN" altLang="en-US" sz="1600" b="1" dirty="0"/>
              <a:t>       技术攻坚</a:t>
            </a:r>
            <a:r>
              <a:rPr lang="zh-CN" altLang="en-US" sz="1600" dirty="0"/>
              <a:t>：主导</a:t>
            </a:r>
            <a:r>
              <a:rPr lang="en-US" altLang="zh-CN" sz="1600" dirty="0"/>
              <a:t>Hive</a:t>
            </a:r>
            <a:r>
              <a:rPr lang="zh-CN" altLang="en-US" sz="1600" dirty="0"/>
              <a:t>二开升级从测试到生产环境的全流程，</a:t>
            </a:r>
            <a:r>
              <a:rPr lang="en-US" altLang="zh-CN" sz="1600" b="1" dirty="0"/>
              <a:t>100%</a:t>
            </a:r>
            <a:r>
              <a:rPr lang="zh-CN" altLang="en-US" sz="1600" b="1" dirty="0"/>
              <a:t>解决</a:t>
            </a:r>
            <a:r>
              <a:rPr lang="zh-CN" altLang="en-US" sz="1600" dirty="0"/>
              <a:t>了数据流报错问题，消除了系统核心隐患。</a:t>
            </a:r>
          </a:p>
          <a:p>
            <a:pPr marL="0" lvl="1"/>
            <a:r>
              <a:rPr lang="zh-CN" altLang="en-US" sz="1600" b="1" dirty="0"/>
              <a:t>       客户支持</a:t>
            </a:r>
            <a:r>
              <a:rPr lang="zh-CN" altLang="en-US" sz="1600" dirty="0"/>
              <a:t>：</a:t>
            </a:r>
            <a:r>
              <a:rPr lang="en-US" altLang="zh-CN" sz="1600" b="1" dirty="0"/>
              <a:t>100%</a:t>
            </a:r>
            <a:r>
              <a:rPr lang="zh-CN" altLang="en-US" sz="1600" b="1" dirty="0"/>
              <a:t>响应</a:t>
            </a:r>
            <a:r>
              <a:rPr lang="zh-CN" altLang="en-US" sz="1600" dirty="0"/>
              <a:t>客户需求，累计处理</a:t>
            </a:r>
            <a:r>
              <a:rPr lang="en-US" altLang="zh-CN" sz="1600" b="1" dirty="0"/>
              <a:t>20+</a:t>
            </a:r>
            <a:r>
              <a:rPr lang="zh-CN" altLang="en-US" sz="1600" b="1" dirty="0"/>
              <a:t>项</a:t>
            </a:r>
            <a:r>
              <a:rPr lang="zh-CN" altLang="en-US" sz="1600" dirty="0"/>
              <a:t>技术咨询与报错，并组织</a:t>
            </a:r>
            <a:r>
              <a:rPr lang="zh-CN" altLang="en-US" sz="1600" b="1" dirty="0"/>
              <a:t>红沿河专场培训会议</a:t>
            </a:r>
            <a:r>
              <a:rPr lang="zh-CN" altLang="en-US" sz="1600" dirty="0"/>
              <a:t>，提升客户自主操作能力。</a:t>
            </a:r>
          </a:p>
          <a:p>
            <a:pPr marL="0" lvl="1"/>
            <a:r>
              <a:rPr lang="zh-CN" altLang="en-US" sz="1600" b="1" dirty="0"/>
              <a:t>       协同推进</a:t>
            </a:r>
            <a:r>
              <a:rPr lang="zh-CN" altLang="en-US" sz="1600" dirty="0"/>
              <a:t>：主动协调红沿河（尹工、张工）等资源，组织</a:t>
            </a:r>
            <a:r>
              <a:rPr lang="zh-CN" altLang="en-US" sz="1600" b="1" dirty="0"/>
              <a:t>多次专项会议</a:t>
            </a:r>
            <a:r>
              <a:rPr lang="zh-CN" altLang="en-US" sz="1600" dirty="0"/>
              <a:t>，确保客户问题被精准理解并高效解决。</a:t>
            </a:r>
          </a:p>
          <a:p>
            <a:r>
              <a:rPr lang="zh-CN" altLang="en-US" sz="1600" b="1" dirty="0"/>
              <a:t>价值</a:t>
            </a:r>
            <a:r>
              <a:rPr lang="zh-CN" altLang="en-US" sz="1600" dirty="0"/>
              <a:t>：通过快速响应与根因治理，将客户侧关键数据流程稳定性</a:t>
            </a:r>
            <a:r>
              <a:rPr lang="zh-CN" altLang="en-US" sz="1600" b="1" dirty="0"/>
              <a:t>提升至</a:t>
            </a:r>
            <a:r>
              <a:rPr lang="en-US" altLang="zh-CN" sz="1600" b="1" dirty="0"/>
              <a:t>100%</a:t>
            </a:r>
            <a:r>
              <a:rPr lang="zh-CN" altLang="en-US" sz="1600" dirty="0"/>
              <a:t>，赢得客户高度信任。</a:t>
            </a:r>
          </a:p>
        </p:txBody>
      </p:sp>
    </p:spTree>
  </p:cSld>
  <p:clrMapOvr>
    <a:masterClrMapping/>
  </p:clrMapOvr>
  <p:extLst mod="1">
    <p:ext uri="http://schemas.baidu.com/office/drawing/2023/templateData">
      <bd:templateData xmlns="" xmlns:bd="http://schemas.baidu.com/office/drawing/2023/templateData">eyJtZCI6IiMjIOaguOW/g+W3peS9nOS7u+WKoeWPiuaIkOaenFxuIyMjIOWuouaIt+mcgOaxguWIhuaekOS4juino+WGs+aWueahiOiuvuiuoVxu5rex5YWl6LCD56CU5a6i5oi35Lia5Yqh5Zy65pmv77yM5qKz55CG5qC45b+D55eb54K577yM5Li75a+86K6+6K6hM+Wll+WumuWItuWMluaVsOaNruino+WGs+aWueahiO+8jOimhuebluWuouaItzgwJeeahOS4muWKoemcgOaxgu+8jOaWueahiOiQveWcsOWQjuWuouaIt+a7oeaEj+W6puaPkOWNhzM1JeOAglxuIyMjIOmhueebruWFqOWRqOacn+euoeeQhlxu54us56uL6LSf6LSjMuS4qumHjeeCueWuouaIt+mhueebrueahOS6pOS7mO+8jOWNj+iwg+aKgOacr+OAgeS6p+WTgeWboumYn+WujOaIkOmcgOaxgui/reS7o++8jOehruS/nemhueebruaMieaXtuS4iue6v++8jOWFtuS4reafkOmHkeiejeWuouaIt+mhueebruaPkOWJjTLlkajkuqTku5jvvIzojrflrqLmiLfkuabpnaLooajmiazjgIJcbiMjIyDmlbDmja7otKjph4/kvJjljJbkuI7mlYjnjofmj5DljYdcbumHjeaehOWuouaIt+aVsOaNrua4hea0l+a1geeoi++8jOW8leWFpeiHquWKqOWMluagoemqjOW3peWFt++8jOWwhuaVsOaNrumUmeivr+eOh+S7jjUl6ZmN6IezMC4zJe+8jOWkhOeQhuaViOeOh+aPkOWNhzYwJe+8jOaIkOS4uumDqOmXqOagh+adhuahiOS+i+OAgiIsInRwbGlkIjoiMTAwMDAiLCJ0cGxOYW1lIjoibGlzdDNfaW1nNCIsImVkaXRlZCI6ImZhbHNlIn0=</bd:templateData>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4451873" y="1812219"/>
            <a:ext cx="3287800" cy="3946292"/>
          </a:xfrm>
          <a:prstGeom prst="rect">
            <a:avLst/>
          </a:prstGeom>
          <a:noFill/>
        </p:spPr>
        <p:extLst>
          <p:ext uri="http://schemas.baidu.com/office/drawing/2023/templateData">
            <bd:templateData xmlns="" xmlns:bd="http://schemas.baidu.com/office/drawing/2023/templateData">eyJfdGVtcGxhdGVEYXRhIjp7ImNvbnRlbnRUeXBlIjoiJGltZzAifSwidGFnIjoiJGltZzAifQ==</bd:templateData>
          </p:ext>
        </p:extLst>
      </p:pic>
      <p:sp>
        <p:nvSpPr>
          <p:cNvPr id="3" name="TextBox 3"/>
          <p:cNvSpPr txBox="1"/>
          <p:nvPr/>
        </p:nvSpPr>
        <p:spPr>
          <a:xfrm>
            <a:off x="677944" y="1321885"/>
            <a:ext cx="3550411" cy="490334"/>
          </a:xfrm>
          <a:prstGeom prst="rect">
            <a:avLst/>
          </a:prstGeom>
          <a:ln/>
        </p:spPr>
        <p:txBody>
          <a:bodyPr vert="horz" wrap="square" lIns="66008" tIns="33052" rIns="66008" bIns="33052" rtlCol="0" anchor="ctr" anchorCtr="0">
            <a:noAutofit/>
          </a:bodyPr>
          <a:lstStyle/>
          <a:p>
            <a:pPr algn="ctr">
              <a:lnSpc>
                <a:spcPct val="120000"/>
              </a:lnSpc>
            </a:pPr>
            <a:r>
              <a:rPr lang="zh-CN" altLang="en-US" sz="2400" b="1" dirty="0">
                <a:solidFill>
                  <a:schemeClr val="accent1">
                    <a:alpha val="100000"/>
                  </a:schemeClr>
                </a:solidFill>
                <a:latin typeface="Noto Sans SC"/>
                <a:ea typeface="Noto Sans SC"/>
                <a:cs typeface="Noto Sans SC"/>
              </a:rPr>
              <a:t>技术赋能与知识传承</a:t>
            </a:r>
            <a:endParaRPr lang="en-US" sz="24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eyJfdGVtcGxhdGVEYXRhIjp7ImNvbnRlbnRUeXBlIjoiJGl0ZW0xX3RpdGxlIiwibGluZUNvdW50IjoiMSIsIndvcmRDb3VudCI6IjEwIn0sInRhZyI6IiRpdGVtMV90aXRsZSJ9</bd:templateData>
          </p:ext>
        </p:extLst>
      </p:sp>
      <p:sp>
        <p:nvSpPr>
          <p:cNvPr id="4" name="TextBox 4"/>
          <p:cNvSpPr txBox="1"/>
          <p:nvPr/>
        </p:nvSpPr>
        <p:spPr>
          <a:xfrm>
            <a:off x="672935" y="1812219"/>
            <a:ext cx="3344120" cy="2246214"/>
          </a:xfrm>
          <a:prstGeom prst="rect">
            <a:avLst/>
          </a:prstGeom>
          <a:ln/>
        </p:spPr>
        <p:txBody>
          <a:bodyPr vert="horz" wrap="square" lIns="66008" tIns="33052" rIns="66008" bIns="33052" rtlCol="0" anchor="t" anchorCtr="0">
            <a:noAutofit/>
          </a:bodyPr>
          <a:lstStyle/>
          <a:p>
            <a:pPr marL="285750" indent="-285750">
              <a:buFont typeface="Arial" panose="020B0604020202020204" pitchFamily="34" charset="0"/>
              <a:buChar char="•"/>
            </a:pPr>
            <a:r>
              <a:rPr lang="zh-CN" altLang="en-US" sz="1600" dirty="0"/>
              <a:t>在奥莱特项目中，深度协助冯工、马工完成“大屏地球模块”的二开工作，提供从框架搭建、代码讲解到上传测试的全流程支持，确保关键模块成功交付。</a:t>
            </a:r>
          </a:p>
          <a:p>
            <a:pPr marL="285750" indent="-285750">
              <a:buFont typeface="Arial" panose="020B0604020202020204" pitchFamily="34" charset="0"/>
              <a:buChar char="•"/>
            </a:pPr>
            <a:r>
              <a:rPr lang="zh-CN" altLang="en-US" sz="1600" dirty="0"/>
              <a:t>主动将二开经验沉淀为技术文档与标准化流程，为后续类似合作提供清晰指引，提升团队技术复用效率。</a:t>
            </a:r>
          </a:p>
        </p:txBody>
        <p:extLst mod="1">
          <p:ext uri="http://schemas.baidu.com/office/drawing/2023/templateData">
            <bd:templateData xmlns="" xmlns:bd="http://schemas.baidu.com/office/drawing/2023/templateData">eyJfdGVtcGxhdGVEYXRhIjp7ImNvbnRlbnRUeXBlIjoiJGl0ZW0xX2MiLCJsaW5lQ291bnQiOiI0Iiwid29yZENvdW50IjoiMTUifSwidGFnIjoiJGl0ZW0xX2MifQ==</bd:templateData>
          </p:ext>
        </p:extLst>
      </p:sp>
      <p:sp>
        <p:nvSpPr>
          <p:cNvPr id="5" name="TextBox 5"/>
          <p:cNvSpPr txBox="1"/>
          <p:nvPr/>
        </p:nvSpPr>
        <p:spPr>
          <a:xfrm>
            <a:off x="8174491" y="2337417"/>
            <a:ext cx="3583632" cy="490334"/>
          </a:xfrm>
          <a:prstGeom prst="rect">
            <a:avLst/>
          </a:prstGeom>
          <a:ln/>
        </p:spPr>
        <p:txBody>
          <a:bodyPr vert="horz" wrap="square" lIns="66008" tIns="33052" rIns="66008" bIns="33052" rtlCol="0" anchor="ctr" anchorCtr="0">
            <a:noAutofit/>
          </a:bodyPr>
          <a:lstStyle/>
          <a:p>
            <a:pPr algn="ctr">
              <a:lnSpc>
                <a:spcPct val="120000"/>
              </a:lnSpc>
            </a:pPr>
            <a:r>
              <a:rPr lang="zh-CN" altLang="en-US" sz="2400" b="1" dirty="0">
                <a:solidFill>
                  <a:schemeClr val="accent1">
                    <a:alpha val="100000"/>
                  </a:schemeClr>
                </a:solidFill>
                <a:latin typeface="Noto Sans SC"/>
                <a:ea typeface="Noto Sans SC"/>
                <a:cs typeface="Noto Sans SC"/>
              </a:rPr>
              <a:t>流程优化与协同攻坚</a:t>
            </a:r>
            <a:endParaRPr lang="en-US" sz="24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eyJfdGVtcGxhdGVEYXRhIjp7ImNvbnRlbnRUeXBlIjoiJGl0ZW0yX3RpdGxlIiwibGluZUNvdW50IjoiMSIsIndvcmRDb3VudCI6IjEwIn0sInRhZyI6IiRpdGVtMl90aXRsZSJ9</bd:templateData>
          </p:ext>
        </p:extLst>
      </p:sp>
      <p:sp>
        <p:nvSpPr>
          <p:cNvPr id="6" name="TextBox 6"/>
          <p:cNvSpPr txBox="1"/>
          <p:nvPr/>
        </p:nvSpPr>
        <p:spPr>
          <a:xfrm>
            <a:off x="8320862" y="2909018"/>
            <a:ext cx="3290891" cy="2248244"/>
          </a:xfrm>
          <a:prstGeom prst="rect">
            <a:avLst/>
          </a:prstGeom>
          <a:ln/>
        </p:spPr>
        <p:txBody>
          <a:bodyPr vert="horz" wrap="square" lIns="66008" tIns="33052" rIns="66008" bIns="33052" rtlCol="0" anchor="t" anchorCtr="0">
            <a:noAutofit/>
          </a:bodyPr>
          <a:lstStyle/>
          <a:p>
            <a:pPr marL="285750" indent="-285750">
              <a:buFont typeface="Arial" panose="020B0604020202020204" pitchFamily="34" charset="0"/>
              <a:buChar char="•"/>
            </a:pPr>
            <a:r>
              <a:rPr lang="zh-CN" altLang="en-US" sz="1600" dirty="0"/>
              <a:t>在红沿河</a:t>
            </a:r>
            <a:r>
              <a:rPr lang="en-US" altLang="zh-CN" sz="1600" dirty="0"/>
              <a:t>Hive</a:t>
            </a:r>
            <a:r>
              <a:rPr lang="zh-CN" altLang="en-US" sz="1600" dirty="0"/>
              <a:t>二开升级等关键任务中，主动协调数睿研发、交付等多方资源，构建高效临时协作链路，攻克技术难关，保障了项目的顺利推进与稳定性。</a:t>
            </a:r>
          </a:p>
          <a:p>
            <a:pPr marL="285750" indent="-285750">
              <a:buFont typeface="Arial" panose="020B0604020202020204" pitchFamily="34" charset="0"/>
              <a:buChar char="•"/>
            </a:pPr>
            <a:r>
              <a:rPr lang="zh-CN" altLang="en-US" sz="1600" dirty="0"/>
              <a:t>针对跨部门协作中的信息不畅问题，提出并推动建立“技术支撑</a:t>
            </a:r>
            <a:r>
              <a:rPr lang="en-US" altLang="zh-CN" sz="1600" dirty="0"/>
              <a:t>-</a:t>
            </a:r>
            <a:r>
              <a:rPr lang="zh-CN" altLang="en-US" sz="1600" dirty="0"/>
              <a:t>需求反馈”的闭环沟通机制，提升了整体协作效率。</a:t>
            </a:r>
          </a:p>
        </p:txBody>
        <p:extLst mod="1">
          <p:ext uri="http://schemas.baidu.com/office/drawing/2023/templateData">
            <bd:templateData xmlns="" xmlns:bd="http://schemas.baidu.com/office/drawing/2023/templateData">eyJfdGVtcGxhdGVEYXRhIjp7ImNvbnRlbnRUeXBlIjoiJGl0ZW0yX2MiLCJsaW5lQ291bnQiOiI0Iiwid29yZENvdW50IjoiMTUifSwidGFnIjoiJGl0ZW0yX2MifQ==</bd:templateData>
          </p:ext>
        </p:extLst>
      </p:sp>
      <p:sp>
        <p:nvSpPr>
          <p:cNvPr id="7" name="TextBox 7"/>
          <p:cNvSpPr txBox="1"/>
          <p:nvPr/>
        </p:nvSpPr>
        <p:spPr>
          <a:xfrm>
            <a:off x="583570" y="3968959"/>
            <a:ext cx="3550411" cy="490334"/>
          </a:xfrm>
          <a:prstGeom prst="rect">
            <a:avLst/>
          </a:prstGeom>
          <a:ln/>
        </p:spPr>
        <p:txBody>
          <a:bodyPr vert="horz" wrap="square" lIns="66008" tIns="33052" rIns="66008" bIns="33052" rtlCol="0" anchor="ctr" anchorCtr="0">
            <a:noAutofit/>
          </a:bodyPr>
          <a:lstStyle/>
          <a:p>
            <a:pPr algn="ctr">
              <a:lnSpc>
                <a:spcPct val="120000"/>
              </a:lnSpc>
            </a:pPr>
            <a:r>
              <a:rPr lang="zh-CN" altLang="en-US" sz="2400" b="1" dirty="0">
                <a:solidFill>
                  <a:schemeClr val="accent1">
                    <a:alpha val="100000"/>
                  </a:schemeClr>
                </a:solidFill>
                <a:latin typeface="Noto Sans SC"/>
                <a:ea typeface="Noto Sans SC"/>
                <a:cs typeface="Noto Sans SC"/>
              </a:rPr>
              <a:t>团队建设与新人培养</a:t>
            </a:r>
            <a:endParaRPr lang="en-US" sz="24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eyJfdGVtcGxhdGVEYXRhIjp7ImNvbnRlbnRUeXBlIjoiJGl0ZW0zX3RpdGxlIiwibGluZUNvdW50IjoiMSIsIndvcmRDb3VudCI6IjEwIn0sInRhZyI6IiRpdGVtM190aXRsZSJ9</bd:templateData>
          </p:ext>
        </p:extLst>
      </p:sp>
      <p:sp>
        <p:nvSpPr>
          <p:cNvPr id="8" name="TextBox 8"/>
          <p:cNvSpPr txBox="1"/>
          <p:nvPr/>
        </p:nvSpPr>
        <p:spPr>
          <a:xfrm>
            <a:off x="700497" y="4459292"/>
            <a:ext cx="3316558" cy="2483795"/>
          </a:xfrm>
          <a:prstGeom prst="rect">
            <a:avLst/>
          </a:prstGeom>
          <a:ln/>
        </p:spPr>
        <p:txBody>
          <a:bodyPr vert="horz" wrap="square" lIns="66008" tIns="33052" rIns="66008" bIns="33052" rtlCol="0" anchor="t" anchorCtr="0">
            <a:noAutofit/>
          </a:bodyPr>
          <a:lstStyle/>
          <a:p>
            <a:pPr marL="285750" indent="-285750">
              <a:buFont typeface="Arial" panose="020B0604020202020204" pitchFamily="34" charset="0"/>
              <a:buChar char="•"/>
            </a:pPr>
            <a:r>
              <a:rPr lang="zh-CN" altLang="en-US" sz="1600" dirty="0"/>
              <a:t>担任实习生（吴炫清）的实践导师，系统指导其熟悉</a:t>
            </a:r>
            <a:r>
              <a:rPr lang="en-US" altLang="zh-CN" sz="1600" dirty="0" err="1"/>
              <a:t>Smardaten</a:t>
            </a:r>
            <a:r>
              <a:rPr lang="zh-CN" altLang="en-US" sz="1600" dirty="0"/>
              <a:t>无代码平台与项目开发流程，帮助其快速融入团队并具备基础交付能力。</a:t>
            </a:r>
          </a:p>
          <a:p>
            <a:pPr marL="285750" indent="-285750">
              <a:buFont typeface="Arial" panose="020B0604020202020204" pitchFamily="34" charset="0"/>
              <a:buChar char="•"/>
            </a:pPr>
            <a:r>
              <a:rPr lang="zh-CN" altLang="en-US" sz="1600" dirty="0"/>
              <a:t>通过“传帮带”机制，将个人在</a:t>
            </a:r>
            <a:r>
              <a:rPr lang="en-US" altLang="zh-CN" sz="1600" dirty="0"/>
              <a:t>SDE-SPDE</a:t>
            </a:r>
            <a:r>
              <a:rPr lang="zh-CN" altLang="en-US" sz="1600" dirty="0"/>
              <a:t>认证体系中所学知识进行传承，践行公司“获取分享”文化。</a:t>
            </a:r>
          </a:p>
        </p:txBody>
        <p:extLst mod="1">
          <p:ext uri="http://schemas.baidu.com/office/drawing/2023/templateData">
            <bd:templateData xmlns="" xmlns:bd="http://schemas.baidu.com/office/drawing/2023/templateData">eyJfdGVtcGxhdGVEYXRhIjp7ImNvbnRlbnRUeXBlIjoiJGl0ZW0zX2MiLCJsaW5lQ291bnQiOiI0Iiwid29yZENvdW50IjoiMTUifSwidGFnIjoiJGl0ZW0zX2MifQ==</bd:templateData>
          </p:ext>
        </p:extLst>
      </p:sp>
      <p:sp>
        <p:nvSpPr>
          <p:cNvPr id="11" name="TextBox 11"/>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dirty="0" err="1">
                <a:solidFill>
                  <a:schemeClr val="dk2">
                    <a:alpha val="100000"/>
                  </a:schemeClr>
                </a:solidFill>
                <a:latin typeface="Noto Sans SC"/>
                <a:ea typeface="Noto Sans SC"/>
                <a:cs typeface="Noto Sans SC"/>
              </a:rPr>
              <a:t>团队协作与额外贡献</a:t>
            </a:r>
            <a:endParaRPr lang="en-US" sz="3000" b="1" dirty="0">
              <a:solidFill>
                <a:schemeClr val="dk2">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spTree>
  </p:cSld>
  <p:clrMapOvr>
    <a:masterClrMapping/>
  </p:clrMapOvr>
  <p:extLst mod="1">
    <p:ext uri="http://schemas.baidu.com/office/drawing/2023/templateData">
      <bd:templateData xmlns="" xmlns:bd="http://schemas.baidu.com/office/drawing/2023/templateData">eyJtZCI6IiMjIOWboumYn+WNj+S9nOS4jumineWklui0oeeMrlxuIyMjIOi3qOmDqOmXqOefpeivhuWFseS6q1xu5Li75a+857yW5YaZ44CK5a6i5oi35bi46KeB6Zeu6aKY5aSE55CG5omL5YaM44CL77yM5rGH5oC76auY6aKR5oqA5pyv6Zeu6aKY5Y+K5bqU5a+5562W55Wl77yM6KKr5Zui6Zif6YeH57qz5Li65paw5Lq65Z+56K6t5pWZ5p2Q77yM5YeP5bCR6YeN5aSN6Zeu6aKY5aSE55CG5pe26Ze0NDAl44CCXG4jIyMg5rWB56iL5LyY5YyW5bu66K6u6JC95ZywXG7mj5Dlh7rlrqLmiLfpnIDmsYLliIbnuqflk43lupTmnLrliLbvvIzmjqjliqjlu7rnq4vkvJjlhYjnuqfor4TkvLDmqKHlnovvvIzkvb/lm6LpmJ/ntKfmgKXpnIDmsYLlk43lupTpgJ/luqbnvKnnn63oh7M05bCP5pe25YaF77yM6I635a2j5bqm5Yib5paw5aWW44CCXG4jIyMg5paw5Lq65bim5pWZ5LiO6LWL6IO9XG7mi4Xku7sy5ZCN5a6e5Lmg55Sf55qE5a+85biI77yM57O757uf5Z+56K6tU1FM44CBUHl0aG9u562J5bel5YW35L2/55So77yM5biu5Yqp5YW2MuS4quaciOWGheeLrOeri+WujOaIkOWfuuehgOaVsOaNruWIhuaekOS7u+WKoe+8jOWboumYn+S6uuWKm+aIkOacrOmZjeS9jjE1JeOAglxuIyMjIOWuouaIt+aIkOWKn+ahiOS+i+ayiea3gFxu5o+Q54K8M+S4quWFuOWei+WuouaIt+ahiOS+i++8jOWItuS9nOagh+WHhuWMluS6pOS7mOaooeadv++8jOWkjeeUqOiHs+WQjOexu+WuouaIt+mhueebru+8jOW5s+Wdh+e8qeefreaWueahiOiuvuiuoeWRqOacnzIwJeOAgiIsInRwbGlkIjoiMTAwMDAiLCJ0cGxOYW1lIjoibGlzdDRfSW1na20yNDAzMTIwMSIsImVkaXRlZCI6ImZhbHNlIn0=</bd:templateData>
    </p:ext>
  </p:extLs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4000"/>
          </a:stretch>
        </a:blipFill>
        <a:effectLst/>
      </p:bgPr>
    </p:bg>
    <p:spTree>
      <p:nvGrpSpPr>
        <p:cNvPr id="1" name=""/>
        <p:cNvGrpSpPr/>
        <p:nvPr/>
      </p:nvGrpSpPr>
      <p:grpSpPr>
        <a:xfrm>
          <a:off x="0" y="0"/>
          <a:ext cx="0" cy="0"/>
          <a:chOff x="0" y="0"/>
          <a:chExt cx="0" cy="0"/>
        </a:xfrm>
      </p:grpSpPr>
      <p:sp>
        <p:nvSpPr>
          <p:cNvPr id="2" name="TextBox 2"/>
          <p:cNvSpPr txBox="1"/>
          <p:nvPr/>
        </p:nvSpPr>
        <p:spPr>
          <a:xfrm>
            <a:off x="511937" y="2319943"/>
            <a:ext cx="8124825" cy="1841594"/>
          </a:xfrm>
          <a:prstGeom prst="rect">
            <a:avLst/>
          </a:prstGeom>
          <a:ln/>
        </p:spPr>
        <p:txBody>
          <a:bodyPr vert="horz" wrap="square" lIns="123825" tIns="123825" rIns="57150" bIns="123825" rtlCol="0" anchor="t" anchorCtr="0">
            <a:spAutoFit/>
          </a:bodyPr>
          <a:lstStyle/>
          <a:p>
            <a:pPr>
              <a:lnSpc>
                <a:spcPct val="120000"/>
              </a:lnSpc>
            </a:pPr>
            <a:r>
              <a:rPr lang="en-US" sz="4500" b="1" dirty="0" err="1">
                <a:solidFill>
                  <a:schemeClr val="tx2">
                    <a:lumMod val="10000"/>
                    <a:lumOff val="90000"/>
                  </a:schemeClr>
                </a:solidFill>
                <a:latin typeface="Microsoft Yahei"/>
                <a:ea typeface="Microsoft Yahei"/>
                <a:cs typeface="Microsoft Yahei"/>
              </a:rPr>
              <a:t>反思与规划</a:t>
            </a:r>
            <a:r>
              <a:rPr lang="en-US" sz="4500" b="1" dirty="0">
                <a:solidFill>
                  <a:schemeClr val="tx2">
                    <a:lumMod val="10000"/>
                    <a:lumOff val="90000"/>
                  </a:schemeClr>
                </a:solidFill>
                <a:latin typeface="Microsoft Yahei"/>
                <a:ea typeface="Microsoft Yahei"/>
                <a:cs typeface="Microsoft Yahei"/>
              </a:rPr>
              <a:t>——</a:t>
            </a:r>
            <a:r>
              <a:rPr lang="en-US" sz="4500" b="1" dirty="0" err="1">
                <a:solidFill>
                  <a:schemeClr val="tx2">
                    <a:lumMod val="10000"/>
                    <a:lumOff val="90000"/>
                  </a:schemeClr>
                </a:solidFill>
                <a:latin typeface="Microsoft Yahei"/>
                <a:ea typeface="Microsoft Yahei"/>
                <a:cs typeface="Microsoft Yahei"/>
              </a:rPr>
              <a:t>持续精进，共创未来</a:t>
            </a:r>
            <a:endParaRPr lang="en-US" sz="4500" b="1" dirty="0">
              <a:solidFill>
                <a:schemeClr val="tx2">
                  <a:lumMod val="10000"/>
                  <a:lumOff val="90000"/>
                </a:schemeClr>
              </a:solidFill>
              <a:latin typeface="Microsoft Yahei"/>
              <a:ea typeface="Microsoft Yahei"/>
              <a:cs typeface="Microsoft Yahei"/>
            </a:endParaRPr>
          </a:p>
        </p:txBody>
        <p:extLst mod="1">
          <p:ext uri="http://schemas.baidu.com/office/drawing/2023/templateData">
            <bd:templateData xmlns="" xmlns:bd="http://schemas.baidu.com/office/drawing/2023/templateData">eyJfdGVtcGxhdGVEYXRhIjp7ImNvbnRlbnRUeXBlIjoiJHRpdGxlIiwibGluZUNvdW50IjoiMiIsIndvcmRDb3VudCI6IjEyIn0sInRhZyI6IiR0aXRsZSJ9</bd:templateData>
          </p:ext>
        </p:extLst>
      </p:sp>
      <p:sp>
        <p:nvSpPr>
          <p:cNvPr id="3" name="TextBox 3"/>
          <p:cNvSpPr txBox="1"/>
          <p:nvPr/>
        </p:nvSpPr>
        <p:spPr>
          <a:xfrm>
            <a:off x="10664466" y="2576512"/>
            <a:ext cx="8686800" cy="1704975"/>
          </a:xfrm>
          <a:prstGeom prst="rect">
            <a:avLst/>
          </a:prstGeom>
          <a:ln/>
        </p:spPr>
        <p:txBody>
          <a:bodyPr vert="horz" wrap="square" lIns="123825" tIns="123825" rIns="57150" bIns="123825" rtlCol="0" anchor="t" anchorCtr="0">
            <a:spAutoFit/>
          </a:bodyPr>
          <a:lstStyle/>
          <a:p>
            <a:pPr>
              <a:lnSpc>
                <a:spcPct val="120000"/>
              </a:lnSpc>
            </a:pPr>
            <a:r>
              <a:rPr lang="en-US" sz="7650" b="1" dirty="0">
                <a:solidFill>
                  <a:schemeClr val="accent1">
                    <a:alpha val="100000"/>
                  </a:schemeClr>
                </a:solidFill>
                <a:latin typeface="Microsoft Yahei"/>
                <a:ea typeface="Microsoft Yahei"/>
                <a:cs typeface="Microsoft Yahei"/>
              </a:rPr>
              <a:t>03</a:t>
            </a:r>
          </a:p>
        </p:txBody>
        <p:extLst mod="1">
          <p:ext uri="http://schemas.baidu.com/office/drawing/2023/templateData">
            <bd:templateData xmlns="" xmlns:bd="http://schemas.baidu.com/office/drawing/2023/templateData">eyJfdGVtcGxhdGVEYXRhIjp7ImNvbnRlbnRUeXBlIjoiJG51bWJlciIsImxpbmVDb3VudCI6IjEiLCJ3b3JkQ291bnQiOiI3In0sInRhZyI6Im5vRWRpdCJ9</bd:templateData>
          </p:ext>
        </p:extLst>
      </p:sp>
    </p:spTree>
  </p:cSld>
  <p:clrMapOvr>
    <a:masterClrMapping/>
  </p:clrMapOvr>
  <p:extLst mod="1">
    <p:ext uri="http://schemas.baidu.com/office/drawing/2023/templateData">
      <bd:templateData xmlns="" xmlns:bd="http://schemas.baidu.com/office/drawing/2023/templateData">eyJtZCI6IiMjIOWPjeaAneS4juinhOWIkuKAlOKAlOaMgee7reeyvui/m++8jOWFseWIm+acquadpSIsInRwbGlkIjoiMTAwMDAiLCJ0cGxOYW1lIjoiaDJ0aXRsZV9jdXN0b20iLCJlZGl0ZWQiOiJmYWxzZSJ9</bd:templateData>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sp>
        <p:nvSpPr>
          <p:cNvPr id="2" name="AutoShape 2"/>
          <p:cNvSpPr/>
          <p:nvPr/>
        </p:nvSpPr>
        <p:spPr>
          <a:xfrm>
            <a:off x="576687" y="1256209"/>
            <a:ext cx="3308352" cy="3640782"/>
          </a:xfrm>
          <a:prstGeom prst="rect">
            <a:avLst/>
          </a:prstGeom>
          <a:solidFill>
            <a:schemeClr val="lt2">
              <a:alpha val="100000"/>
            </a:schemeClr>
          </a:solidFill>
          <a:ln/>
        </p:spPr>
        <p:extLst>
          <p:ext uri="http://schemas.baidu.com/office/drawing/2023/templateData">
            <bd:templateData xmlns="" xmlns:bd="http://schemas.baidu.com/office/drawing/2023/templateData">eyJ0YWciOiJub0VkaXQifQ==</bd:templateData>
          </p:ext>
        </p:extLst>
      </p:sp>
      <p:sp>
        <p:nvSpPr>
          <p:cNvPr id="3" name="TextBox 3"/>
          <p:cNvSpPr txBox="1"/>
          <p:nvPr/>
        </p:nvSpPr>
        <p:spPr>
          <a:xfrm>
            <a:off x="570387" y="1256209"/>
            <a:ext cx="3097028" cy="464514"/>
          </a:xfrm>
          <a:prstGeom prst="rect">
            <a:avLst/>
          </a:prstGeom>
          <a:ln/>
        </p:spPr>
        <p:txBody>
          <a:bodyPr vert="horz" wrap="square" lIns="114300" tIns="57150" rIns="114300" bIns="57150" rtlCol="0" anchor="ctr" anchorCtr="0">
            <a:noAutofit/>
          </a:bodyPr>
          <a:lstStyle/>
          <a:p>
            <a:pPr algn="l">
              <a:lnSpc>
                <a:spcPct val="120000"/>
              </a:lnSpc>
            </a:pPr>
            <a:r>
              <a:rPr lang="zh-CN" altLang="en-US" sz="2400" b="1" dirty="0">
                <a:solidFill>
                  <a:schemeClr val="accent1">
                    <a:alpha val="100000"/>
                  </a:schemeClr>
                </a:solidFill>
                <a:latin typeface="Noto Sans SC"/>
                <a:ea typeface="Noto Sans SC"/>
                <a:cs typeface="Noto Sans SC"/>
              </a:rPr>
              <a:t>复杂架构经验待深化</a:t>
            </a:r>
            <a:endParaRPr lang="en-US" sz="24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eyJfdGVtcGxhdGVEYXRhIjp7ImNvbnRlbnRUeXBlIjoiJGl0ZW0xX3RpdGxlIiwibGluZUNvdW50IjoiMSIsIndvcmRDb3VudCI6IjgifSwidGFnIjoiJGl0ZW0xX3RpdGxlIn0=</bd:templateData>
          </p:ext>
        </p:extLst>
      </p:sp>
      <p:sp>
        <p:nvSpPr>
          <p:cNvPr id="4" name="TextBox 4"/>
          <p:cNvSpPr txBox="1"/>
          <p:nvPr/>
        </p:nvSpPr>
        <p:spPr>
          <a:xfrm>
            <a:off x="570219" y="1730999"/>
            <a:ext cx="3219785" cy="2809355"/>
          </a:xfrm>
          <a:prstGeom prst="rect">
            <a:avLst/>
          </a:prstGeom>
          <a:ln/>
        </p:spPr>
        <p:txBody>
          <a:bodyPr vert="horz" wrap="square" lIns="114300" tIns="57150" rIns="114300" bIns="57150" rtlCol="0" anchor="t" anchorCtr="0">
            <a:noAutofit/>
          </a:bodyPr>
          <a:lstStyle/>
          <a:p>
            <a:pPr algn="l">
              <a:lnSpc>
                <a:spcPct val="140000"/>
              </a:lnSpc>
            </a:pPr>
            <a:r>
              <a:rPr lang="zh-CN" altLang="en-US" sz="1400" b="1" dirty="0">
                <a:solidFill>
                  <a:schemeClr val="dk1">
                    <a:alpha val="100000"/>
                  </a:schemeClr>
                </a:solidFill>
                <a:latin typeface="Noto Sans SC"/>
                <a:ea typeface="Noto Sans SC"/>
                <a:cs typeface="Noto Sans SC"/>
              </a:rPr>
              <a:t>现状：</a:t>
            </a:r>
            <a:r>
              <a:rPr lang="zh-CN" altLang="en-US" sz="1400" dirty="0">
                <a:solidFill>
                  <a:schemeClr val="dk1">
                    <a:alpha val="100000"/>
                  </a:schemeClr>
                </a:solidFill>
                <a:latin typeface="Noto Sans SC"/>
                <a:ea typeface="Noto Sans SC"/>
                <a:cs typeface="Noto Sans SC"/>
              </a:rPr>
              <a:t>在涉及多系统集成（如红沿河</a:t>
            </a:r>
            <a:r>
              <a:rPr lang="en-US" altLang="zh-CN" sz="1400" dirty="0">
                <a:solidFill>
                  <a:schemeClr val="dk1">
                    <a:alpha val="100000"/>
                  </a:schemeClr>
                </a:solidFill>
                <a:latin typeface="Noto Sans SC"/>
                <a:ea typeface="Noto Sans SC"/>
                <a:cs typeface="Noto Sans SC"/>
              </a:rPr>
              <a:t>Hive</a:t>
            </a:r>
            <a:r>
              <a:rPr lang="zh-CN" altLang="en-US" sz="1400" dirty="0">
                <a:solidFill>
                  <a:schemeClr val="dk1">
                    <a:alpha val="100000"/>
                  </a:schemeClr>
                </a:solidFill>
                <a:latin typeface="Noto Sans SC"/>
                <a:ea typeface="Noto Sans SC"/>
                <a:cs typeface="Noto Sans SC"/>
              </a:rPr>
              <a:t>二开）的复杂项目中，对平台“数据编织”能力的边界预判与架构设计经验尚有不足。</a:t>
            </a:r>
          </a:p>
          <a:p>
            <a:pPr algn="l">
              <a:lnSpc>
                <a:spcPct val="140000"/>
              </a:lnSpc>
            </a:pPr>
            <a:r>
              <a:rPr lang="zh-CN" altLang="en-US" sz="1400" b="1" dirty="0">
                <a:solidFill>
                  <a:schemeClr val="dk1">
                    <a:alpha val="100000"/>
                  </a:schemeClr>
                </a:solidFill>
                <a:latin typeface="Noto Sans SC"/>
                <a:ea typeface="Noto Sans SC"/>
                <a:cs typeface="Noto Sans SC"/>
              </a:rPr>
              <a:t>规划：</a:t>
            </a:r>
            <a:r>
              <a:rPr lang="zh-CN" altLang="en-US" sz="1400" dirty="0">
                <a:solidFill>
                  <a:schemeClr val="dk1">
                    <a:alpha val="100000"/>
                  </a:schemeClr>
                </a:solidFill>
                <a:latin typeface="Noto Sans SC"/>
                <a:ea typeface="Noto Sans SC"/>
                <a:cs typeface="Noto Sans SC"/>
              </a:rPr>
              <a:t>计划深入学习</a:t>
            </a:r>
            <a:r>
              <a:rPr lang="en-US" altLang="zh-CN" sz="1400" dirty="0" err="1">
                <a:solidFill>
                  <a:schemeClr val="dk1">
                    <a:alpha val="100000"/>
                  </a:schemeClr>
                </a:solidFill>
                <a:latin typeface="Noto Sans SC"/>
                <a:ea typeface="Noto Sans SC"/>
                <a:cs typeface="Noto Sans SC"/>
              </a:rPr>
              <a:t>Smardaten</a:t>
            </a:r>
            <a:r>
              <a:rPr lang="zh-CN" altLang="en-US" sz="1400" dirty="0">
                <a:solidFill>
                  <a:schemeClr val="dk1">
                    <a:alpha val="100000"/>
                  </a:schemeClr>
                </a:solidFill>
                <a:latin typeface="Noto Sans SC"/>
                <a:ea typeface="Noto Sans SC"/>
                <a:cs typeface="Noto Sans SC"/>
              </a:rPr>
              <a:t>平台引擎机制与</a:t>
            </a:r>
            <a:r>
              <a:rPr lang="en-US" altLang="zh-CN" sz="1400" dirty="0">
                <a:solidFill>
                  <a:schemeClr val="dk1">
                    <a:alpha val="100000"/>
                  </a:schemeClr>
                </a:solidFill>
                <a:latin typeface="Noto Sans SC"/>
                <a:ea typeface="Noto Sans SC"/>
                <a:cs typeface="Noto Sans SC"/>
              </a:rPr>
              <a:t>API</a:t>
            </a:r>
            <a:r>
              <a:rPr lang="zh-CN" altLang="en-US" sz="1400" dirty="0">
                <a:solidFill>
                  <a:schemeClr val="dk1">
                    <a:alpha val="100000"/>
                  </a:schemeClr>
                </a:solidFill>
                <a:latin typeface="Noto Sans SC"/>
                <a:ea typeface="Noto Sans SC"/>
                <a:cs typeface="Noto Sans SC"/>
              </a:rPr>
              <a:t>体系，并研究同行业集成方案，致力于成为能驾驭“无代码</a:t>
            </a:r>
            <a:r>
              <a:rPr lang="en-US" altLang="zh-CN" sz="1400" dirty="0">
                <a:solidFill>
                  <a:schemeClr val="dk1">
                    <a:alpha val="100000"/>
                  </a:schemeClr>
                </a:solidFill>
                <a:latin typeface="Noto Sans SC"/>
                <a:ea typeface="Noto Sans SC"/>
                <a:cs typeface="Noto Sans SC"/>
              </a:rPr>
              <a:t>+</a:t>
            </a:r>
            <a:r>
              <a:rPr lang="zh-CN" altLang="en-US" sz="1400" dirty="0">
                <a:solidFill>
                  <a:schemeClr val="dk1">
                    <a:alpha val="100000"/>
                  </a:schemeClr>
                </a:solidFill>
                <a:latin typeface="Noto Sans SC"/>
                <a:ea typeface="Noto Sans SC"/>
                <a:cs typeface="Noto Sans SC"/>
              </a:rPr>
              <a:t>高代码”混合模式的解决方案架构师。</a:t>
            </a:r>
            <a:endParaRPr lang="en-US" sz="1400" dirty="0">
              <a:solidFill>
                <a:schemeClr val="dk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eyJfdGVtcGxhdGVEYXRhIjp7ImNvbnRlbnRUeXBlIjoiJGl0ZW0xX2MiLCJsaW5lQ291bnQiOiI3Iiwid29yZENvdW50IjoiMTQifSwidGFnIjoiJGl0ZW0xX2MifQ==</bd:templateData>
          </p:ext>
        </p:extLst>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当前不足与改进计划</a:t>
            </a:r>
          </a:p>
        </p:txBody>
        <p:extLst>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pic>
        <p:nvPicPr>
          <p:cNvPr id="6" name="Picture 6"/>
          <p:cNvPicPr>
            <a:picLocks noChangeAspect="1"/>
          </p:cNvPicPr>
          <p:nvPr/>
        </p:nvPicPr>
        <p:blipFill>
          <a:blip r:embed="rId2">
            <a:alphaModFix/>
          </a:blip>
          <a:srcRect t="2988" b="2988"/>
          <a:stretch>
            <a:fillRect/>
          </a:stretch>
        </p:blipFill>
        <p:spPr>
          <a:xfrm>
            <a:off x="570387" y="4616836"/>
            <a:ext cx="3320950" cy="1756392"/>
          </a:xfrm>
          <a:prstGeom prst="rect">
            <a:avLst/>
          </a:prstGeom>
        </p:spPr>
        <p:extLst>
          <p:ext uri="http://schemas.baidu.com/office/drawing/2023/templateData">
            <bd:templateData xmlns="" xmlns:bd="http://schemas.baidu.com/office/drawing/2023/templateData">eyJfdGVtcGxhdGVEYXRhIjp7ImNvbnRlbnRUeXBlIjoiJGltZzAifSwidGFnIjoiJGltZzAifQ==</bd:templateData>
          </p:ext>
        </p:extLst>
      </p:pic>
      <p:sp>
        <p:nvSpPr>
          <p:cNvPr id="7" name="AutoShape 7"/>
          <p:cNvSpPr/>
          <p:nvPr/>
        </p:nvSpPr>
        <p:spPr>
          <a:xfrm>
            <a:off x="4556522" y="2796445"/>
            <a:ext cx="3308352" cy="3640782"/>
          </a:xfrm>
          <a:prstGeom prst="rect">
            <a:avLst/>
          </a:prstGeom>
          <a:solidFill>
            <a:schemeClr val="lt2">
              <a:alpha val="100000"/>
            </a:schemeClr>
          </a:solidFill>
          <a:ln/>
        </p:spPr>
        <p:extLst mod="1">
          <p:ext uri="http://schemas.baidu.com/office/drawing/2023/templateData">
            <bd:templateData xmlns="" xmlns:bd="http://schemas.baidu.com/office/drawing/2023/templateData">eyJ0YWciOiJub0VkaXQifQ==</bd:templateData>
          </p:ext>
        </p:extLst>
      </p:sp>
      <p:sp>
        <p:nvSpPr>
          <p:cNvPr id="8" name="TextBox 8"/>
          <p:cNvSpPr txBox="1"/>
          <p:nvPr/>
        </p:nvSpPr>
        <p:spPr>
          <a:xfrm>
            <a:off x="4489005" y="3397725"/>
            <a:ext cx="3123643" cy="447675"/>
          </a:xfrm>
          <a:prstGeom prst="rect">
            <a:avLst/>
          </a:prstGeom>
          <a:ln/>
        </p:spPr>
        <p:txBody>
          <a:bodyPr vert="horz" wrap="square" lIns="114300" tIns="57150" rIns="114300" bIns="57150" rtlCol="0" anchor="ctr" anchorCtr="0">
            <a:noAutofit/>
          </a:bodyPr>
          <a:lstStyle/>
          <a:p>
            <a:pPr algn="l">
              <a:lnSpc>
                <a:spcPct val="120000"/>
              </a:lnSpc>
            </a:pPr>
            <a:r>
              <a:rPr lang="zh-CN" altLang="en-US" sz="2400" b="1" dirty="0">
                <a:solidFill>
                  <a:schemeClr val="accent1">
                    <a:alpha val="100000"/>
                  </a:schemeClr>
                </a:solidFill>
                <a:latin typeface="Noto Sans SC"/>
                <a:ea typeface="Noto Sans SC"/>
                <a:cs typeface="Noto Sans SC"/>
              </a:rPr>
              <a:t>业务洞察与引导不足</a:t>
            </a:r>
            <a:endParaRPr lang="en-US" sz="24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eyJfdGVtcGxhdGVEYXRhIjp7ImNvbnRlbnRUeXBlIjoiJGl0ZW0yX3RpdGxlIiwibGluZUNvdW50IjoiMSIsIndvcmRDb3VudCI6IjgifSwidGFnIjoiJGl0ZW0yX3RpdGxlIn0=</bd:templateData>
          </p:ext>
        </p:extLst>
      </p:sp>
      <p:sp>
        <p:nvSpPr>
          <p:cNvPr id="9" name="TextBox 9"/>
          <p:cNvSpPr txBox="1"/>
          <p:nvPr/>
        </p:nvSpPr>
        <p:spPr>
          <a:xfrm>
            <a:off x="4507888" y="3884601"/>
            <a:ext cx="3219785" cy="2592766"/>
          </a:xfrm>
          <a:prstGeom prst="rect">
            <a:avLst/>
          </a:prstGeom>
          <a:ln/>
        </p:spPr>
        <p:txBody>
          <a:bodyPr vert="horz" wrap="square" lIns="114300" tIns="57150" rIns="114300" bIns="57150" rtlCol="0" anchor="t" anchorCtr="0">
            <a:noAutofit/>
          </a:bodyPr>
          <a:lstStyle/>
          <a:p>
            <a:pPr>
              <a:lnSpc>
                <a:spcPct val="140000"/>
              </a:lnSpc>
            </a:pPr>
            <a:r>
              <a:rPr lang="zh-CN" altLang="en-US" sz="1400" b="1" dirty="0">
                <a:solidFill>
                  <a:schemeClr val="dk1">
                    <a:alpha val="100000"/>
                  </a:schemeClr>
                </a:solidFill>
                <a:latin typeface="Noto Sans SC"/>
                <a:ea typeface="Noto Sans SC"/>
              </a:rPr>
              <a:t>现状：</a:t>
            </a:r>
            <a:r>
              <a:rPr lang="zh-CN" altLang="en-US" sz="1400" dirty="0">
                <a:solidFill>
                  <a:schemeClr val="dk1">
                    <a:alpha val="100000"/>
                  </a:schemeClr>
                </a:solidFill>
                <a:latin typeface="Noto Sans SC"/>
                <a:ea typeface="Noto Sans SC"/>
              </a:rPr>
              <a:t>在客户沟通中，有时会偏向于解答具体技术问题，而对客户深层次的业务痛点挖掘与价值引导不足。</a:t>
            </a:r>
          </a:p>
          <a:p>
            <a:pPr>
              <a:lnSpc>
                <a:spcPct val="140000"/>
              </a:lnSpc>
            </a:pPr>
            <a:r>
              <a:rPr lang="zh-CN" altLang="en-US" sz="1400" b="1" dirty="0">
                <a:solidFill>
                  <a:schemeClr val="dk1">
                    <a:alpha val="100000"/>
                  </a:schemeClr>
                </a:solidFill>
                <a:latin typeface="Noto Sans SC"/>
                <a:ea typeface="Noto Sans SC"/>
              </a:rPr>
              <a:t>规划：</a:t>
            </a:r>
            <a:r>
              <a:rPr lang="zh-CN" altLang="en-US" sz="1400" dirty="0">
                <a:solidFill>
                  <a:schemeClr val="dk1">
                    <a:alpha val="100000"/>
                  </a:schemeClr>
                </a:solidFill>
                <a:latin typeface="Noto Sans SC"/>
                <a:ea typeface="Noto Sans SC"/>
              </a:rPr>
              <a:t>将主动参与前场需求调研，学习领域专业知识，目标是能直接从业务视角为客户规划无代码数字化路径，而不仅是提供技术实现。</a:t>
            </a:r>
          </a:p>
        </p:txBody>
        <p:extLst mod="1">
          <p:ext uri="http://schemas.baidu.com/office/drawing/2023/templateData">
            <bd:templateData xmlns="" xmlns:bd="http://schemas.baidu.com/office/drawing/2023/templateData">eyJfdGVtcGxhdGVEYXRhIjp7ImNvbnRlbnRUeXBlIjoiJGl0ZW0yX2MiLCJsaW5lQ291bnQiOiI3Iiwid29yZENvdW50IjoiMTQifSwidGFnIjoiJGl0ZW0yX2MifQ==</bd:templateData>
          </p:ext>
        </p:extLst>
      </p:sp>
      <p:pic>
        <p:nvPicPr>
          <p:cNvPr id="10" name="Picture 10"/>
          <p:cNvPicPr>
            <a:picLocks noChangeAspect="1"/>
          </p:cNvPicPr>
          <p:nvPr/>
        </p:nvPicPr>
        <p:blipFill>
          <a:blip r:embed="rId3">
            <a:alphaModFix/>
          </a:blip>
          <a:srcRect/>
          <a:stretch>
            <a:fillRect/>
          </a:stretch>
        </p:blipFill>
        <p:spPr>
          <a:xfrm>
            <a:off x="4406723" y="1256209"/>
            <a:ext cx="3320950" cy="1756392"/>
          </a:xfrm>
          <a:prstGeom prst="rect">
            <a:avLst/>
          </a:prstGeom>
        </p:spPr>
        <p:extLst>
          <p:ext uri="http://schemas.baidu.com/office/drawing/2023/templateData">
            <bd:templateData xmlns="" xmlns:bd="http://schemas.baidu.com/office/drawing/2023/templateData">eyJfdGVtcGxhdGVEYXRhIjp7ImNvbnRlbnRUeXBlIjoiJGltZzEifSwidGFnIjoiJGltZzEifQ==</bd:templateData>
          </p:ext>
        </p:extLst>
      </p:pic>
      <p:sp>
        <p:nvSpPr>
          <p:cNvPr id="11" name="AutoShape 11"/>
          <p:cNvSpPr/>
          <p:nvPr/>
        </p:nvSpPr>
        <p:spPr>
          <a:xfrm>
            <a:off x="8289006" y="1256209"/>
            <a:ext cx="3308352" cy="3640782"/>
          </a:xfrm>
          <a:prstGeom prst="rect">
            <a:avLst/>
          </a:prstGeom>
          <a:solidFill>
            <a:schemeClr val="lt2">
              <a:alpha val="100000"/>
            </a:schemeClr>
          </a:solidFill>
          <a:ln/>
        </p:spPr>
        <p:extLst>
          <p:ext uri="http://schemas.baidu.com/office/drawing/2023/templateData">
            <bd:templateData xmlns="" xmlns:bd="http://schemas.baidu.com/office/drawing/2023/templateData">eyJ0YWciOiJub0VkaXQifQ==</bd:templateData>
          </p:ext>
        </p:extLst>
      </p:sp>
      <p:sp>
        <p:nvSpPr>
          <p:cNvPr id="12" name="TextBox 12"/>
          <p:cNvSpPr txBox="1"/>
          <p:nvPr/>
        </p:nvSpPr>
        <p:spPr>
          <a:xfrm>
            <a:off x="8351968" y="1256209"/>
            <a:ext cx="3077021" cy="447675"/>
          </a:xfrm>
          <a:prstGeom prst="rect">
            <a:avLst/>
          </a:prstGeom>
          <a:ln/>
        </p:spPr>
        <p:txBody>
          <a:bodyPr vert="horz" wrap="square" lIns="114300" tIns="57150" rIns="114300" bIns="57150" rtlCol="0" anchor="ctr" anchorCtr="0">
            <a:noAutofit/>
          </a:bodyPr>
          <a:lstStyle/>
          <a:p>
            <a:pPr algn="l">
              <a:lnSpc>
                <a:spcPct val="120000"/>
              </a:lnSpc>
            </a:pPr>
            <a:r>
              <a:rPr lang="zh-CN" altLang="en-US" sz="2400" b="1" dirty="0">
                <a:solidFill>
                  <a:schemeClr val="accent1">
                    <a:alpha val="100000"/>
                  </a:schemeClr>
                </a:solidFill>
                <a:latin typeface="Noto Sans SC"/>
                <a:ea typeface="Noto Sans SC"/>
                <a:cs typeface="Noto Sans SC"/>
              </a:rPr>
              <a:t>项目风险预判需提升</a:t>
            </a:r>
            <a:endParaRPr lang="en-US" sz="2400" b="1" dirty="0">
              <a:solidFill>
                <a:schemeClr val="accent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eyJfdGVtcGxhdGVEYXRhIjp7ImNvbnRlbnRUeXBlIjoiJGl0ZW0zX3RpdGxlIiwibGluZUNvdW50IjoiMSIsIndvcmRDb3VudCI6IjgifSwidGFnIjoiJGl0ZW0zX3RpdGxlIn0=</bd:templateData>
          </p:ext>
        </p:extLst>
      </p:sp>
      <p:sp>
        <p:nvSpPr>
          <p:cNvPr id="13" name="TextBox 13"/>
          <p:cNvSpPr txBox="1"/>
          <p:nvPr/>
        </p:nvSpPr>
        <p:spPr>
          <a:xfrm>
            <a:off x="8342276" y="1745929"/>
            <a:ext cx="3219785" cy="2312678"/>
          </a:xfrm>
          <a:prstGeom prst="rect">
            <a:avLst/>
          </a:prstGeom>
          <a:ln/>
        </p:spPr>
        <p:txBody>
          <a:bodyPr vert="horz" wrap="square" lIns="114300" tIns="57150" rIns="114300" bIns="57150" rtlCol="0" anchor="t" anchorCtr="0">
            <a:noAutofit/>
          </a:bodyPr>
          <a:lstStyle/>
          <a:p>
            <a:pPr>
              <a:lnSpc>
                <a:spcPct val="140000"/>
              </a:lnSpc>
            </a:pPr>
            <a:r>
              <a:rPr lang="zh-CN" altLang="en-US" sz="1400" b="1" dirty="0">
                <a:solidFill>
                  <a:schemeClr val="dk1">
                    <a:alpha val="100000"/>
                  </a:schemeClr>
                </a:solidFill>
                <a:latin typeface="Noto Sans SC"/>
                <a:ea typeface="Noto Sans SC"/>
              </a:rPr>
              <a:t>现状：</a:t>
            </a:r>
            <a:r>
              <a:rPr lang="zh-CN" altLang="en-US" sz="1400" dirty="0">
                <a:solidFill>
                  <a:schemeClr val="dk1">
                    <a:alpha val="100000"/>
                  </a:schemeClr>
                </a:solidFill>
                <a:latin typeface="Noto Sans SC"/>
                <a:ea typeface="Noto Sans SC"/>
              </a:rPr>
              <a:t>在奥莱特项目二开中，对合作伙伴的技术依赖所带来的风险预估不足。</a:t>
            </a:r>
          </a:p>
          <a:p>
            <a:pPr>
              <a:lnSpc>
                <a:spcPct val="140000"/>
              </a:lnSpc>
            </a:pPr>
            <a:r>
              <a:rPr lang="zh-CN" altLang="en-US" sz="1400" b="1" dirty="0">
                <a:solidFill>
                  <a:schemeClr val="dk1">
                    <a:alpha val="100000"/>
                  </a:schemeClr>
                </a:solidFill>
                <a:latin typeface="Noto Sans SC"/>
                <a:ea typeface="Noto Sans SC"/>
              </a:rPr>
              <a:t>规划：</a:t>
            </a:r>
            <a:r>
              <a:rPr lang="zh-CN" altLang="en-US" sz="1400" dirty="0">
                <a:solidFill>
                  <a:schemeClr val="dk1">
                    <a:alpha val="100000"/>
                  </a:schemeClr>
                </a:solidFill>
                <a:latin typeface="Noto Sans SC"/>
                <a:ea typeface="Noto Sans SC"/>
              </a:rPr>
              <a:t>将在项目初期建立更完善的技术能力评估与风险预案机制，确保对项目关键路径有更强的掌控力，保障交付质量和时效。</a:t>
            </a:r>
            <a:endParaRPr lang="en-US" sz="1400" dirty="0">
              <a:solidFill>
                <a:schemeClr val="dk1">
                  <a:alpha val="100000"/>
                </a:schemeClr>
              </a:solidFill>
              <a:latin typeface="Noto Sans SC"/>
              <a:ea typeface="Noto Sans SC"/>
            </a:endParaRPr>
          </a:p>
        </p:txBody>
        <p:extLst mod="1">
          <p:ext uri="http://schemas.baidu.com/office/drawing/2023/templateData">
            <bd:templateData xmlns="" xmlns:bd="http://schemas.baidu.com/office/drawing/2023/templateData">eyJfdGVtcGxhdGVEYXRhIjp7ImNvbnRlbnRUeXBlIjoiJGl0ZW0zX2MiLCJsaW5lQ291bnQiOiI3Iiwid29yZENvdW50IjoiMTQifSwidGFnIjoiJGl0ZW0zX2MifQ==</bd:templateData>
          </p:ext>
        </p:extLst>
      </p:sp>
      <p:pic>
        <p:nvPicPr>
          <p:cNvPr id="14" name="Picture 14"/>
          <p:cNvPicPr>
            <a:picLocks noChangeAspect="1"/>
          </p:cNvPicPr>
          <p:nvPr/>
        </p:nvPicPr>
        <p:blipFill>
          <a:blip r:embed="rId4">
            <a:alphaModFix/>
          </a:blip>
          <a:srcRect t="10334" b="10334"/>
          <a:stretch>
            <a:fillRect/>
          </a:stretch>
        </p:blipFill>
        <p:spPr>
          <a:xfrm>
            <a:off x="8282706" y="4616836"/>
            <a:ext cx="3320950" cy="1832874"/>
          </a:xfrm>
          <a:prstGeom prst="rect">
            <a:avLst/>
          </a:prstGeom>
        </p:spPr>
        <p:extLst mod="1">
          <p:ext uri="http://schemas.baidu.com/office/drawing/2023/templateData">
            <bd:templateData xmlns="" xmlns:bd="http://schemas.baidu.com/office/drawing/2023/templateData">eyJfdGVtcGxhdGVEYXRhIjp7ImNvbnRlbnRUeXBlIjoiJGltZzIifSwidGFnIjoiJGltZzIifQ==</bd:templateData>
          </p:ext>
        </p:extLst>
      </p:pic>
    </p:spTree>
  </p:cSld>
  <p:clrMapOvr>
    <a:masterClrMapping/>
  </p:clrMapOvr>
  <p:extLst mod="1">
    <p:ext uri="http://schemas.baidu.com/office/drawing/2023/templateData">
      <bd:templateData xmlns="" xmlns:bd="http://schemas.baidu.com/office/drawing/2023/templateData">eyJtZCI6IiMjIOW9k+WJjeS4jei2s+S4juaUuei/m+iuoeWIklxuIyMjIOaKgOacr+iDveWKm+W+heaPkOWNh1xu5Zyo6aG555uu5byA5Y+R6L+H56iL5Lit77yM6YOo5YiG5oqA5pyv5pa55qGI55qE6K6+6K6h5LiO5a6e546w5a2Y5Zyo5LyY5YyW56m66Ze077yM6ZyA5Yqg5by65a+55paw5oqA5pyv55qE5a2m5Lmg5LiO5a6e6Le177yM5aaC5rex5YWl5o6M5o+h5LqR6K6h566X5p625p6E5ZKM5b6u5pyN5Yqh6K6+6K6h5qih5byP77yM5Lul5o+Q5Y2H5byA5Y+R5pWI546H44CCXG4jIyMg5rKf6YCa5pWI546H5LiN6LazXG7ot6jpg6jpl6jljY/kvZzml7blrZjlnKjkv6Hmga/kvKDpgJLlu7bov5/miJbnkIbop6PlgY/lt67nmoTpl67popjvvIzorqHliJLpgJrov4flrprmnJ/lkIzmraXkvJrorq7jgIHmoIflh4bljJbmlofmoaPmqKHmnb/lj4rljbPml7bmsp/pgJrlt6XlhbfkvJjljJbmtYHnqIvvvIznoa7kv53kv6Hmga/pgI/mmI7ljJbjgIJcbiMjIyDml7bpl7TnrqHnkIbpnIDmlLnov5tcbuWkmuS7u+WKoeW5tuihjOaXtuS8mOWFiOe6p+WIkuWIhuS4jeWkn+a4heaZsO+8jOWvvOiHtOmDqOWIhuS7u+WKoeW7tuacn+OAguWwhumHh+eUqOaVj+aNt+W3peS9nOazle+8iOWmglNjcnVt77yJ5ouG6Kej5Lu75Yqh77yM57uT5ZCI5bel5YW377yI5aaCSmlyYe+8iei3n+i4qui/m+W6pu+8jOaPkOWNh+aJp+ihjOaViOeOh+OAgiIsInRwbGlkIjoiMTAwMDAiLCJ0cGxOYW1lIjoibGlzdDNfSW1nMTAiLCJlZGl0ZWQiOiJmYWxzZSJ9</bd:templateData>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alpha val="100000"/>
          </a:schemeClr>
        </a:solidFill>
        <a:effectLst/>
      </p:bgPr>
    </p:bg>
    <p:spTree>
      <p:nvGrpSpPr>
        <p:cNvPr id="1" name=""/>
        <p:cNvGrpSpPr/>
        <p:nvPr/>
      </p:nvGrpSpPr>
      <p:grpSpPr>
        <a:xfrm>
          <a:off x="0" y="0"/>
          <a:ext cx="0" cy="0"/>
          <a:chOff x="0" y="0"/>
          <a:chExt cx="0" cy="0"/>
        </a:xfrm>
      </p:grpSpPr>
      <p:sp>
        <p:nvSpPr>
          <p:cNvPr id="2" name="AutoShape 2"/>
          <p:cNvSpPr/>
          <p:nvPr/>
        </p:nvSpPr>
        <p:spPr>
          <a:xfrm>
            <a:off x="0" y="5564771"/>
            <a:ext cx="12190690" cy="1317407"/>
          </a:xfrm>
          <a:prstGeom prst="rect">
            <a:avLst/>
          </a:prstGeom>
          <a:solidFill>
            <a:schemeClr val="accent1">
              <a:alpha val="20000"/>
            </a:schemeClr>
          </a:solidFill>
          <a:ln/>
        </p:spPr>
        <p:extLst>
          <p:ext uri="http://schemas.baidu.com/office/drawing/2023/templateData">
            <bd:templateData xmlns="" xmlns:bd="http://schemas.baidu.com/office/drawing/2023/templateData">eyJ0YWciOiJub0VkaXQifQ==</bd:templateData>
          </p:ext>
        </p:extLst>
      </p:sp>
      <p:sp>
        <p:nvSpPr>
          <p:cNvPr id="3" name="TextBox 3"/>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1">
                    <a:alpha val="100000"/>
                  </a:schemeClr>
                </a:solidFill>
                <a:latin typeface="Noto Sans SC"/>
                <a:ea typeface="Noto Sans SC"/>
                <a:cs typeface="Noto Sans SC"/>
              </a:rPr>
              <a:t>未来工作目标与计划</a:t>
            </a:r>
          </a:p>
        </p:txBody>
        <p:extLst>
          <p:ext uri="http://schemas.baidu.com/office/drawing/2023/templateData">
            <bd:templateData xmlns="" xmlns:bd="http://schemas.baidu.com/office/drawing/2023/templateData">eyJfdGVtcGxhdGVEYXRhIjp7ImNvbnRlbnRUeXBlIjoiJHRpdGxlIiwibGluZUNvdW50IjoiMSIsIndvcmRDb3VudCI6IjI4In0sInRhZyI6IiR0aXRsZSJ9</bd:templateData>
          </p:ext>
        </p:extLst>
      </p:sp>
      <p:sp>
        <p:nvSpPr>
          <p:cNvPr id="4" name="AutoShape 4"/>
          <p:cNvSpPr/>
          <p:nvPr/>
        </p:nvSpPr>
        <p:spPr>
          <a:xfrm>
            <a:off x="1836554" y="6038850"/>
            <a:ext cx="8425779" cy="19050"/>
          </a:xfrm>
          <a:prstGeom prst="rect">
            <a:avLst/>
          </a:prstGeom>
          <a:noFill/>
          <a:ln/>
        </p:spPr>
        <p:extLst>
          <p:ext uri="http://schemas.baidu.com/office/drawing/2023/templateData">
            <bd:templateData xmlns="" xmlns:bd="http://schemas.baidu.com/office/drawing/2023/templateData">eyJ0YWciOiJub0VkaXQifQ==</bd:templateData>
          </p:ext>
        </p:extLst>
      </p:sp>
      <p:sp>
        <p:nvSpPr>
          <p:cNvPr id="5" name="AutoShape 5"/>
          <p:cNvSpPr/>
          <p:nvPr/>
        </p:nvSpPr>
        <p:spPr>
          <a:xfrm>
            <a:off x="320475" y="5991225"/>
            <a:ext cx="11550596" cy="146379"/>
          </a:xfrm>
          <a:prstGeom prst="roundRect">
            <a:avLst>
              <a:gd name="adj" fmla="val 29781"/>
            </a:avLst>
          </a:prstGeom>
          <a:solidFill>
            <a:schemeClr val="accent1">
              <a:alpha val="100000"/>
            </a:schemeClr>
          </a:solidFill>
          <a:ln/>
        </p:spPr>
        <p:extLst>
          <p:ext uri="http://schemas.baidu.com/office/drawing/2023/templateData">
            <bd:templateData xmlns="" xmlns:bd="http://schemas.baidu.com/office/drawing/2023/templateData">eyJ0YWciOiJub0VkaXQifQ==</bd:templateData>
          </p:ext>
        </p:extLst>
      </p:sp>
      <p:grpSp>
        <p:nvGrpSpPr>
          <p:cNvPr id="6" name="Group 6"/>
          <p:cNvGrpSpPr/>
          <p:nvPr/>
        </p:nvGrpSpPr>
        <p:grpSpPr>
          <a:xfrm>
            <a:off x="756982" y="2038350"/>
            <a:ext cx="2438400" cy="4019550"/>
            <a:chOff x="756982" y="2038350"/>
            <a:chExt cx="2438400" cy="4019550"/>
          </a:xfrm>
        </p:grpSpPr>
        <p:sp>
          <p:nvSpPr>
            <p:cNvPr id="7" name="AutoShape 7"/>
            <p:cNvSpPr/>
            <p:nvPr/>
          </p:nvSpPr>
          <p:spPr>
            <a:xfrm>
              <a:off x="756982" y="3267075"/>
              <a:ext cx="2438400" cy="2790825"/>
            </a:xfrm>
            <a:prstGeom prst="rect">
              <a:avLst/>
            </a:prstGeom>
            <a:solidFill>
              <a:schemeClr val="accen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8" name="AutoShape 8"/>
            <p:cNvSpPr/>
            <p:nvPr/>
          </p:nvSpPr>
          <p:spPr>
            <a:xfrm>
              <a:off x="756982" y="2038350"/>
              <a:ext cx="2438400" cy="2438400"/>
            </a:xfrm>
            <a:prstGeom prst="ellipse">
              <a:avLst/>
            </a:prstGeom>
            <a:solidFill>
              <a:schemeClr val="accent1">
                <a:alpha val="100000"/>
              </a:schemeClr>
            </a:solidFill>
            <a:ln/>
          </p:spPr>
        </p:sp>
      </p:grpSp>
      <p:grpSp>
        <p:nvGrpSpPr>
          <p:cNvPr id="9" name="Group 9"/>
          <p:cNvGrpSpPr/>
          <p:nvPr/>
        </p:nvGrpSpPr>
        <p:grpSpPr>
          <a:xfrm>
            <a:off x="776032" y="2057470"/>
            <a:ext cx="2400300" cy="3933686"/>
            <a:chOff x="776032" y="2057470"/>
            <a:chExt cx="2400300" cy="3933686"/>
          </a:xfrm>
        </p:grpSpPr>
        <p:sp>
          <p:nvSpPr>
            <p:cNvPr id="10" name="AutoShape 10"/>
            <p:cNvSpPr/>
            <p:nvPr/>
          </p:nvSpPr>
          <p:spPr>
            <a:xfrm>
              <a:off x="776032" y="3257620"/>
              <a:ext cx="2400300" cy="2733536"/>
            </a:xfrm>
            <a:prstGeom prst="rect">
              <a:avLst/>
            </a:prstGeom>
            <a:solidFill>
              <a:schemeClr val="l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11" name="AutoShape 11"/>
            <p:cNvSpPr/>
            <p:nvPr/>
          </p:nvSpPr>
          <p:spPr>
            <a:xfrm>
              <a:off x="776032" y="2057470"/>
              <a:ext cx="2400300" cy="2400300"/>
            </a:xfrm>
            <a:prstGeom prst="ellipse">
              <a:avLst/>
            </a:prstGeom>
            <a:solidFill>
              <a:schemeClr val="lt1">
                <a:alpha val="100000"/>
              </a:schemeClr>
            </a:solidFill>
            <a:ln/>
          </p:spPr>
        </p:sp>
      </p:grpSp>
      <p:pic>
        <p:nvPicPr>
          <p:cNvPr id="12" name="Picture 12"/>
          <p:cNvPicPr>
            <a:picLocks noChangeAspect="1"/>
          </p:cNvPicPr>
          <p:nvPr/>
        </p:nvPicPr>
        <p:blipFill>
          <a:blip r:embed="rId2">
            <a:alphaModFix/>
          </a:blip>
          <a:srcRect/>
          <a:stretch>
            <a:fillRect/>
          </a:stretch>
        </p:blipFill>
        <p:spPr>
          <a:xfrm>
            <a:off x="1166557" y="2296017"/>
            <a:ext cx="1619250" cy="1619250"/>
          </a:xfrm>
          <a:prstGeom prst="ellipse">
            <a:avLst/>
          </a:prstGeom>
          <a:ln w="57150">
            <a:solidFill>
              <a:schemeClr val="accent1"/>
            </a:solidFill>
            <a:prstDash val="solid"/>
          </a:ln>
        </p:spPr>
        <p:extLst>
          <p:ext uri="http://schemas.baidu.com/office/drawing/2023/templateData">
            <bd:templateData xmlns="" xmlns:bd="http://schemas.baidu.com/office/drawing/2023/templateData">eyJfdGVtcGxhdGVEYXRhIjp7ImNvbnRlbnRUeXBlIjoiJGltZzAifSwidGFnIjoiJGltZzAifQ==</bd:templateData>
          </p:ext>
        </p:extLst>
      </p:pic>
      <p:sp>
        <p:nvSpPr>
          <p:cNvPr id="13" name="AutoShape 13"/>
          <p:cNvSpPr/>
          <p:nvPr/>
        </p:nvSpPr>
        <p:spPr>
          <a:xfrm>
            <a:off x="785557" y="4021401"/>
            <a:ext cx="2381250" cy="454737"/>
          </a:xfrm>
          <a:prstGeom prst="rect">
            <a:avLst/>
          </a:prstGeom>
          <a:noFill/>
          <a:ln/>
        </p:spPr>
        <p:txBody>
          <a:bodyPr vert="horz" wrap="square" lIns="91440" tIns="45720" rIns="91440" bIns="45720" rtlCol="0" anchor="b" anchorCtr="0">
            <a:normAutofit/>
          </a:bodyPr>
          <a:lstStyle/>
          <a:p>
            <a:pPr algn="ctr">
              <a:defRPr/>
            </a:pPr>
            <a:r>
              <a:rPr lang="zh-CN" altLang="en-US" sz="1650" b="1" dirty="0">
                <a:solidFill>
                  <a:schemeClr val="dk1">
                    <a:alpha val="100000"/>
                  </a:schemeClr>
                </a:solidFill>
                <a:latin typeface="Noto Sans SC"/>
                <a:ea typeface="Noto Sans SC"/>
                <a:cs typeface="Noto Sans SC"/>
              </a:rPr>
              <a:t>深化平台架构能力</a:t>
            </a:r>
            <a:endParaRPr lang="en-US" sz="1100" dirty="0"/>
          </a:p>
        </p:txBody>
        <p:extLst mod="1">
          <p:ext uri="http://schemas.baidu.com/office/drawing/2023/templateData">
            <bd:templateData xmlns="" xmlns:bd="http://schemas.baidu.com/office/drawing/2023/templateData">eyJfdGVtcGxhdGVEYXRhIjp7ImNvbnRlbnRUeXBlIjoiJGl0ZW0xX3RpdGxlIiwibGluZUNvdW50IjoiMSIsIndvcmRDb3VudCI6IjkifSwidGFnIjoiJGl0ZW0xX3RpdGxlIn0=</bd:templateData>
          </p:ext>
        </p:extLst>
      </p:sp>
      <p:sp>
        <p:nvSpPr>
          <p:cNvPr id="14" name="TextBox 14"/>
          <p:cNvSpPr txBox="1"/>
          <p:nvPr/>
        </p:nvSpPr>
        <p:spPr>
          <a:xfrm>
            <a:off x="766507" y="4515081"/>
            <a:ext cx="2352814" cy="1347864"/>
          </a:xfrm>
          <a:prstGeom prst="rect">
            <a:avLst/>
          </a:prstGeom>
          <a:ln/>
        </p:spPr>
        <p:txBody>
          <a:bodyPr vert="horz" wrap="square" lIns="123825" tIns="57150" rIns="57150" bIns="57150" rtlCol="0" anchor="t" anchorCtr="0">
            <a:noAutofit/>
          </a:bodyPr>
          <a:lstStyle/>
          <a:p>
            <a:pPr>
              <a:lnSpc>
                <a:spcPct val="120000"/>
              </a:lnSpc>
            </a:pPr>
            <a:r>
              <a:rPr lang="zh-CN" altLang="en-US" sz="1200" dirty="0">
                <a:solidFill>
                  <a:schemeClr val="dk1">
                    <a:alpha val="100000"/>
                  </a:schemeClr>
                </a:solidFill>
                <a:latin typeface="Noto Sans SC"/>
                <a:ea typeface="Noto Sans SC"/>
                <a:cs typeface="Noto Sans SC"/>
              </a:rPr>
              <a:t>我的目标是深入钻研</a:t>
            </a:r>
            <a:r>
              <a:rPr lang="en-US" altLang="zh-CN" sz="1200" dirty="0" err="1">
                <a:solidFill>
                  <a:schemeClr val="dk1">
                    <a:alpha val="100000"/>
                  </a:schemeClr>
                </a:solidFill>
                <a:latin typeface="Noto Sans SC"/>
                <a:ea typeface="Noto Sans SC"/>
                <a:cs typeface="Noto Sans SC"/>
              </a:rPr>
              <a:t>Smardaten</a:t>
            </a:r>
            <a:r>
              <a:rPr lang="zh-CN" altLang="en-US" sz="1200" dirty="0">
                <a:solidFill>
                  <a:schemeClr val="dk1">
                    <a:alpha val="100000"/>
                  </a:schemeClr>
                </a:solidFill>
                <a:latin typeface="Noto Sans SC"/>
                <a:ea typeface="Noto Sans SC"/>
                <a:cs typeface="Noto Sans SC"/>
              </a:rPr>
              <a:t>底层架构，旨在能够解决更复杂的技术问题，为团队赋能，并提升项目交付的质量与效率。</a:t>
            </a:r>
          </a:p>
        </p:txBody>
        <p:extLst mod="1">
          <p:ext uri="http://schemas.baidu.com/office/drawing/2023/templateData">
            <bd:templateData xmlns="" xmlns:bd="http://schemas.baidu.com/office/drawing/2023/templateData">eyJfdGVtcGxhdGVEYXRhIjp7ImNvbnRlbnRUeXBlIjoiJGl0ZW0xX2MiLCJsaW5lQ291bnQiOiI1Iiwid29yZENvdW50IjoiMTMifSwidGFnIjoiJGl0ZW0xX2MifQ==</bd:templateData>
          </p:ext>
        </p:extLst>
      </p:sp>
      <p:grpSp>
        <p:nvGrpSpPr>
          <p:cNvPr id="15" name="Group 15"/>
          <p:cNvGrpSpPr/>
          <p:nvPr/>
        </p:nvGrpSpPr>
        <p:grpSpPr>
          <a:xfrm>
            <a:off x="3511699" y="1519581"/>
            <a:ext cx="2438400" cy="4538319"/>
            <a:chOff x="3511699" y="1519581"/>
            <a:chExt cx="2438400" cy="4538319"/>
          </a:xfrm>
        </p:grpSpPr>
        <p:sp>
          <p:nvSpPr>
            <p:cNvPr id="16" name="AutoShape 16"/>
            <p:cNvSpPr/>
            <p:nvPr/>
          </p:nvSpPr>
          <p:spPr>
            <a:xfrm>
              <a:off x="3511699" y="2748306"/>
              <a:ext cx="2438400" cy="3309594"/>
            </a:xfrm>
            <a:prstGeom prst="rect">
              <a:avLst/>
            </a:prstGeom>
            <a:solidFill>
              <a:schemeClr val="accen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17" name="AutoShape 17"/>
            <p:cNvSpPr/>
            <p:nvPr/>
          </p:nvSpPr>
          <p:spPr>
            <a:xfrm>
              <a:off x="3511699" y="1519581"/>
              <a:ext cx="2438400" cy="2438400"/>
            </a:xfrm>
            <a:prstGeom prst="ellipse">
              <a:avLst/>
            </a:prstGeom>
            <a:solidFill>
              <a:schemeClr val="accent1">
                <a:alpha val="100000"/>
              </a:schemeClr>
            </a:solidFill>
            <a:ln/>
          </p:spPr>
        </p:sp>
      </p:grpSp>
      <p:grpSp>
        <p:nvGrpSpPr>
          <p:cNvPr id="18" name="Group 18"/>
          <p:cNvGrpSpPr/>
          <p:nvPr/>
        </p:nvGrpSpPr>
        <p:grpSpPr>
          <a:xfrm>
            <a:off x="3530749" y="1538700"/>
            <a:ext cx="2400300" cy="4519200"/>
            <a:chOff x="3530749" y="1538700"/>
            <a:chExt cx="2400300" cy="4519200"/>
          </a:xfrm>
        </p:grpSpPr>
        <p:sp>
          <p:nvSpPr>
            <p:cNvPr id="19" name="AutoShape 19"/>
            <p:cNvSpPr/>
            <p:nvPr/>
          </p:nvSpPr>
          <p:spPr>
            <a:xfrm>
              <a:off x="3530749" y="2738850"/>
              <a:ext cx="2400300" cy="3319050"/>
            </a:xfrm>
            <a:prstGeom prst="rect">
              <a:avLst/>
            </a:prstGeom>
            <a:solidFill>
              <a:schemeClr val="accen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20" name="AutoShape 20"/>
            <p:cNvSpPr/>
            <p:nvPr/>
          </p:nvSpPr>
          <p:spPr>
            <a:xfrm>
              <a:off x="3530749" y="1538700"/>
              <a:ext cx="2400300" cy="2400300"/>
            </a:xfrm>
            <a:prstGeom prst="ellipse">
              <a:avLst/>
            </a:prstGeom>
            <a:solidFill>
              <a:schemeClr val="accent1">
                <a:alpha val="100000"/>
              </a:schemeClr>
            </a:solidFill>
            <a:ln/>
          </p:spPr>
        </p:sp>
      </p:grpSp>
      <p:pic>
        <p:nvPicPr>
          <p:cNvPr id="21" name="Picture 21"/>
          <p:cNvPicPr>
            <a:picLocks noChangeAspect="1"/>
          </p:cNvPicPr>
          <p:nvPr/>
        </p:nvPicPr>
        <p:blipFill>
          <a:blip r:embed="rId3">
            <a:alphaModFix/>
          </a:blip>
          <a:srcRect/>
          <a:stretch>
            <a:fillRect/>
          </a:stretch>
        </p:blipFill>
        <p:spPr>
          <a:xfrm>
            <a:off x="3921274" y="1872498"/>
            <a:ext cx="1619250" cy="1619250"/>
          </a:xfrm>
          <a:prstGeom prst="ellipse">
            <a:avLst/>
          </a:prstGeom>
          <a:ln w="57150">
            <a:solidFill>
              <a:srgbClr val="FFFFFF"/>
            </a:solidFill>
            <a:prstDash val="solid"/>
          </a:ln>
        </p:spPr>
        <p:extLst>
          <p:ext uri="http://schemas.baidu.com/office/drawing/2023/templateData">
            <bd:templateData xmlns="" xmlns:bd="http://schemas.baidu.com/office/drawing/2023/templateData">eyJfdGVtcGxhdGVEYXRhIjp7ImNvbnRlbnRUeXBlIjoiJGltZzEifSwidGFnIjoiJGltZzEifQ==</bd:templateData>
          </p:ext>
        </p:extLst>
      </p:pic>
      <p:sp>
        <p:nvSpPr>
          <p:cNvPr id="22" name="AutoShape 22"/>
          <p:cNvSpPr/>
          <p:nvPr/>
        </p:nvSpPr>
        <p:spPr>
          <a:xfrm>
            <a:off x="3530749" y="3664557"/>
            <a:ext cx="2381250" cy="454737"/>
          </a:xfrm>
          <a:prstGeom prst="rect">
            <a:avLst/>
          </a:prstGeom>
          <a:noFill/>
          <a:ln/>
        </p:spPr>
        <p:txBody>
          <a:bodyPr vert="horz" wrap="square" lIns="91440" tIns="45720" rIns="91440" bIns="45720" rtlCol="0" anchor="b" anchorCtr="0">
            <a:normAutofit/>
          </a:bodyPr>
          <a:lstStyle/>
          <a:p>
            <a:pPr algn="ctr">
              <a:defRPr/>
            </a:pPr>
            <a:r>
              <a:rPr lang="zh-CN" altLang="en-US" sz="1650" b="1" dirty="0">
                <a:solidFill>
                  <a:srgbClr val="FFFFFF">
                    <a:alpha val="100000"/>
                  </a:srgbClr>
                </a:solidFill>
                <a:latin typeface="Noto Sans SC"/>
                <a:ea typeface="Noto Sans SC"/>
                <a:cs typeface="Noto Sans SC"/>
              </a:rPr>
              <a:t>推动方案产品化</a:t>
            </a:r>
            <a:endParaRPr lang="en-US" sz="1100" dirty="0"/>
          </a:p>
        </p:txBody>
        <p:extLst mod="1">
          <p:ext uri="http://schemas.baidu.com/office/drawing/2023/templateData">
            <bd:templateData xmlns="" xmlns:bd="http://schemas.baidu.com/office/drawing/2023/templateData">eyJfdGVtcGxhdGVEYXRhIjp7ImNvbnRlbnRUeXBlIjoiJGl0ZW0yX3RpdGxlIiwibGluZUNvdW50IjoiMSIsIndvcmRDb3VudCI6IjkifSwidGFnIjoiJGl0ZW0yX3RpdGxlIn0=</bd:templateData>
          </p:ext>
        </p:extLst>
      </p:sp>
      <p:sp>
        <p:nvSpPr>
          <p:cNvPr id="23" name="TextBox 23"/>
          <p:cNvSpPr txBox="1"/>
          <p:nvPr/>
        </p:nvSpPr>
        <p:spPr>
          <a:xfrm>
            <a:off x="3516391" y="4158236"/>
            <a:ext cx="2352814" cy="1347864"/>
          </a:xfrm>
          <a:prstGeom prst="rect">
            <a:avLst/>
          </a:prstGeom>
          <a:ln/>
        </p:spPr>
        <p:txBody>
          <a:bodyPr vert="horz" wrap="square" lIns="123825" tIns="57150" rIns="57150" bIns="57150" rtlCol="0" anchor="t" anchorCtr="0">
            <a:noAutofit/>
          </a:bodyPr>
          <a:lstStyle/>
          <a:p>
            <a:pPr marL="171450" indent="-171450">
              <a:lnSpc>
                <a:spcPct val="120000"/>
              </a:lnSpc>
              <a:buFont typeface="Arial" panose="020B0604020202020204" pitchFamily="34" charset="0"/>
              <a:buChar char="•"/>
            </a:pPr>
            <a:r>
              <a:rPr lang="zh-CN" altLang="en-US" sz="1200" dirty="0">
                <a:solidFill>
                  <a:srgbClr val="FFFFFF">
                    <a:alpha val="100000"/>
                  </a:srgbClr>
                </a:solidFill>
                <a:latin typeface="Noto Sans SC"/>
                <a:ea typeface="Noto Sans SC"/>
                <a:cs typeface="Noto Sans SC"/>
              </a:rPr>
              <a:t>结合在红沿河、奥莱特等项目中的经验，主导将定制化功能沉淀为</a:t>
            </a:r>
            <a:r>
              <a:rPr lang="en-US" altLang="zh-CN" sz="1200" dirty="0">
                <a:solidFill>
                  <a:srgbClr val="FFFFFF">
                    <a:alpha val="100000"/>
                  </a:srgbClr>
                </a:solidFill>
                <a:latin typeface="Noto Sans SC"/>
                <a:ea typeface="Noto Sans SC"/>
                <a:cs typeface="Noto Sans SC"/>
              </a:rPr>
              <a:t>2-3</a:t>
            </a:r>
            <a:r>
              <a:rPr lang="zh-CN" altLang="en-US" sz="1200" dirty="0">
                <a:solidFill>
                  <a:srgbClr val="FFFFFF">
                    <a:alpha val="100000"/>
                  </a:srgbClr>
                </a:solidFill>
                <a:latin typeface="Noto Sans SC"/>
                <a:ea typeface="Noto Sans SC"/>
                <a:cs typeface="Noto Sans SC"/>
              </a:rPr>
              <a:t>个可复用的行业组件或解决方案模板。</a:t>
            </a:r>
          </a:p>
          <a:p>
            <a:pPr marL="171450" indent="-171450">
              <a:lnSpc>
                <a:spcPct val="120000"/>
              </a:lnSpc>
              <a:buFont typeface="Arial" panose="020B0604020202020204" pitchFamily="34" charset="0"/>
              <a:buChar char="•"/>
            </a:pPr>
            <a:r>
              <a:rPr lang="zh-CN" altLang="en-US" sz="1200" dirty="0">
                <a:solidFill>
                  <a:srgbClr val="FFFFFF">
                    <a:alpha val="100000"/>
                  </a:srgbClr>
                </a:solidFill>
                <a:latin typeface="Noto Sans SC"/>
                <a:ea typeface="Noto Sans SC"/>
                <a:cs typeface="Noto Sans SC"/>
              </a:rPr>
              <a:t>目标是将项目交付效率提升</a:t>
            </a:r>
            <a:r>
              <a:rPr lang="en-US" altLang="zh-CN" sz="1200" dirty="0">
                <a:solidFill>
                  <a:srgbClr val="FFFFFF">
                    <a:alpha val="100000"/>
                  </a:srgbClr>
                </a:solidFill>
                <a:latin typeface="Noto Sans SC"/>
                <a:ea typeface="Noto Sans SC"/>
                <a:cs typeface="Noto Sans SC"/>
              </a:rPr>
              <a:t>20%</a:t>
            </a:r>
            <a:r>
              <a:rPr lang="zh-CN" altLang="en-US" sz="1200" dirty="0">
                <a:solidFill>
                  <a:srgbClr val="FFFFFF">
                    <a:alpha val="100000"/>
                  </a:srgbClr>
                </a:solidFill>
                <a:latin typeface="Noto Sans SC"/>
                <a:ea typeface="Noto Sans SC"/>
                <a:cs typeface="Noto Sans SC"/>
              </a:rPr>
              <a:t>，并形成数界科技在能源、制造等领域的标准化方案库。</a:t>
            </a:r>
            <a:endParaRPr lang="en-US" sz="1200" dirty="0">
              <a:solidFill>
                <a:srgbClr val="FFFFFF">
                  <a:alpha val="100000"/>
                </a:srgb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eyJfdGVtcGxhdGVEYXRhIjp7ImNvbnRlbnRUeXBlIjoiJGl0ZW0yX2MiLCJsaW5lQ291bnQiOiI1Iiwid29yZENvdW50IjoiMTMifSwidGFnIjoiJGl0ZW0yX2MifQ==</bd:templateData>
          </p:ext>
        </p:extLst>
      </p:sp>
      <p:grpSp>
        <p:nvGrpSpPr>
          <p:cNvPr id="24" name="Group 24"/>
          <p:cNvGrpSpPr/>
          <p:nvPr/>
        </p:nvGrpSpPr>
        <p:grpSpPr>
          <a:xfrm>
            <a:off x="6276080" y="1519581"/>
            <a:ext cx="2438400" cy="4538319"/>
            <a:chOff x="6276080" y="1519581"/>
            <a:chExt cx="2438400" cy="4538319"/>
          </a:xfrm>
        </p:grpSpPr>
        <p:sp>
          <p:nvSpPr>
            <p:cNvPr id="25" name="AutoShape 25"/>
            <p:cNvSpPr/>
            <p:nvPr/>
          </p:nvSpPr>
          <p:spPr>
            <a:xfrm>
              <a:off x="6276080" y="2748306"/>
              <a:ext cx="2438400" cy="3309594"/>
            </a:xfrm>
            <a:prstGeom prst="rect">
              <a:avLst/>
            </a:prstGeom>
            <a:solidFill>
              <a:schemeClr val="accen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26" name="AutoShape 26"/>
            <p:cNvSpPr/>
            <p:nvPr/>
          </p:nvSpPr>
          <p:spPr>
            <a:xfrm>
              <a:off x="6276080" y="1519581"/>
              <a:ext cx="2438400" cy="2438400"/>
            </a:xfrm>
            <a:prstGeom prst="ellipse">
              <a:avLst/>
            </a:prstGeom>
            <a:solidFill>
              <a:schemeClr val="accent1">
                <a:alpha val="100000"/>
              </a:schemeClr>
            </a:solidFill>
            <a:ln/>
          </p:spPr>
        </p:sp>
      </p:grpSp>
      <p:grpSp>
        <p:nvGrpSpPr>
          <p:cNvPr id="27" name="Group 27"/>
          <p:cNvGrpSpPr/>
          <p:nvPr/>
        </p:nvGrpSpPr>
        <p:grpSpPr>
          <a:xfrm>
            <a:off x="6295130" y="1538700"/>
            <a:ext cx="2400300" cy="4519200"/>
            <a:chOff x="6295130" y="1538700"/>
            <a:chExt cx="2400300" cy="4519200"/>
          </a:xfrm>
        </p:grpSpPr>
        <p:sp>
          <p:nvSpPr>
            <p:cNvPr id="28" name="AutoShape 28"/>
            <p:cNvSpPr/>
            <p:nvPr/>
          </p:nvSpPr>
          <p:spPr>
            <a:xfrm>
              <a:off x="6295130" y="2738850"/>
              <a:ext cx="2400300" cy="3319050"/>
            </a:xfrm>
            <a:prstGeom prst="rect">
              <a:avLst/>
            </a:prstGeom>
            <a:solidFill>
              <a:schemeClr val="accen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29" name="AutoShape 29"/>
            <p:cNvSpPr/>
            <p:nvPr/>
          </p:nvSpPr>
          <p:spPr>
            <a:xfrm>
              <a:off x="6295130" y="1538700"/>
              <a:ext cx="2400300" cy="2400300"/>
            </a:xfrm>
            <a:prstGeom prst="ellipse">
              <a:avLst/>
            </a:prstGeom>
            <a:solidFill>
              <a:schemeClr val="accent1">
                <a:alpha val="100000"/>
              </a:schemeClr>
            </a:solidFill>
            <a:ln/>
          </p:spPr>
        </p:sp>
      </p:grpSp>
      <p:pic>
        <p:nvPicPr>
          <p:cNvPr id="30" name="Picture 30"/>
          <p:cNvPicPr>
            <a:picLocks noChangeAspect="1"/>
          </p:cNvPicPr>
          <p:nvPr/>
        </p:nvPicPr>
        <p:blipFill>
          <a:blip r:embed="rId4">
            <a:alphaModFix/>
          </a:blip>
          <a:srcRect/>
          <a:stretch>
            <a:fillRect/>
          </a:stretch>
        </p:blipFill>
        <p:spPr>
          <a:xfrm>
            <a:off x="6685655" y="1872498"/>
            <a:ext cx="1619250" cy="1619250"/>
          </a:xfrm>
          <a:prstGeom prst="ellipse">
            <a:avLst/>
          </a:prstGeom>
          <a:ln w="57150">
            <a:solidFill>
              <a:srgbClr val="FFFFFF"/>
            </a:solidFill>
            <a:prstDash val="solid"/>
          </a:ln>
        </p:spPr>
        <p:extLst>
          <p:ext uri="http://schemas.baidu.com/office/drawing/2023/templateData">
            <bd:templateData xmlns="" xmlns:bd="http://schemas.baidu.com/office/drawing/2023/templateData">eyJfdGVtcGxhdGVEYXRhIjp7ImNvbnRlbnRUeXBlIjoiJGltZzIifSwidGFnIjoiJGltZzIifQ==</bd:templateData>
          </p:ext>
        </p:extLst>
      </p:pic>
      <p:sp>
        <p:nvSpPr>
          <p:cNvPr id="31" name="AutoShape 31"/>
          <p:cNvSpPr/>
          <p:nvPr/>
        </p:nvSpPr>
        <p:spPr>
          <a:xfrm>
            <a:off x="6295130" y="3664557"/>
            <a:ext cx="2381250" cy="454737"/>
          </a:xfrm>
          <a:prstGeom prst="rect">
            <a:avLst/>
          </a:prstGeom>
          <a:noFill/>
          <a:ln/>
        </p:spPr>
        <p:txBody>
          <a:bodyPr vert="horz" wrap="square" lIns="91440" tIns="45720" rIns="91440" bIns="45720" rtlCol="0" anchor="b" anchorCtr="0">
            <a:normAutofit/>
          </a:bodyPr>
          <a:lstStyle/>
          <a:p>
            <a:pPr algn="ctr">
              <a:defRPr/>
            </a:pPr>
            <a:r>
              <a:rPr lang="zh-CN" altLang="en-US" sz="1650" b="1" dirty="0">
                <a:solidFill>
                  <a:srgbClr val="FFFFFF">
                    <a:alpha val="100000"/>
                  </a:srgbClr>
                </a:solidFill>
                <a:latin typeface="Noto Sans SC"/>
                <a:ea typeface="Noto Sans SC"/>
                <a:cs typeface="Noto Sans SC"/>
              </a:rPr>
              <a:t>构建知识共享体系</a:t>
            </a:r>
            <a:endParaRPr lang="en-US" sz="1100" dirty="0"/>
          </a:p>
        </p:txBody>
        <p:extLst mod="1">
          <p:ext uri="http://schemas.baidu.com/office/drawing/2023/templateData">
            <bd:templateData xmlns="" xmlns:bd="http://schemas.baidu.com/office/drawing/2023/templateData">eyJfdGVtcGxhdGVEYXRhIjp7ImNvbnRlbnRUeXBlIjoiJGl0ZW0zX3RpdGxlIiwibGluZUNvdW50IjoiMSIsIndvcmRDb3VudCI6IjkifSwidGFnIjoiJGl0ZW0zX3RpdGxlIn0=</bd:templateData>
          </p:ext>
        </p:extLst>
      </p:sp>
      <p:sp>
        <p:nvSpPr>
          <p:cNvPr id="32" name="TextBox 32"/>
          <p:cNvSpPr txBox="1"/>
          <p:nvPr/>
        </p:nvSpPr>
        <p:spPr>
          <a:xfrm>
            <a:off x="6280772" y="4158236"/>
            <a:ext cx="2352814" cy="1347864"/>
          </a:xfrm>
          <a:prstGeom prst="rect">
            <a:avLst/>
          </a:prstGeom>
          <a:ln/>
        </p:spPr>
        <p:txBody>
          <a:bodyPr vert="horz" wrap="square" lIns="123825" tIns="57150" rIns="57150" bIns="57150" rtlCol="0" anchor="t" anchorCtr="0">
            <a:noAutofit/>
          </a:bodyPr>
          <a:lstStyle/>
          <a:p>
            <a:pPr marL="171450" indent="-171450">
              <a:lnSpc>
                <a:spcPct val="120000"/>
              </a:lnSpc>
              <a:buFont typeface="Arial" panose="020B0604020202020204" pitchFamily="34" charset="0"/>
              <a:buChar char="•"/>
            </a:pPr>
            <a:r>
              <a:rPr lang="zh-CN" altLang="en-US" sz="1200" dirty="0">
                <a:solidFill>
                  <a:srgbClr val="FFFFFF">
                    <a:alpha val="100000"/>
                  </a:srgbClr>
                </a:solidFill>
                <a:latin typeface="Noto Sans SC"/>
                <a:ea typeface="Noto Sans SC"/>
                <a:cs typeface="Noto Sans SC"/>
              </a:rPr>
              <a:t>牵头建立团队内部技术分享机制，每季度聚焦</a:t>
            </a:r>
            <a:r>
              <a:rPr lang="en-US" altLang="zh-CN" sz="1200" dirty="0">
                <a:solidFill>
                  <a:srgbClr val="FFFFFF">
                    <a:alpha val="100000"/>
                  </a:srgbClr>
                </a:solidFill>
                <a:latin typeface="Noto Sans SC"/>
                <a:ea typeface="Noto Sans SC"/>
                <a:cs typeface="Noto Sans SC"/>
              </a:rPr>
              <a:t>1</a:t>
            </a:r>
            <a:r>
              <a:rPr lang="zh-CN" altLang="en-US" sz="1200" dirty="0">
                <a:solidFill>
                  <a:srgbClr val="FFFFFF">
                    <a:alpha val="100000"/>
                  </a:srgbClr>
                </a:solidFill>
                <a:latin typeface="Noto Sans SC"/>
                <a:ea typeface="Noto Sans SC"/>
                <a:cs typeface="Noto Sans SC"/>
              </a:rPr>
              <a:t>个前沿主题（如</a:t>
            </a:r>
            <a:r>
              <a:rPr lang="en-US" altLang="zh-CN" sz="1200" dirty="0">
                <a:solidFill>
                  <a:srgbClr val="FFFFFF">
                    <a:alpha val="100000"/>
                  </a:srgbClr>
                </a:solidFill>
                <a:latin typeface="Noto Sans SC"/>
                <a:ea typeface="Noto Sans SC"/>
                <a:cs typeface="Noto Sans SC"/>
              </a:rPr>
              <a:t>AI</a:t>
            </a:r>
            <a:r>
              <a:rPr lang="zh-CN" altLang="en-US" sz="1200" dirty="0">
                <a:solidFill>
                  <a:srgbClr val="FFFFFF">
                    <a:alpha val="100000"/>
                  </a:srgbClr>
                </a:solidFill>
                <a:latin typeface="Noto Sans SC"/>
                <a:ea typeface="Noto Sans SC"/>
                <a:cs typeface="Noto Sans SC"/>
              </a:rPr>
              <a:t>能力与无代码平台集成、复杂逻辑的二开实践）。</a:t>
            </a:r>
          </a:p>
          <a:p>
            <a:pPr marL="171450" indent="-171450">
              <a:lnSpc>
                <a:spcPct val="120000"/>
              </a:lnSpc>
              <a:buFont typeface="Arial" panose="020B0604020202020204" pitchFamily="34" charset="0"/>
              <a:buChar char="•"/>
            </a:pPr>
            <a:r>
              <a:rPr lang="zh-CN" altLang="en-US" sz="1200" dirty="0">
                <a:solidFill>
                  <a:srgbClr val="FFFFFF">
                    <a:alpha val="100000"/>
                  </a:srgbClr>
                </a:solidFill>
                <a:latin typeface="Noto Sans SC"/>
                <a:ea typeface="Noto Sans SC"/>
                <a:cs typeface="Noto Sans SC"/>
              </a:rPr>
              <a:t>将个人在二开、数据流调优方面的经验系统化，形成可传承的知识库与带教流程。</a:t>
            </a:r>
            <a:endParaRPr lang="en-US" sz="1200" dirty="0">
              <a:solidFill>
                <a:srgbClr val="FFFFFF">
                  <a:alpha val="100000"/>
                </a:srgb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eyJfdGVtcGxhdGVEYXRhIjp7ImNvbnRlbnRUeXBlIjoiJGl0ZW0zX2MiLCJsaW5lQ291bnQiOiI1Iiwid29yZENvdW50IjoiMTMifSwidGFnIjoiJGl0ZW0zX2MifQ==</bd:templateData>
          </p:ext>
        </p:extLst>
      </p:sp>
      <p:grpSp>
        <p:nvGrpSpPr>
          <p:cNvPr id="33" name="Group 33"/>
          <p:cNvGrpSpPr/>
          <p:nvPr/>
        </p:nvGrpSpPr>
        <p:grpSpPr>
          <a:xfrm>
            <a:off x="9022814" y="2038350"/>
            <a:ext cx="2438400" cy="4019550"/>
            <a:chOff x="9022814" y="2038350"/>
            <a:chExt cx="2438400" cy="4019550"/>
          </a:xfrm>
        </p:grpSpPr>
        <p:sp>
          <p:nvSpPr>
            <p:cNvPr id="34" name="AutoShape 34"/>
            <p:cNvSpPr/>
            <p:nvPr/>
          </p:nvSpPr>
          <p:spPr>
            <a:xfrm>
              <a:off x="9022814" y="3267075"/>
              <a:ext cx="2438400" cy="2790825"/>
            </a:xfrm>
            <a:prstGeom prst="rect">
              <a:avLst/>
            </a:prstGeom>
            <a:solidFill>
              <a:schemeClr val="accen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35" name="AutoShape 35"/>
            <p:cNvSpPr/>
            <p:nvPr/>
          </p:nvSpPr>
          <p:spPr>
            <a:xfrm>
              <a:off x="9022814" y="2038350"/>
              <a:ext cx="2438400" cy="2438400"/>
            </a:xfrm>
            <a:prstGeom prst="ellipse">
              <a:avLst/>
            </a:prstGeom>
            <a:solidFill>
              <a:schemeClr val="accent1">
                <a:alpha val="100000"/>
              </a:schemeClr>
            </a:solidFill>
            <a:ln/>
          </p:spPr>
        </p:sp>
      </p:grpSp>
      <p:grpSp>
        <p:nvGrpSpPr>
          <p:cNvPr id="36" name="Group 36"/>
          <p:cNvGrpSpPr/>
          <p:nvPr/>
        </p:nvGrpSpPr>
        <p:grpSpPr>
          <a:xfrm>
            <a:off x="9041864" y="2057470"/>
            <a:ext cx="2400300" cy="3933686"/>
            <a:chOff x="9041864" y="2057470"/>
            <a:chExt cx="2400300" cy="3933686"/>
          </a:xfrm>
        </p:grpSpPr>
        <p:sp>
          <p:nvSpPr>
            <p:cNvPr id="37" name="AutoShape 37"/>
            <p:cNvSpPr/>
            <p:nvPr/>
          </p:nvSpPr>
          <p:spPr>
            <a:xfrm>
              <a:off x="9041864" y="3257620"/>
              <a:ext cx="2400300" cy="2733536"/>
            </a:xfrm>
            <a:prstGeom prst="rect">
              <a:avLst/>
            </a:prstGeom>
            <a:solidFill>
              <a:schemeClr val="lt1">
                <a:alpha val="100000"/>
              </a:schemeClr>
            </a:solidFill>
            <a:ln/>
          </p:spPr>
          <p:txBody>
            <a:bodyPr vert="horz" wrap="square" rtlCol="0" anchor="ctr" anchorCtr="0">
              <a:noAutofit/>
            </a:bodyPr>
            <a:lstStyle/>
            <a:p>
              <a:pPr algn="ctr">
                <a:lnSpc>
                  <a:spcPct val="100000"/>
                </a:lnSpc>
                <a:spcBef>
                  <a:spcPts val="375"/>
                </a:spcBef>
                <a:defRPr/>
              </a:pPr>
              <a:endParaRPr lang="en-US" sz="1100"/>
            </a:p>
          </p:txBody>
        </p:sp>
        <p:sp>
          <p:nvSpPr>
            <p:cNvPr id="38" name="AutoShape 38"/>
            <p:cNvSpPr/>
            <p:nvPr/>
          </p:nvSpPr>
          <p:spPr>
            <a:xfrm>
              <a:off x="9041864" y="2057470"/>
              <a:ext cx="2400300" cy="2400300"/>
            </a:xfrm>
            <a:prstGeom prst="ellipse">
              <a:avLst/>
            </a:prstGeom>
            <a:solidFill>
              <a:schemeClr val="lt1">
                <a:alpha val="100000"/>
              </a:schemeClr>
            </a:solidFill>
            <a:ln/>
          </p:spPr>
        </p:sp>
      </p:grpSp>
      <p:pic>
        <p:nvPicPr>
          <p:cNvPr id="39" name="Picture 39"/>
          <p:cNvPicPr>
            <a:picLocks noChangeAspect="1"/>
          </p:cNvPicPr>
          <p:nvPr/>
        </p:nvPicPr>
        <p:blipFill>
          <a:blip r:embed="rId5">
            <a:alphaModFix/>
          </a:blip>
          <a:srcRect/>
          <a:stretch>
            <a:fillRect/>
          </a:stretch>
        </p:blipFill>
        <p:spPr>
          <a:xfrm>
            <a:off x="9432389" y="2296017"/>
            <a:ext cx="1619250" cy="1619250"/>
          </a:xfrm>
          <a:prstGeom prst="ellipse">
            <a:avLst/>
          </a:prstGeom>
          <a:ln w="57150">
            <a:solidFill>
              <a:schemeClr val="accent1"/>
            </a:solidFill>
            <a:prstDash val="solid"/>
          </a:ln>
        </p:spPr>
        <p:extLst>
          <p:ext uri="http://schemas.baidu.com/office/drawing/2023/templateData">
            <bd:templateData xmlns="" xmlns:bd="http://schemas.baidu.com/office/drawing/2023/templateData">eyJfdGVtcGxhdGVEYXRhIjp7ImNvbnRlbnRUeXBlIjoiJGltZzMifSwidGFnIjoiJGltZzMifQ==</bd:templateData>
          </p:ext>
        </p:extLst>
      </p:pic>
      <p:sp>
        <p:nvSpPr>
          <p:cNvPr id="40" name="AutoShape 40"/>
          <p:cNvSpPr/>
          <p:nvPr/>
        </p:nvSpPr>
        <p:spPr>
          <a:xfrm>
            <a:off x="9051389" y="4021401"/>
            <a:ext cx="2381250" cy="454737"/>
          </a:xfrm>
          <a:prstGeom prst="rect">
            <a:avLst/>
          </a:prstGeom>
          <a:noFill/>
          <a:ln/>
        </p:spPr>
        <p:txBody>
          <a:bodyPr vert="horz" wrap="square" lIns="91440" tIns="45720" rIns="91440" bIns="45720" rtlCol="0" anchor="b" anchorCtr="0">
            <a:normAutofit/>
          </a:bodyPr>
          <a:lstStyle/>
          <a:p>
            <a:pPr algn="ctr">
              <a:defRPr/>
            </a:pPr>
            <a:r>
              <a:rPr lang="zh-CN" altLang="en-US" sz="1650" b="1" dirty="0">
                <a:solidFill>
                  <a:schemeClr val="dk1">
                    <a:alpha val="100000"/>
                  </a:schemeClr>
                </a:solidFill>
                <a:latin typeface="Noto Sans SC"/>
                <a:ea typeface="Noto Sans SC"/>
                <a:cs typeface="Noto Sans SC"/>
              </a:rPr>
              <a:t>转型客户成功经理</a:t>
            </a:r>
            <a:endParaRPr lang="en-US" sz="1100" dirty="0"/>
          </a:p>
        </p:txBody>
        <p:extLst mod="1">
          <p:ext uri="http://schemas.baidu.com/office/drawing/2023/templateData">
            <bd:templateData xmlns="" xmlns:bd="http://schemas.baidu.com/office/drawing/2023/templateData">eyJfdGVtcGxhdGVEYXRhIjp7ImNvbnRlbnRUeXBlIjoiJGl0ZW00X3RpdGxlIiwibGluZUNvdW50IjoiMSIsIndvcmRDb3VudCI6IjkifSwidGFnIjoiJGl0ZW00X3RpdGxlIn0=</bd:templateData>
          </p:ext>
        </p:extLst>
      </p:sp>
      <p:sp>
        <p:nvSpPr>
          <p:cNvPr id="41" name="TextBox 41"/>
          <p:cNvSpPr txBox="1"/>
          <p:nvPr/>
        </p:nvSpPr>
        <p:spPr>
          <a:xfrm>
            <a:off x="9032339" y="4515080"/>
            <a:ext cx="2352814" cy="1444065"/>
          </a:xfrm>
          <a:prstGeom prst="rect">
            <a:avLst/>
          </a:prstGeom>
          <a:ln/>
        </p:spPr>
        <p:txBody>
          <a:bodyPr vert="horz" wrap="square" lIns="123825" tIns="57150" rIns="57150" bIns="57150" rtlCol="0" anchor="t" anchorCtr="0">
            <a:noAutofit/>
          </a:bodyPr>
          <a:lstStyle/>
          <a:p>
            <a:pPr>
              <a:lnSpc>
                <a:spcPct val="120000"/>
              </a:lnSpc>
            </a:pPr>
            <a:r>
              <a:rPr lang="zh-CN" altLang="en-US" sz="1200" dirty="0">
                <a:solidFill>
                  <a:schemeClr val="dk1">
                    <a:alpha val="100000"/>
                  </a:schemeClr>
                </a:solidFill>
                <a:latin typeface="Noto Sans SC"/>
                <a:ea typeface="Noto Sans SC"/>
                <a:cs typeface="Noto Sans SC"/>
              </a:rPr>
              <a:t>计划深入业务前端，参与客户调研与方案设计。目标在一年内能独立负责中型客户的全程数字化需求对接与方案规划，实现从技术支撑到价值驱动的角色升级。</a:t>
            </a:r>
            <a:endParaRPr lang="en-US" sz="1200" dirty="0">
              <a:solidFill>
                <a:schemeClr val="dk1">
                  <a:alpha val="100000"/>
                </a:schemeClr>
              </a:solidFill>
              <a:latin typeface="Noto Sans SC"/>
              <a:ea typeface="Noto Sans SC"/>
              <a:cs typeface="Noto Sans SC"/>
            </a:endParaRPr>
          </a:p>
        </p:txBody>
        <p:extLst mod="1">
          <p:ext uri="http://schemas.baidu.com/office/drawing/2023/templateData">
            <bd:templateData xmlns="" xmlns:bd="http://schemas.baidu.com/office/drawing/2023/templateData">eyJfdGVtcGxhdGVEYXRhIjp7ImNvbnRlbnRUeXBlIjoiJGl0ZW00X2MiLCJsaW5lQ291bnQiOiI1Iiwid29yZENvdW50IjoiMTMifSwidGFnIjoiJGl0ZW00X2MifQ==</bd:templateData>
          </p:ext>
        </p:extLst>
      </p:sp>
    </p:spTree>
  </p:cSld>
  <p:clrMapOvr>
    <a:masterClrMapping/>
  </p:clrMapOvr>
  <p:extLst mod="1">
    <p:ext uri="http://schemas.baidu.com/office/drawing/2023/templateData">
      <bd:templateData xmlns="" xmlns:bd="http://schemas.baidu.com/office/drawing/2023/templateData">eyJtZCI6IiMjIOacquadpeW3peS9nOebruagh+S4juiuoeWIklxuIyMjIOWuouaIt+a7oeaEj+W6puaPkOWNh1xu6YCa6L+H5bu656uL5ZGo5pyf5oCn5a6i5oi35Zue6K6/5py65Yi277yM5pS26ZuG5Y+N6aaI5bm25Yi25a6a5Liq5oCn5YyW6Kej5Yaz5pa55qGI77yM55uu5qCH5bCG5a6i5oi35ruh5oSP5bqm5LuOODUl5o+Q5Y2H6IezOTUl5Lul5LiK77yM5ZCM5pe25o6o5Yqo57ut57qm546H5aKe6ZW/44CCXG4jIyMg5Lqn5ZOB5Yib5paw5o6o5YqoXG7lj4LkuI7lhazlj7jmoLjlv4Pkuqflk4HnmoTlip/og73ov63ku6PvvIzkuLvlr7zoh7PlsJEy6aG55Yib5paw5Yqf6IO955qE55So5oi36ZyA5rGC6LCD56CU5LiO5Y6f5Z6L6K6+6K6h77yM56Gu5L+d5Lqn5ZOB56ue5LqJ5Yqb5oyB57ut6aKG5YWI5biC5Zy65ZCM57G756ue5ZOB44CCXG4jIyMg5Zui6Zif5Y2P5L2c5by65YyWXG7nibXlpLTnu4Tnu4flraPluqbot6jpg6jpl6jmioDmnK/liIbkuqvkvJrvvIzkv4Pov5vnn6Xor4bmsonmt4DkuI7otYTmupDmlbTlkIjvvIzorqHliJLopobnm5blrrnlmajljJbpg6jnvbLjgIFBSeaooeWei+S8mOWMluetieWJjeayv+S4u+mimO+8jOaPkOWNh+aVtOS9k+aKgOacr+awtOW5s+OAglxuIyMjIOS4quS6uuiDveWKm+eqgeegtFxu6ICD5Y+WQVdT6Kej5Yaz5pa55qGI5p625p6E5biI6K6k6K+B77yM5bm25a6M5oiQM+S4quS7peS4iuihjOS4muahiOS+i+eglOeptu+8jOW9ouaIkOWPr+WkjeeUqOeahOaKgOacr+aWueahiOW6k++8jOS4uuWboumYn+aPkOS+m+aKgOacr+WGs+etluaUr+aMgeOAgiIsInRwbGlkIjoiMTAwMDAiLCJ0cGxOYW1lIjoibGlzdDRfMjAyNTA3MDMxMCIsImVkaXRlZCI6ImZhbHNlIn0=</bd:templateData>
    </p:ext>
  </p:extLs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8000" r="-8000"/>
          </a:stretch>
        </a:blipFill>
        <a:effectLst/>
      </p:bgPr>
    </p:bg>
    <p:spTree>
      <p:nvGrpSpPr>
        <p:cNvPr id="1" name=""/>
        <p:cNvGrpSpPr/>
        <p:nvPr/>
      </p:nvGrpSpPr>
      <p:grpSpPr>
        <a:xfrm>
          <a:off x="0" y="0"/>
          <a:ext cx="0" cy="0"/>
          <a:chOff x="0" y="0"/>
          <a:chExt cx="0" cy="0"/>
        </a:xfrm>
      </p:grpSpPr>
      <p:sp>
        <p:nvSpPr>
          <p:cNvPr id="2" name="TextBox 2"/>
          <p:cNvSpPr txBox="1"/>
          <p:nvPr/>
        </p:nvSpPr>
        <p:spPr>
          <a:xfrm>
            <a:off x="672611" y="3429000"/>
            <a:ext cx="8029575" cy="1152525"/>
          </a:xfrm>
          <a:prstGeom prst="rect">
            <a:avLst/>
          </a:prstGeom>
          <a:ln/>
        </p:spPr>
        <p:txBody>
          <a:bodyPr vert="horz" wrap="square" lIns="123825" tIns="123825" rIns="57150" bIns="123825" rtlCol="0" anchor="t" anchorCtr="0">
            <a:noAutofit/>
          </a:bodyPr>
          <a:lstStyle/>
          <a:p>
            <a:pPr>
              <a:lnSpc>
                <a:spcPct val="186000"/>
              </a:lnSpc>
              <a:spcBef>
                <a:spcPts val="450"/>
              </a:spcBef>
            </a:pPr>
            <a:r>
              <a:rPr lang="en-US" sz="3075" dirty="0" err="1">
                <a:solidFill>
                  <a:schemeClr val="accent1">
                    <a:alpha val="100000"/>
                  </a:schemeClr>
                </a:solidFill>
                <a:latin typeface="Microsoft Yahei"/>
                <a:ea typeface="Microsoft Yahei"/>
                <a:cs typeface="Microsoft Yahei"/>
              </a:rPr>
              <a:t>谢谢您的观看</a:t>
            </a:r>
            <a:endParaRPr lang="en-US" sz="3075" dirty="0">
              <a:solidFill>
                <a:schemeClr val="accent1">
                  <a:alpha val="100000"/>
                </a:schemeClr>
              </a:solidFill>
              <a:latin typeface="Microsoft Yahei"/>
              <a:ea typeface="Microsoft Yahei"/>
              <a:cs typeface="Microsoft Yahei"/>
            </a:endParaRPr>
          </a:p>
        </p:txBody>
        <p:extLst>
          <p:ext uri="http://schemas.baidu.com/office/drawing/2023/templateData">
            <bd:templateData xmlns="" xmlns:bd="http://schemas.baidu.com/office/drawing/2023/templateData">eyJ0YWciOiJub0VkaXQifQ==</bd:templateData>
          </p:ext>
        </p:extLst>
      </p:sp>
      <p:sp>
        <p:nvSpPr>
          <p:cNvPr id="3" name="TextBox 3"/>
          <p:cNvSpPr txBox="1"/>
          <p:nvPr/>
        </p:nvSpPr>
        <p:spPr>
          <a:xfrm>
            <a:off x="672611" y="1363218"/>
            <a:ext cx="9069452" cy="2495550"/>
          </a:xfrm>
          <a:prstGeom prst="rect">
            <a:avLst/>
          </a:prstGeom>
          <a:ln/>
        </p:spPr>
        <p:txBody>
          <a:bodyPr vert="horz" wrap="square" lIns="123825" tIns="123825" rIns="57150" bIns="123825" rtlCol="0" anchor="t" anchorCtr="0">
            <a:noAutofit/>
          </a:bodyPr>
          <a:lstStyle/>
          <a:p>
            <a:pPr>
              <a:lnSpc>
                <a:spcPct val="112000"/>
              </a:lnSpc>
              <a:spcBef>
                <a:spcPts val="450"/>
              </a:spcBef>
            </a:pPr>
            <a:r>
              <a:rPr lang="en-US" sz="12300" b="1">
                <a:solidFill>
                  <a:schemeClr val="accent1">
                    <a:alpha val="100000"/>
                  </a:schemeClr>
                </a:solidFill>
                <a:latin typeface="Microsoft Yahei"/>
                <a:ea typeface="Microsoft Yahei"/>
                <a:cs typeface="Microsoft Yahei"/>
              </a:rPr>
              <a:t>THANKS</a:t>
            </a:r>
          </a:p>
        </p:txBody>
        <p:extLst>
          <p:ext uri="http://schemas.baidu.com/office/drawing/2023/templateData">
            <bd:templateData xmlns="" xmlns:bd="http://schemas.baidu.com/office/drawing/2023/templateData">eyJ0YWciOiJub0VkaXQifQ==</bd:templateData>
          </p:ext>
        </p:extLst>
      </p:sp>
    </p:spTree>
  </p:cSld>
  <p:clrMapOvr>
    <a:masterClrMapping/>
  </p:clrMapOvr>
  <p:extLst mod="1">
    <p:ext uri="http://schemas.baidu.com/office/drawing/2023/templateData">
      <bd:templateData xmlns="" xmlns:bd="http://schemas.baidu.com/office/drawing/2023/templateData">eyJtZCI6IiIsInRwbGlkIjoiMTAwMDAiLCJ0cGxOYW1lIjoiZW5kX2N1c3RvbSIsImVkaXRlZCI6InRydWUifQ==</bd:templateData>
    </p:ext>
  </p:extLst>
</p:sld>
</file>

<file path=ppt/theme/theme1.xml><?xml version="1.0" encoding="utf-8"?>
<a:theme xmlns:a="http://schemas.openxmlformats.org/drawingml/2006/main" name="Office 主题​​">
  <a:themeElements>
    <a:clrScheme name="Office">
      <a:dk1>
        <a:srgbClr val="000000"/>
      </a:dk1>
      <a:lt1>
        <a:srgbClr val="EFFBFF"/>
      </a:lt1>
      <a:dk2>
        <a:srgbClr val="002F40"/>
      </a:dk2>
      <a:lt2>
        <a:srgbClr val="FFFFFF"/>
      </a:lt2>
      <a:accent1>
        <a:srgbClr val="3045FD"/>
      </a:accent1>
      <a:accent2>
        <a:srgbClr val="0085FF"/>
      </a:accent2>
      <a:accent3>
        <a:srgbClr val="2947E8"/>
      </a:accent3>
      <a:accent4>
        <a:srgbClr val="3CD6DF"/>
      </a:accent4>
      <a:accent5>
        <a:srgbClr val="73DDE3"/>
      </a:accent5>
      <a:accent6>
        <a:srgbClr val="FFC67C"/>
      </a:accent6>
      <a:hlink>
        <a:srgbClr val="00B6FF"/>
      </a:hlink>
      <a:folHlink>
        <a:srgbClr val="00B6FF"/>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1443</TotalTime>
  <Words>1853</Words>
  <Application>Microsoft Office PowerPoint</Application>
  <PresentationFormat>宽屏</PresentationFormat>
  <Paragraphs>121</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微软雅黑 Light</vt:lpstr>
      <vt:lpstr>等线</vt:lpstr>
      <vt:lpstr>Noto Sans SC</vt:lpstr>
      <vt:lpstr>Microsoft Yahei</vt:lpstr>
      <vt:lpstr>Microsoft Yahei</vt:lpstr>
      <vt:lpstr>Arial</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zhangqishou</dc:creator>
  <cp:lastModifiedBy>yang yifan</cp:lastModifiedBy>
  <cp:revision>41</cp:revision>
  <dcterms:created xsi:type="dcterms:W3CDTF">2025-10-20T11:38:53Z</dcterms:created>
  <dcterms:modified xsi:type="dcterms:W3CDTF">2025-11-07T08:41:43Z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001191110000802100433B10001","ProduceID":"869dfc7397ee8ea6ff4665468bbf4739_1762158719_2574c16e261bffe7e4c76604b845fde1","ReservedCode1":"e331ad0fd7d9cc9aac3526b22c81d1bfb2d132bee45ddc7ac2cb969617032bda","ContentPropagator":"001191110000802100433B10001","PropagateID":"869dfc7397ee8ea6ff4665468bbf4739_1762158719_2574c16e261bffe7e4c76604b845fde1","ReservedCode2":"e331ad0fd7d9cc9aac3526b22c81d1bfb2d132bee45ddc7ac2cb969617032bda"}</vt:lpwstr>
  </property>
</Properties>
</file>