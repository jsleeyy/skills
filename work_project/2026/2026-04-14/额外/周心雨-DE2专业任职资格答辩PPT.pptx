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  <p:sldId id="263" r:id="rId3"/>
    <p:sldId id="264" r:id="rId20"/>
    <p:sldId id="265" r:id="rId21"/>
    <p:sldId id="266" r:id="rId22"/>
    <p:sldId id="267" r:id="rId23"/>
    <p:sldId id="268" r:id="rId24"/>
    <p:sldId id="269" r:id="rId25"/>
  </p:sldIdLst>
  <p:sldSz cx="12192000" cy="6858000"/>
  <p:notesSz cx="6858000" cy="9144000"/>
  <p:embeddedFontLst>
    <p:embeddedFont>
      <p:font typeface="微软雅黑" panose="020B0503020204020204" charset="-122"/>
      <p:regular r:id="rId15"/>
    </p:embeddedFont>
    <p:embeddedFont>
      <p:font typeface="Calibri" panose="020F0502020204030204" charset="0"/>
      <p:regular r:id="rId16"/>
      <p:bold r:id="rId17"/>
      <p:italic r:id="rId18"/>
      <p:boldItalic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73C53"/>
    <a:srgbClr val="FFA436"/>
    <a:srgbClr val="7CC636"/>
    <a:srgbClr val="D2DDF0"/>
    <a:srgbClr val="EEF6FC"/>
    <a:srgbClr val="F5FDFE"/>
    <a:srgbClr val="E8F0FF"/>
    <a:srgbClr val="327DF9"/>
    <a:srgbClr val="FFD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5026" autoAdjust="0"/>
  </p:normalViewPr>
  <p:slideViewPr>
    <p:cSldViewPr snapToGrid="0">
      <p:cViewPr>
        <p:scale>
          <a:sx n="75" d="100"/>
          <a:sy n="75" d="100"/>
        </p:scale>
        <p:origin x="210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8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封面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占位符 27"/>
          <p:cNvSpPr>
            <a:spLocks noGrp="1"/>
          </p:cNvSpPr>
          <p:nvPr>
            <p:ph type="body" sz="quarter" idx="13" hasCustomPrompt="1"/>
          </p:nvPr>
        </p:nvSpPr>
        <p:spPr>
          <a:xfrm>
            <a:off x="784736" y="5000008"/>
            <a:ext cx="2382548" cy="3325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  <a:lvl2pPr>
              <a:defRPr>
                <a:solidFill>
                  <a:srgbClr val="337DFA"/>
                </a:solidFill>
              </a:defRPr>
            </a:lvl2pPr>
            <a:lvl3pPr>
              <a:defRPr>
                <a:solidFill>
                  <a:srgbClr val="337DFA"/>
                </a:solidFill>
              </a:defRPr>
            </a:lvl3pPr>
            <a:lvl4pPr>
              <a:defRPr>
                <a:solidFill>
                  <a:srgbClr val="337DFA"/>
                </a:solidFill>
              </a:defRPr>
            </a:lvl4pPr>
            <a:lvl5pPr>
              <a:defRPr>
                <a:solidFill>
                  <a:srgbClr val="337DFA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微软雅黑" panose="020B0503020204020204" charset="-122"/>
              </a:rPr>
              <a:t>2026/01/01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781" y="2881151"/>
            <a:ext cx="7345362" cy="622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5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781" y="1915577"/>
            <a:ext cx="7345362" cy="8490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rgbClr val="337DFA"/>
                </a:solidFill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8665" y="648335"/>
            <a:ext cx="3876040" cy="3327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5207635" cy="5648960"/>
          </a:xfrm>
          <a:prstGeom prst="rect">
            <a:avLst/>
          </a:pr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7" name="图形 1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635"/>
            <a:ext cx="7559040" cy="685863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 rot="5400000">
            <a:off x="-231118" y="2278669"/>
            <a:ext cx="30740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alpha val="2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 CONTENTS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alpha val="2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545288" y="1239429"/>
            <a:ext cx="94615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目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录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10" name="图片 9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16925" y="317500"/>
            <a:ext cx="2973705" cy="255270"/>
          </a:xfrm>
          <a:prstGeom prst="rect">
            <a:avLst/>
          </a:prstGeom>
        </p:spPr>
      </p:pic>
      <p:grpSp>
        <p:nvGrpSpPr>
          <p:cNvPr id="30" name="组合 29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31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21" name="任意多边形: 形状 20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9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27DF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01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327DF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9548" y="439431"/>
            <a:ext cx="1619120" cy="2508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137285" y="338455"/>
            <a:ext cx="8825230" cy="4781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 b="1">
                <a:solidFill>
                  <a:srgbClr val="337DF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374650" y="383858"/>
            <a:ext cx="641985" cy="387350"/>
            <a:chOff x="1088" y="4753"/>
            <a:chExt cx="2144" cy="1294"/>
          </a:xfrm>
        </p:grpSpPr>
        <p:sp>
          <p:nvSpPr>
            <p:cNvPr id="20" name="任意多边形 19"/>
            <p:cNvSpPr/>
            <p:nvPr userDrawn="1"/>
          </p:nvSpPr>
          <p:spPr>
            <a:xfrm>
              <a:off x="1088" y="4753"/>
              <a:ext cx="1072" cy="129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1072" h="1296">
                  <a:moveTo>
                    <a:pt x="0" y="648"/>
                  </a:moveTo>
                  <a:cubicBezTo>
                    <a:pt x="-11" y="284"/>
                    <a:pt x="322" y="-9"/>
                    <a:pt x="648" y="0"/>
                  </a:cubicBezTo>
                  <a:cubicBezTo>
                    <a:pt x="808" y="-9"/>
                    <a:pt x="993" y="84"/>
                    <a:pt x="1072" y="159"/>
                  </a:cubicBezTo>
                  <a:cubicBezTo>
                    <a:pt x="944" y="255"/>
                    <a:pt x="839" y="485"/>
                    <a:pt x="849" y="648"/>
                  </a:cubicBezTo>
                  <a:cubicBezTo>
                    <a:pt x="837" y="842"/>
                    <a:pt x="969" y="1055"/>
                    <a:pt x="1072" y="1136"/>
                  </a:cubicBezTo>
                  <a:cubicBezTo>
                    <a:pt x="975" y="1232"/>
                    <a:pt x="777" y="1302"/>
                    <a:pt x="648" y="1295"/>
                  </a:cubicBezTo>
                  <a:cubicBezTo>
                    <a:pt x="284" y="1306"/>
                    <a:pt x="-9" y="973"/>
                    <a:pt x="0" y="648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160" y="4753"/>
              <a:ext cx="1072" cy="1295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1072" h="1296">
                  <a:moveTo>
                    <a:pt x="0" y="159"/>
                  </a:moveTo>
                  <a:cubicBezTo>
                    <a:pt x="97" y="63"/>
                    <a:pt x="295" y="-7"/>
                    <a:pt x="425" y="0"/>
                  </a:cubicBezTo>
                  <a:cubicBezTo>
                    <a:pt x="788" y="-11"/>
                    <a:pt x="1081" y="322"/>
                    <a:pt x="1072" y="648"/>
                  </a:cubicBezTo>
                  <a:cubicBezTo>
                    <a:pt x="1083" y="1011"/>
                    <a:pt x="750" y="1304"/>
                    <a:pt x="425" y="1295"/>
                  </a:cubicBezTo>
                  <a:cubicBezTo>
                    <a:pt x="264" y="1304"/>
                    <a:pt x="79" y="1211"/>
                    <a:pt x="0" y="1136"/>
                  </a:cubicBezTo>
                  <a:cubicBezTo>
                    <a:pt x="128" y="1040"/>
                    <a:pt x="233" y="810"/>
                    <a:pt x="223" y="648"/>
                  </a:cubicBezTo>
                  <a:cubicBezTo>
                    <a:pt x="235" y="453"/>
                    <a:pt x="103" y="240"/>
                    <a:pt x="0" y="159"/>
                  </a:cubicBezTo>
                  <a:close/>
                </a:path>
              </a:pathLst>
            </a:custGeom>
            <a:solidFill>
              <a:srgbClr val="7CC636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1937" y="4912"/>
              <a:ext cx="446" cy="978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il" t="it" r="ir" b="ib"/>
              <a:pathLst>
                <a:path w="448" h="978">
                  <a:moveTo>
                    <a:pt x="223" y="0"/>
                  </a:moveTo>
                  <a:cubicBezTo>
                    <a:pt x="351" y="97"/>
                    <a:pt x="456" y="327"/>
                    <a:pt x="446" y="489"/>
                  </a:cubicBezTo>
                  <a:cubicBezTo>
                    <a:pt x="458" y="683"/>
                    <a:pt x="326" y="896"/>
                    <a:pt x="223" y="978"/>
                  </a:cubicBezTo>
                  <a:cubicBezTo>
                    <a:pt x="95" y="881"/>
                    <a:pt x="-10" y="651"/>
                    <a:pt x="0" y="489"/>
                  </a:cubicBezTo>
                  <a:cubicBezTo>
                    <a:pt x="-12" y="295"/>
                    <a:pt x="120" y="81"/>
                    <a:pt x="223" y="0"/>
                  </a:cubicBezTo>
                  <a:close/>
                </a:path>
              </a:pathLst>
            </a:custGeom>
            <a:solidFill>
              <a:srgbClr val="FFA436"/>
            </a:solidFill>
            <a:ln w="12700" cap="flat" cmpd="sng" algn="ctr">
              <a:noFill/>
              <a:prstDash val="solid"/>
              <a:miter lim="800000"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5" name="组合 94"/>
          <p:cNvGrpSpPr/>
          <p:nvPr userDrawn="1"/>
        </p:nvGrpSpPr>
        <p:grpSpPr>
          <a:xfrm>
            <a:off x="401320" y="6538119"/>
            <a:ext cx="520065" cy="173355"/>
            <a:chOff x="461" y="9904"/>
            <a:chExt cx="1080" cy="360"/>
          </a:xfrm>
        </p:grpSpPr>
        <p:sp>
          <p:nvSpPr>
            <p:cNvPr id="92" name="椭圆 91"/>
            <p:cNvSpPr/>
            <p:nvPr userDrawn="1"/>
          </p:nvSpPr>
          <p:spPr>
            <a:xfrm>
              <a:off x="461" y="9904"/>
              <a:ext cx="361" cy="361"/>
            </a:xfrm>
            <a:prstGeom prst="ellipse">
              <a:avLst/>
            </a:prstGeom>
            <a:gradFill>
              <a:gsLst>
                <a:gs pos="28000">
                  <a:srgbClr val="84CA44">
                    <a:alpha val="0"/>
                  </a:srgbClr>
                </a:gs>
                <a:gs pos="100000">
                  <a:srgbClr val="84CA44"/>
                </a:gs>
              </a:gsLst>
              <a:lin ang="10800000" scaled="0"/>
            </a:gra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椭圆 92"/>
            <p:cNvSpPr/>
            <p:nvPr userDrawn="1"/>
          </p:nvSpPr>
          <p:spPr>
            <a:xfrm>
              <a:off x="821" y="9904"/>
              <a:ext cx="361" cy="361"/>
            </a:xfrm>
            <a:prstGeom prst="ellipse">
              <a:avLst/>
            </a:prstGeom>
            <a:solidFill>
              <a:srgbClr val="337DFA"/>
            </a:soli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椭圆 93"/>
            <p:cNvSpPr/>
            <p:nvPr userDrawn="1"/>
          </p:nvSpPr>
          <p:spPr>
            <a:xfrm>
              <a:off x="1181" y="9904"/>
              <a:ext cx="361" cy="361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72000">
                  <a:schemeClr val="accent3">
                    <a:alpha val="0"/>
                  </a:schemeClr>
                </a:gs>
              </a:gsLst>
              <a:lin ang="10800000" scaled="0"/>
            </a:gradFill>
            <a:ln w="19050" cap="flat" cmpd="sng" algn="ctr">
              <a:noFill/>
              <a:prstDash val="solid"/>
              <a:miter lim="800000"/>
            </a:ln>
          </p:spPr>
          <p:txBody>
            <a:bodyPr rtlCol="0" anchor="ctr"/>
            <a:lstStyle/>
            <a:p>
              <a:pPr algn="ctr"/>
              <a:endParaRPr lang="zh-CN" altLang="en-US" sz="2400" b="1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 userDrawn="1"/>
        </p:nvSpPr>
        <p:spPr>
          <a:xfrm>
            <a:off x="7390130" y="6536532"/>
            <a:ext cx="4658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©</a:t>
            </a:r>
            <a:r>
              <a:rPr lang="en-US" altLang="zh-CN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2026 </a:t>
            </a:r>
            <a:r>
              <a:rPr lang="zh-CN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数睿数据（</a:t>
            </a:r>
            <a:r>
              <a:rPr lang="en-US" altLang="zh-CN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smardaten</a:t>
            </a:r>
            <a:r>
              <a:rPr lang="zh-CN" altLang="en-US" sz="900" dirty="0">
                <a:solidFill>
                  <a:schemeClr val="tx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）版权所有，未经授权不得复制、传播或用于商业用途</a:t>
            </a:r>
            <a:endParaRPr lang="zh-CN" altLang="en-US" sz="900" dirty="0">
              <a:solidFill>
                <a:schemeClr val="tx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4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 userDrawn="1"/>
        </p:nvGrpSpPr>
        <p:grpSpPr>
          <a:xfrm>
            <a:off x="6230620" y="-949960"/>
            <a:ext cx="5926455" cy="817880"/>
            <a:chOff x="9812" y="-1496"/>
            <a:chExt cx="9333" cy="1288"/>
          </a:xfrm>
        </p:grpSpPr>
        <p:sp>
          <p:nvSpPr>
            <p:cNvPr id="31" name="矩形: 圆角 8"/>
            <p:cNvSpPr/>
            <p:nvPr userDrawn="1"/>
          </p:nvSpPr>
          <p:spPr>
            <a:xfrm>
              <a:off x="9998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27DF9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 userDrawn="1"/>
          </p:nvSpPr>
          <p:spPr>
            <a:xfrm>
              <a:off x="9812" y="-619"/>
              <a:ext cx="1341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0070D4"/>
                  </a:solidFill>
                  <a:latin typeface="微软雅黑" panose="020B0503020204020204" charset="-122"/>
                  <a:ea typeface="微软雅黑" panose="020B0503020204020204" charset="-122"/>
                </a:rPr>
                <a:t>#327DF9</a:t>
              </a:r>
              <a:endParaRPr lang="en-US" altLang="zh-CN" sz="1100" dirty="0">
                <a:solidFill>
                  <a:srgbClr val="0070D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: 圆角 10"/>
            <p:cNvSpPr/>
            <p:nvPr userDrawn="1"/>
          </p:nvSpPr>
          <p:spPr>
            <a:xfrm>
              <a:off x="11259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7CC6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 userDrawn="1"/>
          </p:nvSpPr>
          <p:spPr>
            <a:xfrm>
              <a:off x="11074" y="-619"/>
              <a:ext cx="133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7CC636"/>
                  </a:solidFill>
                  <a:latin typeface="微软雅黑" panose="020B0503020204020204" charset="-122"/>
                  <a:ea typeface="微软雅黑" panose="020B0503020204020204" charset="-122"/>
                </a:rPr>
                <a:t>#7CC636</a:t>
              </a:r>
              <a:endParaRPr lang="en-US" altLang="zh-CN" sz="1100" dirty="0">
                <a:solidFill>
                  <a:srgbClr val="7CC6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: 圆角 12"/>
            <p:cNvSpPr/>
            <p:nvPr userDrawn="1"/>
          </p:nvSpPr>
          <p:spPr>
            <a:xfrm>
              <a:off x="12552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FFA436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文本框 39"/>
            <p:cNvSpPr txBox="1"/>
            <p:nvPr userDrawn="1"/>
          </p:nvSpPr>
          <p:spPr>
            <a:xfrm>
              <a:off x="12307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FFA436"/>
                  </a:solidFill>
                  <a:latin typeface="微软雅黑" panose="020B0503020204020204" charset="-122"/>
                  <a:ea typeface="微软雅黑" panose="020B0503020204020204" charset="-122"/>
                </a:rPr>
                <a:t>#FFA436</a:t>
              </a:r>
              <a:endParaRPr lang="en-US" altLang="zh-CN" sz="1100" dirty="0">
                <a:solidFill>
                  <a:srgbClr val="FFA43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: 圆角 14"/>
            <p:cNvSpPr/>
            <p:nvPr userDrawn="1"/>
          </p:nvSpPr>
          <p:spPr>
            <a:xfrm>
              <a:off x="16785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A867F7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16599" y="-619"/>
              <a:ext cx="1340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矩形: 圆角 17"/>
            <p:cNvSpPr/>
            <p:nvPr userDrawn="1"/>
          </p:nvSpPr>
          <p:spPr>
            <a:xfrm>
              <a:off x="13850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373C53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 userDrawn="1"/>
          </p:nvSpPr>
          <p:spPr>
            <a:xfrm>
              <a:off x="13605" y="-619"/>
              <a:ext cx="1458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373C53"/>
                  </a:solidFill>
                  <a:latin typeface="微软雅黑" panose="020B0503020204020204" charset="-122"/>
                  <a:ea typeface="微软雅黑" panose="020B0503020204020204" charset="-122"/>
                </a:rPr>
                <a:t>#373C53</a:t>
              </a:r>
              <a:endParaRPr lang="en-US" altLang="zh-CN" sz="1100" dirty="0">
                <a:solidFill>
                  <a:srgbClr val="373C5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矩形: 圆角 14"/>
            <p:cNvSpPr/>
            <p:nvPr userDrawn="1"/>
          </p:nvSpPr>
          <p:spPr>
            <a:xfrm>
              <a:off x="17987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4F3A92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 userDrawn="1"/>
          </p:nvSpPr>
          <p:spPr>
            <a:xfrm>
              <a:off x="17797" y="-618"/>
              <a:ext cx="1349" cy="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A867F7"/>
                  </a:solidFill>
                  <a:latin typeface="微软雅黑" panose="020B0503020204020204" charset="-122"/>
                  <a:ea typeface="微软雅黑" panose="020B0503020204020204" charset="-122"/>
                </a:rPr>
                <a:t>#4F3A92</a:t>
              </a:r>
              <a:endParaRPr lang="en-US" altLang="zh-CN" sz="1100" dirty="0">
                <a:solidFill>
                  <a:srgbClr val="A867F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: 圆角 17"/>
            <p:cNvSpPr/>
            <p:nvPr userDrawn="1"/>
          </p:nvSpPr>
          <p:spPr>
            <a:xfrm>
              <a:off x="15164" y="-1496"/>
              <a:ext cx="969" cy="872"/>
            </a:xfrm>
            <a:prstGeom prst="roundRect">
              <a:avLst>
                <a:gd name="adj" fmla="val 10785"/>
              </a:avLst>
            </a:prstGeom>
            <a:solidFill>
              <a:srgbClr val="54C3F1"/>
            </a:solidFill>
            <a:ln>
              <a:noFill/>
            </a:ln>
          </p:spPr>
          <p:style>
            <a:lnRef idx="2">
              <a:srgbClr val="327DF9">
                <a:shade val="50000"/>
              </a:srgbClr>
            </a:lnRef>
            <a:fillRef idx="1">
              <a:srgbClr val="327DF9"/>
            </a:fillRef>
            <a:effectRef idx="0">
              <a:srgbClr val="327DF9"/>
            </a:effectRef>
            <a:fontRef idx="minor">
              <a:srgbClr val="3F3F3F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rgbClr val="3F3F3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 userDrawn="1"/>
          </p:nvSpPr>
          <p:spPr>
            <a:xfrm>
              <a:off x="14919" y="-619"/>
              <a:ext cx="1458" cy="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54C3F1"/>
                  </a:solidFill>
                </a14:hiddenFill>
              </a:ext>
            </a:ex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solidFill>
                    <a:srgbClr val="54C3F1"/>
                  </a:solidFill>
                  <a:latin typeface="微软雅黑" panose="020B0503020204020204" charset="-122"/>
                  <a:ea typeface="微软雅黑" panose="020B0503020204020204" charset="-122"/>
                </a:rPr>
                <a:t>#54C3F1</a:t>
              </a:r>
              <a:endParaRPr lang="en-US" altLang="zh-CN" sz="1100" dirty="0">
                <a:solidFill>
                  <a:srgbClr val="54C3F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5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7CC63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02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7CC63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6" name="图片 5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791203" y="6079851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9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FFA43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03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FFA43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6" name="图片 5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791203" y="6079851"/>
            <a:ext cx="284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11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54C3F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04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54C3F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过度页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8577944" cy="6892129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791203" y="6079851"/>
            <a:ext cx="28479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sz="1200" b="1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791203" y="5844429"/>
            <a:ext cx="2012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1200" dirty="0">
              <a:solidFill>
                <a:schemeClr val="bg1"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026572" y="1037094"/>
            <a:ext cx="4165427" cy="5181256"/>
          </a:xfrm>
          <a:custGeom>
            <a:avLst/>
            <a:gdLst>
              <a:gd name="connsiteX0" fmla="*/ 2590628 w 4165427"/>
              <a:gd name="connsiteY0" fmla="*/ 0 h 5181256"/>
              <a:gd name="connsiteX1" fmla="*/ 4039073 w 4165427"/>
              <a:gd name="connsiteY1" fmla="*/ 442439 h 5181256"/>
              <a:gd name="connsiteX2" fmla="*/ 4165427 w 4165427"/>
              <a:gd name="connsiteY2" fmla="*/ 536925 h 5181256"/>
              <a:gd name="connsiteX3" fmla="*/ 4165427 w 4165427"/>
              <a:gd name="connsiteY3" fmla="*/ 2589781 h 5181256"/>
              <a:gd name="connsiteX4" fmla="*/ 4157293 w 4165427"/>
              <a:gd name="connsiteY4" fmla="*/ 2428702 h 5181256"/>
              <a:gd name="connsiteX5" fmla="*/ 2589801 w 4165427"/>
              <a:gd name="connsiteY5" fmla="*/ 1014174 h 5181256"/>
              <a:gd name="connsiteX6" fmla="*/ 1014174 w 4165427"/>
              <a:gd name="connsiteY6" fmla="*/ 2589801 h 5181256"/>
              <a:gd name="connsiteX7" fmla="*/ 2589801 w 4165427"/>
              <a:gd name="connsiteY7" fmla="*/ 4165428 h 5181256"/>
              <a:gd name="connsiteX8" fmla="*/ 4157293 w 4165427"/>
              <a:gd name="connsiteY8" fmla="*/ 2750900 h 5181256"/>
              <a:gd name="connsiteX9" fmla="*/ 4165427 w 4165427"/>
              <a:gd name="connsiteY9" fmla="*/ 2589821 h 5181256"/>
              <a:gd name="connsiteX10" fmla="*/ 4165427 w 4165427"/>
              <a:gd name="connsiteY10" fmla="*/ 4644331 h 5181256"/>
              <a:gd name="connsiteX11" fmla="*/ 4039073 w 4165427"/>
              <a:gd name="connsiteY11" fmla="*/ 4738817 h 5181256"/>
              <a:gd name="connsiteX12" fmla="*/ 2590628 w 4165427"/>
              <a:gd name="connsiteY12" fmla="*/ 5181256 h 5181256"/>
              <a:gd name="connsiteX13" fmla="*/ 0 w 4165427"/>
              <a:gd name="connsiteY13" fmla="*/ 2590628 h 5181256"/>
              <a:gd name="connsiteX14" fmla="*/ 2590628 w 4165427"/>
              <a:gd name="connsiteY14" fmla="*/ 0 h 5181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65427" h="5181256">
                <a:moveTo>
                  <a:pt x="2590628" y="0"/>
                </a:moveTo>
                <a:cubicBezTo>
                  <a:pt x="3127164" y="0"/>
                  <a:pt x="3625606" y="163106"/>
                  <a:pt x="4039073" y="442439"/>
                </a:cubicBezTo>
                <a:lnTo>
                  <a:pt x="4165427" y="536925"/>
                </a:lnTo>
                <a:lnTo>
                  <a:pt x="4165427" y="2589781"/>
                </a:lnTo>
                <a:lnTo>
                  <a:pt x="4157293" y="2428702"/>
                </a:lnTo>
                <a:cubicBezTo>
                  <a:pt x="4076605" y="1634183"/>
                  <a:pt x="3405609" y="1014174"/>
                  <a:pt x="2589801" y="1014174"/>
                </a:cubicBezTo>
                <a:cubicBezTo>
                  <a:pt x="1719606" y="1014174"/>
                  <a:pt x="1014174" y="1719606"/>
                  <a:pt x="1014174" y="2589801"/>
                </a:cubicBezTo>
                <a:cubicBezTo>
                  <a:pt x="1014174" y="3459996"/>
                  <a:pt x="1719606" y="4165428"/>
                  <a:pt x="2589801" y="4165428"/>
                </a:cubicBezTo>
                <a:cubicBezTo>
                  <a:pt x="3405609" y="4165428"/>
                  <a:pt x="4076605" y="3545420"/>
                  <a:pt x="4157293" y="2750900"/>
                </a:cubicBezTo>
                <a:lnTo>
                  <a:pt x="4165427" y="2589821"/>
                </a:lnTo>
                <a:lnTo>
                  <a:pt x="4165427" y="4644331"/>
                </a:lnTo>
                <a:lnTo>
                  <a:pt x="4039073" y="4738817"/>
                </a:lnTo>
                <a:cubicBezTo>
                  <a:pt x="3625606" y="5018150"/>
                  <a:pt x="3127164" y="5181256"/>
                  <a:pt x="2590628" y="5181256"/>
                </a:cubicBezTo>
                <a:cubicBezTo>
                  <a:pt x="1159864" y="5181256"/>
                  <a:pt x="0" y="4021392"/>
                  <a:pt x="0" y="2590628"/>
                </a:cubicBezTo>
                <a:cubicBezTo>
                  <a:pt x="0" y="1159864"/>
                  <a:pt x="1159864" y="0"/>
                  <a:pt x="2590628" y="0"/>
                </a:cubicBezTo>
                <a:close/>
              </a:path>
            </a:pathLst>
          </a:custGeom>
          <a:solidFill>
            <a:srgbClr val="D2D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占位符 25"/>
          <p:cNvSpPr>
            <a:spLocks noGrp="1"/>
          </p:cNvSpPr>
          <p:nvPr>
            <p:ph type="body" sz="quarter" idx="14" hasCustomPrompt="1"/>
          </p:nvPr>
        </p:nvSpPr>
        <p:spPr>
          <a:xfrm>
            <a:off x="748665" y="3575050"/>
            <a:ext cx="5810885" cy="478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输入副标题</a:t>
            </a:r>
            <a:endParaRPr lang="zh-CN" altLang="en-US" dirty="0"/>
          </a:p>
        </p:txBody>
      </p:sp>
      <p:sp>
        <p:nvSpPr>
          <p:cNvPr id="11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748665" y="2538730"/>
            <a:ext cx="5810885" cy="8489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rgbClr val="41475D"/>
                </a:solidFill>
              </a:defRPr>
            </a:lvl2pPr>
            <a:lvl3pPr>
              <a:defRPr>
                <a:solidFill>
                  <a:srgbClr val="41475D"/>
                </a:solidFill>
              </a:defRPr>
            </a:lvl3pPr>
            <a:lvl4pPr>
              <a:defRPr>
                <a:solidFill>
                  <a:srgbClr val="41475D"/>
                </a:solidFill>
              </a:defRPr>
            </a:lvl4pPr>
            <a:lvl5pPr>
              <a:defRPr>
                <a:solidFill>
                  <a:srgbClr val="41475D"/>
                </a:solidFill>
              </a:defRPr>
            </a:lvl5pPr>
          </a:lstStyle>
          <a:p>
            <a:pPr lvl="0"/>
            <a:r>
              <a:rPr lang="zh-CN" altLang="en-US" dirty="0"/>
              <a:t>输入主标题</a:t>
            </a:r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601200" y="2718813"/>
            <a:ext cx="198374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373C5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05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373C5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2" name="图片 1" descr="logo横版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32545" y="345440"/>
            <a:ext cx="2652395" cy="227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底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29" descr="图标&#10;&#10;中度可信度描述已自动生成"/>
          <p:cNvPicPr>
            <a:picLocks noChangeAspect="1"/>
          </p:cNvPicPr>
          <p:nvPr userDrawn="1"/>
        </p:nvPicPr>
        <p:blipFill>
          <a:blip r:embed="rId3" cstate="screen">
            <a:alphaModFix amt="5000"/>
          </a:blip>
          <a:stretch>
            <a:fillRect/>
          </a:stretch>
        </p:blipFill>
        <p:spPr>
          <a:xfrm>
            <a:off x="750570" y="581025"/>
            <a:ext cx="7789545" cy="1047750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 flipV="1">
            <a:off x="830580" y="4184650"/>
            <a:ext cx="4731385" cy="52070"/>
            <a:chOff x="-491615" y="4884516"/>
            <a:chExt cx="1865235" cy="0"/>
          </a:xfrm>
        </p:grpSpPr>
        <p:cxnSp>
          <p:nvCxnSpPr>
            <p:cNvPr id="25" name="直接连接符 24"/>
            <p:cNvCxnSpPr/>
            <p:nvPr userDrawn="1"/>
          </p:nvCxnSpPr>
          <p:spPr>
            <a:xfrm>
              <a:off x="-491615" y="4884516"/>
              <a:ext cx="659757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>
              <a:off x="162046" y="4884516"/>
              <a:ext cx="659757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 userDrawn="1"/>
          </p:nvCxnSpPr>
          <p:spPr>
            <a:xfrm>
              <a:off x="820414" y="4884516"/>
              <a:ext cx="553206" cy="0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/>
          <p:cNvSpPr txBox="1"/>
          <p:nvPr userDrawn="1"/>
        </p:nvSpPr>
        <p:spPr>
          <a:xfrm>
            <a:off x="727075" y="5087620"/>
            <a:ext cx="5033645" cy="99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www.smardaten.com</a:t>
            </a:r>
            <a:endParaRPr lang="en-US" altLang="zh-CN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南京市江宁区秣陵街道秣陵中心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15-17F</a:t>
            </a:r>
            <a:endParaRPr lang="en-US" altLang="zh-CN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深圳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成都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天津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济南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西安 </a:t>
            </a:r>
            <a:r>
              <a:rPr lang="en-US" altLang="zh-CN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 </a:t>
            </a:r>
            <a:r>
              <a:rPr lang="zh-CN" altLang="en-US" sz="13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新加坡</a:t>
            </a:r>
            <a:endParaRPr lang="zh-CN" altLang="en-US" sz="1300" dirty="0">
              <a:solidFill>
                <a:schemeClr val="bg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 descr="QR 代码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507865" y="4405630"/>
            <a:ext cx="1129665" cy="1129665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655955" y="1429385"/>
            <a:ext cx="54914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400" b="1" dirty="0">
                <a:gradFill>
                  <a:gsLst>
                    <a:gs pos="21000">
                      <a:srgbClr val="327DF9"/>
                    </a:gs>
                    <a:gs pos="100000">
                      <a:srgbClr val="D8C9F2"/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让人人尽享数据价值</a:t>
            </a:r>
            <a:endParaRPr lang="zh-CN" altLang="en-US" sz="4400" b="1" dirty="0">
              <a:gradFill>
                <a:gsLst>
                  <a:gs pos="21000">
                    <a:srgbClr val="327DF9"/>
                  </a:gs>
                  <a:gs pos="100000">
                    <a:srgbClr val="D8C9F2"/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955" y="2232025"/>
            <a:ext cx="3933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alpha val="56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Data Value For Everyone</a:t>
            </a:r>
            <a:endParaRPr lang="en-US" altLang="zh-CN" dirty="0">
              <a:solidFill>
                <a:schemeClr val="tx1">
                  <a:lumMod val="75000"/>
                  <a:alpha val="56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27075" y="4405630"/>
            <a:ext cx="1831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rgbClr val="696C7E"/>
                </a:solidFill>
                <a:latin typeface="微软雅黑" panose="020B0503020204020204" charset="-122"/>
                <a:ea typeface="微软雅黑" panose="020B0503020204020204" charset="-122"/>
              </a:rPr>
              <a:t>数睿数据</a:t>
            </a:r>
            <a:endParaRPr lang="zh-CN" altLang="en-US" sz="2800" dirty="0">
              <a:solidFill>
                <a:srgbClr val="696C7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汇报人：周心雨    2026.04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27DF9"/>
                </a:solidFill>
                <a:latin typeface="Microsoft YaHei"/>
              </a:rPr>
              <a:t>DE2 申报答辩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C53"/>
                </a:solidFill>
                <a:latin typeface="Microsoft YaHei"/>
              </a:rPr>
              <a:t>配置开发专业任职资格答辩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315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DE2 申报答辩提纲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49240" y="1755648"/>
            <a:ext cx="5669280" cy="566928"/>
          </a:xfrm>
          <a:prstGeom prst="roundRect">
            <a:avLst/>
          </a:prstGeom>
          <a:solidFill>
            <a:srgbClr val="F2F7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83480" y="1700784"/>
            <a:ext cx="566928" cy="566928"/>
          </a:xfrm>
          <a:prstGeom prst="ellipse">
            <a:avLst/>
          </a:prstGeom>
          <a:solidFill>
            <a:srgbClr val="327DF9"/>
          </a:solidFill>
          <a:ln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828800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3C53"/>
                </a:solidFill>
                <a:latin typeface="Microsoft YaHei"/>
              </a:rPr>
              <a:t>个人概览与申报结论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2743200"/>
            <a:ext cx="5669280" cy="566928"/>
          </a:xfrm>
          <a:prstGeom prst="roundRect">
            <a:avLst/>
          </a:prstGeom>
          <a:solidFill>
            <a:srgbClr val="F7FBF2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83480" y="2688336"/>
            <a:ext cx="566928" cy="566928"/>
          </a:xfrm>
          <a:prstGeom prst="ellipse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816352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3C53"/>
                </a:solidFill>
                <a:latin typeface="Microsoft YaHei"/>
              </a:rPr>
              <a:t>项目产出与交付质量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3730752"/>
            <a:ext cx="5669280" cy="566928"/>
          </a:xfrm>
          <a:prstGeom prst="roundRect">
            <a:avLst/>
          </a:prstGeom>
          <a:solidFill>
            <a:srgbClr val="FFF9F2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3480" y="3675888"/>
            <a:ext cx="566928" cy="566928"/>
          </a:xfrm>
          <a:prstGeom prst="ellipse">
            <a:avLst/>
          </a:prstGeom>
          <a:solidFill>
            <a:srgbClr val="FFA436"/>
          </a:solidFill>
          <a:ln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803904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3C53"/>
                </a:solidFill>
                <a:latin typeface="Microsoft YaHei"/>
              </a:rPr>
              <a:t>专业回馈与能力对标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4718304"/>
            <a:ext cx="5669280" cy="566928"/>
          </a:xfrm>
          <a:prstGeom prst="roundRect">
            <a:avLst/>
          </a:prstGeom>
          <a:solidFill>
            <a:srgbClr val="F4FBFE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83480" y="4663440"/>
            <a:ext cx="566928" cy="566928"/>
          </a:xfrm>
          <a:prstGeom prst="ellipse">
            <a:avLst/>
          </a:prstGeom>
          <a:solidFill>
            <a:srgbClr val="54C3F1"/>
          </a:solidFill>
          <a:ln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791456"/>
            <a:ext cx="48920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3C53"/>
                </a:solidFill>
                <a:latin typeface="Microsoft YaHei"/>
              </a:rPr>
              <a:t>总结与后续计划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从项目产出、交付质量与标准对标说明本次 DE2 申报基础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C53"/>
                </a:solidFill>
                <a:latin typeface="Microsoft YaHei"/>
              </a:rPr>
              <a:t>个人概览与申报结论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个人概览：以独立交付能力支撑本次 DE2 申报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234440"/>
            <a:ext cx="2121408" cy="960120"/>
          </a:xfrm>
          <a:prstGeom prst="roundRect">
            <a:avLst/>
          </a:prstGeom>
          <a:solidFill>
            <a:srgbClr val="E6EF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327DF9"/>
                </a:solidFill>
                <a:latin typeface="Microsoft YaHei"/>
              </a:rPr>
              <a:t>9个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73C53"/>
                </a:solidFill>
                <a:latin typeface="Microsoft YaHei"/>
              </a:rPr>
              <a:t>参与项目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18688" y="1234440"/>
            <a:ext cx="2121408" cy="960120"/>
          </a:xfrm>
          <a:prstGeom prst="roundRect">
            <a:avLst/>
          </a:prstGeom>
          <a:solidFill>
            <a:srgbClr val="EFF8E6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7CC636"/>
                </a:solidFill>
                <a:latin typeface="Microsoft YaHei"/>
              </a:rPr>
              <a:t>10.9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73C53"/>
                </a:solidFill>
                <a:latin typeface="Microsoft YaHei"/>
              </a:rPr>
              <a:t>项目产出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68696" y="1234440"/>
            <a:ext cx="2121408" cy="9601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A436"/>
                </a:solidFill>
                <a:latin typeface="Microsoft YaHei"/>
              </a:rPr>
              <a:t>367页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73C53"/>
                </a:solidFill>
                <a:latin typeface="Microsoft YaHei"/>
              </a:rPr>
              <a:t>输出页面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18704" y="1234440"/>
            <a:ext cx="2121408" cy="960120"/>
          </a:xfrm>
          <a:prstGeom prst="roundRect">
            <a:avLst/>
          </a:prstGeom>
          <a:solidFill>
            <a:srgbClr val="EAF7FD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54C3F1"/>
                </a:solidFill>
                <a:latin typeface="Microsoft YaHei"/>
              </a:rPr>
              <a:t>4位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73C53"/>
                </a:solidFill>
                <a:latin typeface="Microsoft YaHei"/>
              </a:rPr>
              <a:t>辅导同事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95728"/>
            <a:ext cx="4937760" cy="2971800"/>
          </a:xfrm>
          <a:prstGeom prst="roundRect">
            <a:avLst/>
          </a:prstGeom>
          <a:solidFill>
            <a:srgbClr val="EAF2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395728"/>
            <a:ext cx="4937760" cy="146304"/>
          </a:xfrm>
          <a:prstGeom prst="rect">
            <a:avLst/>
          </a:prstGeom>
          <a:solidFill>
            <a:srgbClr val="327DF9"/>
          </a:solidFill>
          <a:ln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4718304" cy="273405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27DF9"/>
                </a:solidFill>
                <a:latin typeface="Microsoft YaHei"/>
              </a:rPr>
              <a:t>个人定位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当前以 DE2 为申报目标，已具备稳定的独立配置开发能力。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累计参与招投标、预算、制造、大屏、环保、安全、采购合同等多类业务场景。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能够在多项目并行环境下，独立完成模块配置、联调、问题定位与交付支撑。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395728"/>
            <a:ext cx="5029200" cy="2971800"/>
          </a:xfrm>
          <a:prstGeom prst="roundRect">
            <a:avLst/>
          </a:prstGeom>
          <a:solidFill>
            <a:srgbClr val="F1F9E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2395728"/>
            <a:ext cx="502920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2560320"/>
            <a:ext cx="4809744" cy="273405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C636"/>
                </a:solidFill>
                <a:latin typeface="Microsoft YaHei"/>
              </a:rPr>
              <a:t>申报结论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项目产出、质量表现、配置能力与流程协同，已经形成较完整的 DE2 申报基础。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当前已通过 SDE 认证，并围绕更高标准继续强化分享沉淀与复用输出。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F3A4F"/>
                </a:solidFill>
                <a:latin typeface="Microsoft YaHei"/>
              </a:rPr>
              <a:t>• 本次答辩的核心目标，是证明我已具备 DE2 所要求的独立交付与稳定质量能力。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DE2 标准对标：围绕关键维度说明本次申报基础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325880"/>
          <a:ext cx="10195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429000"/>
                <a:gridCol w="5440680"/>
              </a:tblGrid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DE2 标准要点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我的支撑说明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</a:tr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项目产出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不少于 6 个项目产出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按申报表口径累计 10.9 个项目产出，覆盖 9 个项目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项目质量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独立 showcase 通过率 90%，问题单占比小于 3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所有项目均个人独立 showcase，通过率 90%；近 1 个月无问题单打回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</a:tr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专业回馈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总结/改进建议、辅导与项目分享持续输出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已辅导 4 位同事、完成内部分享与项目模块分享，持续做设计/接口总结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专业认证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SADE（高级DE认证）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当前已获得 SDE，以此作为 DE2 申报基础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</a:tr>
              <a:tr h="5878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配置能力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熟练掌握平台功能并能独立完成配置开发任务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熟练使用逻辑控制、表单列表、业务流、交换机，并可独立完成连接器/接口配置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373C53"/>
                          </a:solidFill>
                          <a:latin typeface="Microsoft YaHei"/>
                        </a:rPr>
                        <a:t>流程规范</a:t>
                      </a:r>
                    </a:p>
                  </a:txBody>
                  <a:tcPr marL="101600" marR="101600" marT="76200" marB="76200" anchor="t">
                    <a:solidFill>
                      <a:srgbClr val="DEEA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独立与AE、研发、IE按流程标准输入输出进行合作，…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独立与AE、研发、IE按流程标准输入输出进行合作，按时按质量产出</a:t>
                      </a:r>
                    </a:p>
                  </a:txBody>
                  <a:tcPr marL="101600" marR="101600" marT="76200" marB="76200" anchor="t">
                    <a:solidFill>
                      <a:srgbClr val="F0F5F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" y="5504688"/>
            <a:ext cx="10195560" cy="749808"/>
          </a:xfrm>
          <a:prstGeom prst="roundRect">
            <a:avLst/>
          </a:prstGeom>
          <a:solidFill>
            <a:srgbClr val="F1FAFD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504688"/>
            <a:ext cx="10195560" cy="146304"/>
          </a:xfrm>
          <a:prstGeom prst="rect">
            <a:avLst/>
          </a:prstGeom>
          <a:solidFill>
            <a:srgbClr val="54C3F1"/>
          </a:solidFill>
          <a:ln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5669279"/>
            <a:ext cx="9976104" cy="512063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4C3F1"/>
                </a:solidFill>
                <a:latin typeface="Microsoft YaHei"/>
              </a:rPr>
              <a:t>阶段判断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F3A4F"/>
                </a:solidFill>
                <a:latin typeface="Microsoft YaHei"/>
              </a:rPr>
              <a:t>• 项目产出、质量、配置能力与流程协同已具备明确支撑。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F3A4F"/>
                </a:solidFill>
                <a:latin typeface="Microsoft YaHei"/>
              </a:rPr>
              <a:t>• 认证与专业回馈在本次答辩中重点展示基础与后续强化方向。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覆盖多行业业务场景，形成稳定的独立交付与质量表现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C53"/>
                </a:solidFill>
                <a:latin typeface="Microsoft YaHei"/>
              </a:rPr>
              <a:t>项目产出与交付质量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项目产出：覆盖 9 个项目，形成 10.9 个项目产出与 367 页交付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32588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731520"/>
                <a:gridCol w="777240"/>
              </a:tblGrid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项目名称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产出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页数</a:t>
                      </a:r>
                    </a:p>
                  </a:txBody>
                  <a:tcPr marL="101600" marR="101600" marT="76200" marB="76200" anchor="t">
                    <a:solidFill>
                      <a:srgbClr val="373C53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海外集团电子招投标平台二期项目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106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江苏海企成套部采购平台服务合同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69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长智院宜宾市合同管理业务系统项目/公司级数字化制造平台…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南京炼油厂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37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济南历下预算管理系统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杭州安全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0.8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渤化发展+天津+环保分析平台项目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0.5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全国总工会领导驾驶仓项目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0.3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101600" marR="101600" marT="76200" marB="76200" anchor="t">
                    <a:solidFill>
                      <a:srgbClr val="F4F8FE"/>
                    </a:solidFill>
                  </a:tcPr>
                </a:tc>
              </a:tr>
              <a:tr h="452628"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2F3A4F"/>
                          </a:solidFill>
                          <a:latin typeface="Microsoft YaHei"/>
                        </a:rPr>
                        <a:t>环球医疗-10个板块大屏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0.3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  <a:tc>
                  <a:txBody>
                    <a:bodyPr wrap="square" anchor="t" lIns="0" rIns="0" tIns="0" bIns="0">
                      <a:noAutofit/>
                    </a:bodyPr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19" b="0">
                          <a:solidFill>
                            <a:srgbClr val="2F3A4F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101600" marR="101600" marT="76200" marB="762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720840" y="1325880"/>
            <a:ext cx="4343400" cy="713232"/>
          </a:xfrm>
          <a:prstGeom prst="roundRect">
            <a:avLst/>
          </a:prstGeom>
          <a:solidFill>
            <a:srgbClr val="F5FBF0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325880"/>
            <a:ext cx="434340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0568" y="1490472"/>
            <a:ext cx="4123944" cy="475488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7CC636"/>
                </a:solidFill>
                <a:latin typeface="Microsoft YaHei"/>
              </a:rPr>
              <a:t>页面产出 Top5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066543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海外集团电子招投标平台…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084831"/>
            <a:ext cx="2560320" cy="210312"/>
          </a:xfrm>
          <a:prstGeom prst="roundRect">
            <a:avLst/>
          </a:prstGeom>
          <a:solidFill>
            <a:srgbClr val="5694FA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44200" y="2029967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27DF9"/>
                </a:solidFill>
                <a:latin typeface="Microsoft YaHei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2491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江苏海企成套部采购平台…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743200"/>
            <a:ext cx="1874088" cy="210312"/>
          </a:xfrm>
          <a:prstGeom prst="roundRect">
            <a:avLst/>
          </a:prstGeom>
          <a:solidFill>
            <a:srgbClr val="93D05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268833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C636"/>
                </a:solidFill>
                <a:latin typeface="Microsoft YaHei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383279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长智院宜宾市合同管理业…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401568"/>
            <a:ext cx="1799901" cy="210312"/>
          </a:xfrm>
          <a:prstGeom prst="roundRect">
            <a:avLst/>
          </a:prstGeom>
          <a:solidFill>
            <a:srgbClr val="FFB45A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3346703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A436"/>
                </a:solidFill>
                <a:latin typeface="Microsoft YaHei"/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0416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南京炼油厂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4059935"/>
            <a:ext cx="1280591" cy="210312"/>
          </a:xfrm>
          <a:prstGeom prst="roundRect">
            <a:avLst/>
          </a:prstGeom>
          <a:solidFill>
            <a:srgbClr val="72CDF3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005072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4C3F1"/>
                </a:solidFill>
                <a:latin typeface="Microsoft YaHei"/>
              </a:rPr>
              <a:t>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70001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济南历下预算管理系统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718304"/>
            <a:ext cx="1187857" cy="210312"/>
          </a:xfrm>
          <a:prstGeom prst="roundRect">
            <a:avLst/>
          </a:prstGeom>
          <a:solidFill>
            <a:srgbClr val="B782F8"/>
          </a:solidFill>
          <a:ln w="15240">
            <a:solidFill>
              <a:srgbClr val="A86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44200" y="466344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867F7"/>
                </a:solidFill>
                <a:latin typeface="Microsoft YaHei"/>
              </a:rPr>
              <a:t>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754880"/>
            <a:ext cx="4343400" cy="1078992"/>
          </a:xfrm>
          <a:prstGeom prst="roundRect">
            <a:avLst/>
          </a:prstGeom>
          <a:solidFill>
            <a:srgbClr val="FFF8F0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4754880"/>
            <a:ext cx="4343400" cy="146304"/>
          </a:xfrm>
          <a:prstGeom prst="rect">
            <a:avLst/>
          </a:prstGeom>
          <a:solidFill>
            <a:srgbClr val="FFA436"/>
          </a:solidFill>
          <a:ln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4919472"/>
            <a:ext cx="4123944" cy="841247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A436"/>
                </a:solidFill>
                <a:latin typeface="Microsoft YaHei"/>
              </a:rPr>
              <a:t>业务覆盖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0" b="0">
                <a:solidFill>
                  <a:srgbClr val="2F3A4F"/>
                </a:solidFill>
                <a:latin typeface="Microsoft YaHei"/>
              </a:rPr>
              <a:t>• 覆盖招投标、预算管理、制造平台、大屏驾驶仓、环保分析、安全运营、采购合同等场景。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0" b="0">
                <a:solidFill>
                  <a:srgbClr val="2F3A4F"/>
                </a:solidFill>
                <a:latin typeface="Microsoft YaHei"/>
              </a:rPr>
              <a:t>• 说明我的交付能力具备较强的迁移和业务适配能力，而非局限于单一模块。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代表项目与交付质量：以关键项目说明独立交付与质量表现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325880"/>
            <a:ext cx="2633472" cy="3154680"/>
          </a:xfrm>
          <a:prstGeom prst="roundRect">
            <a:avLst/>
          </a:prstGeom>
          <a:solidFill>
            <a:srgbClr val="EAF2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2633472" cy="146304"/>
          </a:xfrm>
          <a:prstGeom prst="rect">
            <a:avLst/>
          </a:prstGeom>
          <a:solidFill>
            <a:srgbClr val="327DF9"/>
          </a:solidFill>
          <a:ln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7" y="1490472"/>
            <a:ext cx="2414015" cy="29169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327DF9"/>
                </a:solidFill>
                <a:latin typeface="Microsoft YaHei"/>
              </a:rPr>
              <a:t>海外集团电子招投标平台二期…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项目产出：3    输出页面：106 页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邀请类招标：邀请招标和单一来源，自主查询，评标异常情况，财务管理，全电子流程-经办人（投标文件查看）,采购…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体现了我在复杂业务链路下的模块配置与交付推进能力。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2" y="1325880"/>
            <a:ext cx="2633472" cy="3154680"/>
          </a:xfrm>
          <a:prstGeom prst="roundRect">
            <a:avLst/>
          </a:prstGeom>
          <a:solidFill>
            <a:srgbClr val="F1F9E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85032" y="1325880"/>
            <a:ext cx="2633472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490472"/>
            <a:ext cx="2414015" cy="29169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7CC636"/>
                </a:solidFill>
                <a:latin typeface="Microsoft YaHei"/>
              </a:rPr>
              <a:t>长智院宜宾市合同管理业务系…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项目产出：2    输出页面：65 页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密级日志开发，工艺管理，质量控制放行，不符合项变更配置，生产计划和用户手册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体现了我在复杂业务链路下的模块配置与交付推进能力。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1384" y="1325880"/>
            <a:ext cx="2633472" cy="3154680"/>
          </a:xfrm>
          <a:prstGeom prst="roundRect">
            <a:avLst/>
          </a:prstGeom>
          <a:solidFill>
            <a:srgbClr val="FFF5EA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01384" y="1325880"/>
            <a:ext cx="2633472" cy="146304"/>
          </a:xfrm>
          <a:prstGeom prst="rect">
            <a:avLst/>
          </a:prstGeom>
          <a:solidFill>
            <a:srgbClr val="FFA436"/>
          </a:solidFill>
          <a:ln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490472"/>
            <a:ext cx="2414015" cy="29169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FFA436"/>
                </a:solidFill>
                <a:latin typeface="Microsoft YaHei"/>
              </a:rPr>
              <a:t>南京炼油厂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项目产出：1    输出页面：37 页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材料采购申请，供应商处置记录表，二级单位权限调整，付款项目子表，乙供历史采购价格表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0">
                <a:solidFill>
                  <a:srgbClr val="2F3A4F"/>
                </a:solidFill>
                <a:latin typeface="Microsoft YaHei"/>
              </a:rPr>
              <a:t>• 体现了我在复杂业务链路下的模块配置与交付推进能力。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63440"/>
            <a:ext cx="5074920" cy="1481328"/>
          </a:xfrm>
          <a:prstGeom prst="roundRect">
            <a:avLst/>
          </a:prstGeom>
          <a:solidFill>
            <a:srgbClr val="F3FAFE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663440"/>
            <a:ext cx="5074920" cy="146304"/>
          </a:xfrm>
          <a:prstGeom prst="rect">
            <a:avLst/>
          </a:prstGeom>
          <a:solidFill>
            <a:srgbClr val="54C3F1"/>
          </a:solidFill>
          <a:ln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4828031"/>
            <a:ext cx="4855464" cy="1243584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54C3F1"/>
                </a:solidFill>
                <a:latin typeface="Microsoft YaHei"/>
              </a:rPr>
              <a:t>交付质量表现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所有项目均为个人独立配置功能 showcase，通过率 90%。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近 2 个月内无配置规范类、自检工具检查问题单。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功能及样式问题单与标准单位产出件总数比小于 3，近 1 个月无问题单打回。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4663440"/>
            <a:ext cx="4983480" cy="1481328"/>
          </a:xfrm>
          <a:prstGeom prst="roundRect">
            <a:avLst/>
          </a:prstGeom>
          <a:solidFill>
            <a:srgbClr val="F5FBF0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4663440"/>
            <a:ext cx="498348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4828031"/>
            <a:ext cx="4764024" cy="1243584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7CC636"/>
                </a:solidFill>
                <a:latin typeface="Microsoft YaHei"/>
              </a:rPr>
              <a:t>独立交付能力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熟练承担模块配置、联调、问题定位、换包升级等完整交付动作。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能够独立与 AE、研发、IE 按流程标准协同，确保产出按时按质完成。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多项目并行时仍能保持交付节奏和质量稳定性。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围绕带教分享、关键能力与流程协同展示我的成长与价值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C53"/>
                </a:solidFill>
                <a:latin typeface="Microsoft YaHei"/>
              </a:rPr>
              <a:t>专业回馈与能力对标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专业回馈：通过带教、分享与文档沉淀反哺团队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234440"/>
            <a:ext cx="10195560" cy="713232"/>
          </a:xfrm>
          <a:prstGeom prst="roundRect">
            <a:avLst/>
          </a:prstGeom>
          <a:solidFill>
            <a:srgbClr val="EAF2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73C53"/>
                </a:solidFill>
                <a:latin typeface="Microsoft YaHei"/>
              </a:rPr>
              <a:t>已辅导 4 位同事掌握新技能，并在项目中持续输出分享与文档沉淀。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212848"/>
            <a:ext cx="3154680" cy="3291840"/>
          </a:xfrm>
          <a:prstGeom prst="roundRect">
            <a:avLst/>
          </a:prstGeom>
          <a:solidFill>
            <a:srgbClr val="F1F9E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212848"/>
            <a:ext cx="315468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2377440"/>
            <a:ext cx="2935224" cy="305409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7CC636"/>
                </a:solidFill>
                <a:latin typeface="Microsoft YaHei"/>
              </a:rPr>
              <a:t>技能传递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辅导林思含、沈雨、颜雨欣、李亚娇掌握新技能，以支撑项目任务完成。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带教重点不是单次答疑，而是帮助同事形成可落地的配置能力。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87952" y="2212848"/>
            <a:ext cx="3154680" cy="3291840"/>
          </a:xfrm>
          <a:prstGeom prst="roundRect">
            <a:avLst/>
          </a:prstGeom>
          <a:solidFill>
            <a:srgbClr val="FFF5EA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87952" y="2212848"/>
            <a:ext cx="3154680" cy="146304"/>
          </a:xfrm>
          <a:prstGeom prst="rect">
            <a:avLst/>
          </a:prstGeom>
          <a:solidFill>
            <a:srgbClr val="FFA436"/>
          </a:solidFill>
          <a:ln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2935224" cy="305409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FFA436"/>
                </a:solidFill>
                <a:latin typeface="Microsoft YaHei"/>
              </a:rPr>
              <a:t>项目分享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完成新员工内部分享，帮助新人更快理解平台与交付方式。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围绕 812 项目中的密级日志板块做过专题分享，沉淀模块经验。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后续将继续增加跨项目分享频次，扩大个人影响范围。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07224" y="2212848"/>
            <a:ext cx="3557016" cy="3291840"/>
          </a:xfrm>
          <a:prstGeom prst="roundRect">
            <a:avLst/>
          </a:prstGeom>
          <a:solidFill>
            <a:srgbClr val="EDF9FD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07224" y="2212848"/>
            <a:ext cx="3557016" cy="146304"/>
          </a:xfrm>
          <a:prstGeom prst="rect">
            <a:avLst/>
          </a:prstGeom>
          <a:solidFill>
            <a:srgbClr val="54C3F1"/>
          </a:solidFill>
          <a:ln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2377440"/>
            <a:ext cx="3337560" cy="305409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54C3F1"/>
                </a:solidFill>
                <a:latin typeface="Microsoft YaHei"/>
              </a:rPr>
              <a:t>文档沉淀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每个项目都围绕设计文档优化与接口文档做总结。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在项目推进中同步积累问题处理经验和更优配置路径。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60" b="0">
                <a:solidFill>
                  <a:srgbClr val="2F3A4F"/>
                </a:solidFill>
                <a:latin typeface="Microsoft YaHei"/>
              </a:rPr>
              <a:t>• 后续将把这些经验进一步沉淀为更标准化、可复用的资产。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87568"/>
            <a:ext cx="10195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专业回馈已经形成日常习惯，下一步重点从“项目经验”提升到“组件化、模板化、跨项目复用资产”。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关键能力对标：认证、配置、问题定位与流程协同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234440"/>
            <a:ext cx="10195560" cy="822960"/>
          </a:xfrm>
          <a:prstGeom prst="roundRect">
            <a:avLst/>
          </a:prstGeom>
          <a:solidFill>
            <a:srgbClr val="EBEBED"/>
          </a:solidFill>
          <a:ln w="15240">
            <a:solidFill>
              <a:srgbClr val="373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373C53"/>
                </a:solidFill>
                <a:latin typeface="Microsoft YaHei"/>
              </a:rPr>
              <a:t>当前专业认证：SDE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DE2 标准证书要求：SADE（高级DE认证）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31720"/>
            <a:ext cx="4892040" cy="1554480"/>
          </a:xfrm>
          <a:prstGeom prst="roundRect">
            <a:avLst/>
          </a:prstGeom>
          <a:solidFill>
            <a:srgbClr val="EAF2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331720"/>
            <a:ext cx="4892040" cy="146304"/>
          </a:xfrm>
          <a:prstGeom prst="rect">
            <a:avLst/>
          </a:prstGeom>
          <a:solidFill>
            <a:srgbClr val="327DF9"/>
          </a:solidFill>
          <a:ln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2496312"/>
            <a:ext cx="4672583" cy="13167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327DF9"/>
                </a:solidFill>
                <a:latin typeface="Microsoft YaHei"/>
              </a:rPr>
              <a:t>三域配置与逻辑服务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熟练沟通 4 层结构与 3 元组框架。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熟练使用逻辑控制、表单列表、业务流、交换机等核心功能。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逻辑控制模块使用更为深入，可独立完成相关配置开发任务。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892040" cy="1554480"/>
          </a:xfrm>
          <a:prstGeom prst="roundRect">
            <a:avLst/>
          </a:prstGeom>
          <a:solidFill>
            <a:srgbClr val="F1F9E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2331720"/>
            <a:ext cx="489204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2496312"/>
            <a:ext cx="4672583" cy="13167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7CC636"/>
                </a:solidFill>
                <a:latin typeface="Microsoft YaHei"/>
              </a:rPr>
              <a:t>问题定位与实施支撑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熟练通过日志和后台定位问题，并掌握换包升级等实施流程。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能够在交付现场快速完成一般问题分析与处理闭环。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14800"/>
            <a:ext cx="4892040" cy="1554480"/>
          </a:xfrm>
          <a:prstGeom prst="roundRect">
            <a:avLst/>
          </a:prstGeom>
          <a:solidFill>
            <a:srgbClr val="FFF5EA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4114800"/>
            <a:ext cx="4892040" cy="146304"/>
          </a:xfrm>
          <a:prstGeom prst="rect">
            <a:avLst/>
          </a:prstGeom>
          <a:solidFill>
            <a:srgbClr val="FFA436"/>
          </a:solidFill>
          <a:ln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4279392"/>
            <a:ext cx="4672583" cy="13167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A436"/>
                </a:solidFill>
                <a:latin typeface="Microsoft YaHei"/>
              </a:rPr>
              <a:t>数据开发与接口联调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可独立完成交换机、连接器、接口等配置开发工作。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对 JSON 等结构化数据处理具备独立实践能力。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能力覆盖了 DE2 对数据开发能力的核心要求方向。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114800"/>
            <a:ext cx="4892040" cy="1554480"/>
          </a:xfrm>
          <a:prstGeom prst="roundRect">
            <a:avLst/>
          </a:prstGeom>
          <a:solidFill>
            <a:srgbClr val="EDF9FD"/>
          </a:solidFill>
          <a:ln w="15240"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4114800"/>
            <a:ext cx="4892040" cy="146304"/>
          </a:xfrm>
          <a:prstGeom prst="rect">
            <a:avLst/>
          </a:prstGeom>
          <a:solidFill>
            <a:srgbClr val="54C3F1"/>
          </a:solidFill>
          <a:ln>
            <a:solidFill>
              <a:srgbClr val="54C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4279392"/>
            <a:ext cx="4672583" cy="131673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4C3F1"/>
                </a:solidFill>
                <a:latin typeface="Microsoft YaHei"/>
              </a:rPr>
              <a:t>流程规范与跨角色协同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独立与AE、研发、IE按流程标准输入输出进行合作，按时按质量产出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0">
                <a:solidFill>
                  <a:srgbClr val="2F3A4F"/>
                </a:solidFill>
                <a:latin typeface="Microsoft YaHei"/>
              </a:rPr>
              <a:t>• 配置规范抽考90分以上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70448"/>
            <a:ext cx="10195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能力侧重点已经从单点配置执行，逐步转向可独立交付、可排查问题、可带动协同的 DE2 能力结构。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基于本次申报，持续扩大交付影响力与复用沉淀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73C53"/>
                </a:solidFill>
                <a:latin typeface="Microsoft YaHei"/>
              </a:rPr>
              <a:t>总结与后续计划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73C53"/>
                </a:solidFill>
                <a:latin typeface="Microsoft YaHei"/>
              </a:rPr>
              <a:t>总结与后续计划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325880"/>
            <a:ext cx="4983480" cy="4114800"/>
          </a:xfrm>
          <a:prstGeom prst="roundRect">
            <a:avLst/>
          </a:prstGeom>
          <a:solidFill>
            <a:srgbClr val="EAF2FE"/>
          </a:solidFill>
          <a:ln w="15240"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4983480" cy="146304"/>
          </a:xfrm>
          <a:prstGeom prst="rect">
            <a:avLst/>
          </a:prstGeom>
          <a:solidFill>
            <a:srgbClr val="327DF9"/>
          </a:solidFill>
          <a:ln>
            <a:solidFill>
              <a:srgbClr val="327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7" y="1490472"/>
            <a:ext cx="4764024" cy="387705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327DF9"/>
                </a:solidFill>
                <a:latin typeface="Microsoft YaHei"/>
              </a:rPr>
              <a:t>本次申报总结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以 10.9 个项目产出、367 页交付，支撑本次 DE2 申报答辩。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已经具备独立完成配置开发任务、控制交付质量、完成跨角色协同的基础能力。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在项目实践中逐步形成带教、分享与文档沉淀习惯，具备持续成长的正向循环。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325880"/>
            <a:ext cx="4983480" cy="4114800"/>
          </a:xfrm>
          <a:prstGeom prst="roundRect">
            <a:avLst/>
          </a:prstGeom>
          <a:solidFill>
            <a:srgbClr val="F1F9EA"/>
          </a:solidFill>
          <a:ln w="15240"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25880"/>
            <a:ext cx="4983480" cy="146304"/>
          </a:xfrm>
          <a:prstGeom prst="rect">
            <a:avLst/>
          </a:prstGeom>
          <a:solidFill>
            <a:srgbClr val="7CC636"/>
          </a:solidFill>
          <a:ln>
            <a:solidFill>
              <a:srgbClr val="7CC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490472"/>
            <a:ext cx="4764024" cy="3877056"/>
          </a:xfrm>
          <a:prstGeom prst="rect">
            <a:avLst/>
          </a:prstGeom>
          <a:noFill/>
        </p:spPr>
        <p:txBody>
          <a:bodyPr wrap="square" anchor="t" tIns="91440" bIns="9144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7CC636"/>
                </a:solidFill>
                <a:latin typeface="Microsoft YaHei"/>
              </a:rPr>
              <a:t>后续强化方向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继续把项目中的总结沉淀为可复用组件、模板和标准化方法。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增加跨项目模块分享和专题输出，扩大专业回馈的广度与深度。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进一步强化复杂场景下的数据开发、服务编排与问题定位能力。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F3A4F"/>
                </a:solidFill>
                <a:latin typeface="Microsoft YaHei"/>
              </a:rPr>
              <a:t>• 从独立完成模块交付，逐步向承担更复杂模块目标和影响范围迈进。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623560"/>
            <a:ext cx="10195560" cy="502920"/>
          </a:xfrm>
          <a:prstGeom prst="roundRect">
            <a:avLst/>
          </a:prstGeom>
          <a:solidFill>
            <a:srgbClr val="FFF7EE"/>
          </a:solidFill>
          <a:ln w="15240">
            <a:solidFill>
              <a:srgbClr val="FFA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73C53"/>
                </a:solidFill>
                <a:latin typeface="Microsoft YaHei"/>
              </a:rPr>
              <a:t>申请结论：我已具备 DE2 申报所需的核心基础，期待通过本次答辩完成能力认证。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71800" y="2084831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373C53"/>
                </a:solidFill>
                <a:latin typeface="Microsoft YaHei"/>
              </a:rPr>
              <a:t>谢谢聆听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2880360"/>
            <a:ext cx="63093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请各位评审指正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516636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周心雨 | 配置开发 DE2 申报答辩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公司PPT模板">
  <a:themeElements>
    <a:clrScheme name="theme color">
      <a:dk1>
        <a:srgbClr val="FFFFFF"/>
      </a:dk1>
      <a:lt1>
        <a:srgbClr val="000000"/>
      </a:lt1>
      <a:dk2>
        <a:srgbClr val="373C53"/>
      </a:dk2>
      <a:lt2>
        <a:srgbClr val="D3DEF1"/>
      </a:lt2>
      <a:accent1>
        <a:srgbClr val="327DF9"/>
      </a:accent1>
      <a:accent2>
        <a:srgbClr val="7CC636"/>
      </a:accent2>
      <a:accent3>
        <a:srgbClr val="FFA436"/>
      </a:accent3>
      <a:accent4>
        <a:srgbClr val="54C3F1"/>
      </a:accent4>
      <a:accent5>
        <a:srgbClr val="A867F7"/>
      </a:accent5>
      <a:accent6>
        <a:srgbClr val="4F3A92"/>
      </a:accent6>
      <a:hlink>
        <a:srgbClr val="0563C1"/>
      </a:hlink>
      <a:folHlink>
        <a:srgbClr val="954F72"/>
      </a:folHlink>
    </a:clrScheme>
    <a:fontScheme name="2c6173af-3e2e-4f71-b651-473d1611db9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ctr">
          <a:defRPr lang="zh-CN" altLang="en-US" sz="2400" b="1">
            <a:solidFill>
              <a:sysClr val="window" lastClr="FFFFFF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373C53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公司PPT模板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Qin</dc:creator>
  <cp:lastModifiedBy>WPS_1708849412</cp:lastModifiedBy>
  <cp:revision>503</cp:revision>
  <dcterms:created xsi:type="dcterms:W3CDTF">2025-12-23T01:48:00Z</dcterms:created>
  <dcterms:modified xsi:type="dcterms:W3CDTF">2026-04-14T01:48:56Z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D5E76C502DA147FA9C4F564CFE635E8F_13</vt:lpwstr>
  </property>
  <property fmtid="{D5CDD505-2E9C-101B-9397-08002B2CF9AE}" pid="3" name="KSOProductBuildVer">
    <vt:lpwstr>2052-12.1.0.25225</vt:lpwstr>
  </property>
</Properties>
</file>