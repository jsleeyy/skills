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6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slideLayout" Target="../slideLayouts/slideLayout7.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635" y="0"/>
            <a:ext cx="12191695" cy="6858000"/>
          </a:xfrm>
          <a:prstGeom prst="rect">
            <a:avLst/>
          </a:prstGeom>
          <a:solidFill>
            <a:srgbClr val="F6F8FC"/>
          </a:solidFill>
          <a:ln w="12700">
            <a:solidFill>
              <a:srgbClr val="F6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0467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792" y="1078992"/>
            <a:ext cx="1920240" cy="384048"/>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400" b="1">
                <a:solidFill>
                  <a:srgbClr val="FFFFFF"/>
                </a:solidFill>
                <a:latin typeface="微软雅黑" panose="020B0503020204020204" charset="-122"/>
              </a:rPr>
              <a:t>一期建设方案 V4</a:t>
            </a:r>
            <a:endParaRPr sz="1400" b="1">
              <a:solidFill>
                <a:srgbClr val="FFFFFF"/>
              </a:solidFill>
              <a:latin typeface="微软雅黑" panose="020B0503020204020204" charset="-122"/>
            </a:endParaRPr>
          </a:p>
        </p:txBody>
      </p:sp>
      <p:sp>
        <p:nvSpPr>
          <p:cNvPr id="5" name="TextBox 4"/>
          <p:cNvSpPr txBox="1"/>
          <p:nvPr/>
        </p:nvSpPr>
        <p:spPr>
          <a:xfrm>
            <a:off x="658368" y="1783080"/>
            <a:ext cx="7772400" cy="1188720"/>
          </a:xfrm>
          <a:prstGeom prst="rect">
            <a:avLst/>
          </a:prstGeom>
          <a:noFill/>
        </p:spPr>
        <p:txBody>
          <a:bodyPr wrap="square" lIns="73152" rIns="73152" anchor="t">
            <a:spAutoFit/>
          </a:bodyPr>
          <a:lstStyle/>
          <a:p>
            <a:pPr algn="l">
              <a:spcAft>
                <a:spcPts val="200"/>
              </a:spcAft>
            </a:pPr>
            <a:r>
              <a:rPr sz="2800" b="0">
                <a:solidFill>
                  <a:srgbClr val="122D57"/>
                </a:solidFill>
                <a:latin typeface="微软雅黑" panose="020B0503020204020204" charset="-122"/>
              </a:rPr>
              <a:t>监造信息化系统甲方汇报</a:t>
            </a:r>
            <a:endParaRPr sz="2800" b="0">
              <a:solidFill>
                <a:srgbClr val="122D57"/>
              </a:solidFill>
              <a:latin typeface="微软雅黑" panose="020B0503020204020204" charset="-122"/>
            </a:endParaRPr>
          </a:p>
          <a:p>
            <a:pPr algn="l">
              <a:spcAft>
                <a:spcPts val="200"/>
              </a:spcAft>
            </a:pPr>
            <a:r>
              <a:rPr sz="2800" b="0">
                <a:solidFill>
                  <a:srgbClr val="122D57"/>
                </a:solidFill>
                <a:latin typeface="微软雅黑" panose="020B0503020204020204" charset="-122"/>
              </a:rPr>
              <a:t>按原始需求方案与硬件清单重构</a:t>
            </a:r>
            <a:endParaRPr sz="2800" b="0">
              <a:solidFill>
                <a:srgbClr val="122D57"/>
              </a:solidFill>
              <a:latin typeface="微软雅黑" panose="020B0503020204020204" charset="-122"/>
            </a:endParaRPr>
          </a:p>
        </p:txBody>
      </p:sp>
      <p:sp>
        <p:nvSpPr>
          <p:cNvPr id="6" name="TextBox 5"/>
          <p:cNvSpPr txBox="1"/>
          <p:nvPr/>
        </p:nvSpPr>
        <p:spPr>
          <a:xfrm>
            <a:off x="676656" y="3108960"/>
            <a:ext cx="7040880" cy="1051560"/>
          </a:xfrm>
          <a:prstGeom prst="rect">
            <a:avLst/>
          </a:prstGeom>
          <a:noFill/>
        </p:spPr>
        <p:txBody>
          <a:bodyPr wrap="square" lIns="73152" rIns="73152" anchor="t">
            <a:spAutoFit/>
          </a:bodyPr>
          <a:lstStyle/>
          <a:p>
            <a:pPr algn="l">
              <a:spcAft>
                <a:spcPts val="200"/>
              </a:spcAft>
            </a:pPr>
            <a:r>
              <a:rPr sz="1300" b="0">
                <a:solidFill>
                  <a:srgbClr val="252B36"/>
                </a:solidFill>
                <a:latin typeface="微软雅黑" panose="020B0503020204020204" charset="-122"/>
              </a:rPr>
              <a:t>口径基准：监造信息化系统功能需求(1)(2).docx + 监造信息化系统硬件部分清单.docx</a:t>
            </a:r>
            <a:endParaRPr sz="1300" b="0">
              <a:solidFill>
                <a:srgbClr val="252B36"/>
              </a:solidFill>
              <a:latin typeface="微软雅黑" panose="020B0503020204020204" charset="-122"/>
            </a:endParaRPr>
          </a:p>
          <a:p>
            <a:pPr algn="l">
              <a:spcAft>
                <a:spcPts val="200"/>
              </a:spcAft>
            </a:pPr>
            <a:r>
              <a:rPr sz="1300" b="0">
                <a:solidFill>
                  <a:srgbClr val="252B36"/>
                </a:solidFill>
                <a:latin typeface="微软雅黑" panose="020B0503020204020204" charset="-122"/>
              </a:rPr>
              <a:t>结构方式：主链模块逐页展开，支撑模块逐页说明，SOP / 软硬件 / 二期规划单列。</a:t>
            </a:r>
            <a:endParaRPr sz="1300" b="0">
              <a:solidFill>
                <a:srgbClr val="252B36"/>
              </a:solidFill>
              <a:latin typeface="微软雅黑" panose="020B0503020204020204" charset="-122"/>
            </a:endParaRPr>
          </a:p>
        </p:txBody>
      </p:sp>
      <p:sp>
        <p:nvSpPr>
          <p:cNvPr id="7" name="Rounded Rectangle 6"/>
          <p:cNvSpPr/>
          <p:nvPr/>
        </p:nvSpPr>
        <p:spPr>
          <a:xfrm>
            <a:off x="8549640" y="1280160"/>
            <a:ext cx="2926080" cy="310896"/>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本版重构重点</a:t>
            </a:r>
            <a:endParaRPr sz="1200" b="1">
              <a:solidFill>
                <a:srgbClr val="FFFFFF"/>
              </a:solidFill>
              <a:latin typeface="微软雅黑" panose="020B0503020204020204" charset="-122"/>
            </a:endParaRPr>
          </a:p>
        </p:txBody>
      </p:sp>
      <p:sp>
        <p:nvSpPr>
          <p:cNvPr id="8" name="Rounded Rectangle 7"/>
          <p:cNvSpPr/>
          <p:nvPr/>
        </p:nvSpPr>
        <p:spPr>
          <a:xfrm>
            <a:off x="8549640" y="1664208"/>
            <a:ext cx="2926080" cy="40050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00" b="0">
                <a:solidFill>
                  <a:srgbClr val="252B36"/>
                </a:solidFill>
                <a:latin typeface="微软雅黑" panose="020B0503020204020204" charset="-122"/>
              </a:rPr>
              <a:t>• 不沿用 V3 的压缩口径，模块内容回到原始需求逐条核对。</a:t>
            </a:r>
            <a:endParaRPr sz="1200" b="0">
              <a:solidFill>
                <a:srgbClr val="252B36"/>
              </a:solidFill>
              <a:latin typeface="微软雅黑" panose="020B0503020204020204" charset="-122"/>
            </a:endParaRPr>
          </a:p>
          <a:p>
            <a:pPr algn="l">
              <a:spcAft>
                <a:spcPts val="200"/>
              </a:spcAft>
            </a:pPr>
            <a:r>
              <a:rPr sz="1200" b="0">
                <a:solidFill>
                  <a:srgbClr val="252B36"/>
                </a:solidFill>
                <a:latin typeface="微软雅黑" panose="020B0503020204020204" charset="-122"/>
              </a:rPr>
              <a:t>• 模块页统一采用“流程图 + 规则 + 按钮 + 角色 + 模块关系”结构。</a:t>
            </a:r>
            <a:endParaRPr sz="1200" b="0">
              <a:solidFill>
                <a:srgbClr val="252B36"/>
              </a:solidFill>
              <a:latin typeface="微软雅黑" panose="020B0503020204020204" charset="-122"/>
            </a:endParaRPr>
          </a:p>
          <a:p>
            <a:pPr algn="l">
              <a:spcAft>
                <a:spcPts val="200"/>
              </a:spcAft>
            </a:pPr>
            <a:r>
              <a:rPr sz="1200" b="0">
                <a:solidFill>
                  <a:srgbClr val="252B36"/>
                </a:solidFill>
                <a:latin typeface="微软雅黑" panose="020B0503020204020204" charset="-122"/>
              </a:rPr>
              <a:t>• 主链与支撑模块拆开讲，不再把问题处理和支撑能力强行画成一条线。</a:t>
            </a:r>
            <a:endParaRPr sz="1200" b="0">
              <a:solidFill>
                <a:srgbClr val="252B36"/>
              </a:solidFill>
              <a:latin typeface="微软雅黑" panose="020B0503020204020204" charset="-122"/>
            </a:endParaRPr>
          </a:p>
          <a:p>
            <a:pPr algn="l">
              <a:spcAft>
                <a:spcPts val="200"/>
              </a:spcAft>
            </a:pPr>
            <a:r>
              <a:rPr sz="1200" b="0">
                <a:solidFill>
                  <a:srgbClr val="252B36"/>
                </a:solidFill>
                <a:latin typeface="微软雅黑" panose="020B0503020204020204" charset="-122"/>
              </a:rPr>
              <a:t>• 软硬件部分直接引用硬件清单中的配置、数量、容灾和网络安全方案。</a:t>
            </a:r>
            <a:endParaRPr sz="1200" b="0">
              <a:solidFill>
                <a:srgbClr val="252B36"/>
              </a:solidFill>
              <a:latin typeface="微软雅黑" panose="020B0503020204020204" charset="-122"/>
            </a:endParaRPr>
          </a:p>
          <a:p>
            <a:pPr algn="l">
              <a:spcAft>
                <a:spcPts val="200"/>
              </a:spcAft>
            </a:pPr>
            <a:r>
              <a:rPr sz="1200" b="0">
                <a:solidFill>
                  <a:srgbClr val="252B36"/>
                </a:solidFill>
                <a:latin typeface="微软雅黑" panose="020B0503020204020204" charset="-122"/>
              </a:rPr>
              <a:t>• 防造假管理、数据信息资源库及 AI 识别功能继续明确纳入二期。</a:t>
            </a:r>
            <a:endParaRPr sz="1200" b="0">
              <a:solidFill>
                <a:srgbClr val="252B36"/>
              </a:solidFill>
              <a:latin typeface="微软雅黑" panose="020B0503020204020204" charset="-122"/>
            </a:endParaRPr>
          </a:p>
        </p:txBody>
      </p:sp>
      <p:sp>
        <p:nvSpPr>
          <p:cNvPr id="9" name="TextBox 8"/>
          <p:cNvSpPr txBox="1"/>
          <p:nvPr/>
        </p:nvSpPr>
        <p:spPr>
          <a:xfrm>
            <a:off x="658368" y="6163056"/>
            <a:ext cx="5303520" cy="274320"/>
          </a:xfrm>
          <a:prstGeom prst="rect">
            <a:avLst/>
          </a:prstGeom>
          <a:noFill/>
        </p:spPr>
        <p:txBody>
          <a:bodyPr wrap="square" lIns="73152" rIns="73152" anchor="t">
            <a:spAutoFit/>
          </a:bodyPr>
          <a:lstStyle/>
          <a:p>
            <a:pPr algn="l">
              <a:spcAft>
                <a:spcPts val="200"/>
              </a:spcAft>
            </a:pPr>
            <a:r>
              <a:rPr sz="1130" b="0">
                <a:solidFill>
                  <a:srgbClr val="636C7C"/>
                </a:solidFill>
                <a:latin typeface="微软雅黑" panose="020B0503020204020204" charset="-122"/>
              </a:rPr>
              <a:t>汇报对象：甲方管理层 / 业务部门 / 信息化建设相关参与方</a:t>
            </a:r>
            <a:endParaRPr sz="1130" b="0">
              <a:solidFill>
                <a:srgbClr val="636C7C"/>
              </a:solidFill>
              <a:latin typeface="微软雅黑" panose="020B050302020402020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业务全景总览</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按 5 个阶段理解整个系统：一期先落地 25 个模块，二期预留 2 个增强模块。</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a:t>
            </a:r>
            <a:endParaRPr sz="1300" b="1">
              <a:solidFill>
                <a:srgbClr val="FFFFFF"/>
              </a:solidFill>
              <a:latin typeface="微软雅黑" panose="020B0503020204020204" charset="-122"/>
            </a:endParaRPr>
          </a:p>
        </p:txBody>
      </p:sp>
      <p:sp>
        <p:nvSpPr>
          <p:cNvPr id="6" name="Rounded Rectangle 5"/>
          <p:cNvSpPr/>
          <p:nvPr/>
        </p:nvSpPr>
        <p:spPr>
          <a:xfrm>
            <a:off x="502920" y="1015238"/>
            <a:ext cx="11109960" cy="384048"/>
          </a:xfrm>
          <a:prstGeom prst="roundRect">
            <a:avLst/>
          </a:prstGeom>
          <a:solidFill>
            <a:srgbClr val="F4F7FC"/>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75DAD"/>
                </a:solidFill>
                <a:latin typeface="微软雅黑" panose="020B0503020204020204" charset="-122"/>
              </a:rPr>
              <a:t>本页核心：先看 5 个阶段、27 个模块如何分布，再按主链和支撑关系逐页展开。</a:t>
            </a:r>
            <a:endParaRPr sz="1250" b="0">
              <a:solidFill>
                <a:srgbClr val="275DAD"/>
              </a:solidFill>
              <a:latin typeface="微软雅黑" panose="020B0503020204020204" charset="-122"/>
            </a:endParaRPr>
          </a:p>
        </p:txBody>
      </p:sp>
      <p:sp>
        <p:nvSpPr>
          <p:cNvPr id="7" name="Rounded Rectangle 6"/>
          <p:cNvSpPr/>
          <p:nvPr>
            <p:custDataLst>
              <p:tags r:id="rId1"/>
            </p:custDataLst>
          </p:nvPr>
        </p:nvSpPr>
        <p:spPr>
          <a:xfrm>
            <a:off x="735965" y="1712339"/>
            <a:ext cx="2057277" cy="360023"/>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基础建模阶段</a:t>
            </a:r>
            <a:endParaRPr sz="1200" b="1">
              <a:solidFill>
                <a:srgbClr val="FFFFFF"/>
              </a:solidFill>
              <a:latin typeface="微软雅黑" panose="020B0503020204020204" charset="-122"/>
            </a:endParaRPr>
          </a:p>
        </p:txBody>
      </p:sp>
      <p:sp>
        <p:nvSpPr>
          <p:cNvPr id="8" name="Rounded Rectangle 7"/>
          <p:cNvSpPr/>
          <p:nvPr>
            <p:custDataLst>
              <p:tags r:id="rId2"/>
            </p:custDataLst>
          </p:nvPr>
        </p:nvSpPr>
        <p:spPr>
          <a:xfrm>
            <a:off x="735965" y="2072362"/>
            <a:ext cx="2057277" cy="3823107"/>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10" b="0">
                <a:solidFill>
                  <a:srgbClr val="252B36"/>
                </a:solidFill>
                <a:latin typeface="微软雅黑" panose="020B0503020204020204" charset="-122"/>
              </a:rPr>
              <a:t>核心动作：建立体系文件底座、合同物资台账、监造任务责任链。</a:t>
            </a:r>
            <a:endParaRPr sz="1110" b="0">
              <a:solidFill>
                <a:srgbClr val="252B36"/>
              </a:solidFill>
              <a:latin typeface="微软雅黑" panose="020B0503020204020204" charset="-122"/>
            </a:endParaRPr>
          </a:p>
          <a:p>
            <a:pPr algn="l">
              <a:spcAft>
                <a:spcPts val="200"/>
              </a:spcAft>
            </a:pPr>
            <a:r>
              <a:rPr sz="1110" b="0">
                <a:solidFill>
                  <a:srgbClr val="252B36"/>
                </a:solidFill>
                <a:latin typeface="微软雅黑" panose="020B0503020204020204" charset="-122"/>
              </a:rPr>
              <a:t>价值：先把对象、规则和权限边界立起来。</a:t>
            </a:r>
            <a:endParaRPr sz="1110" b="0">
              <a:solidFill>
                <a:srgbClr val="252B36"/>
              </a:solidFill>
              <a:latin typeface="微软雅黑" panose="020B0503020204020204" charset="-122"/>
            </a:endParaRPr>
          </a:p>
        </p:txBody>
      </p:sp>
      <p:sp>
        <p:nvSpPr>
          <p:cNvPr id="9" name="Rounded Rectangle 8"/>
          <p:cNvSpPr/>
          <p:nvPr>
            <p:custDataLst>
              <p:tags r:id="rId3"/>
            </p:custDataLst>
          </p:nvPr>
        </p:nvSpPr>
        <p:spPr>
          <a:xfrm>
            <a:off x="2878962" y="1712339"/>
            <a:ext cx="2057277" cy="360023"/>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执行准备阶段</a:t>
            </a:r>
            <a:endParaRPr sz="1200" b="1">
              <a:solidFill>
                <a:srgbClr val="FFFFFF"/>
              </a:solidFill>
              <a:latin typeface="微软雅黑" panose="020B0503020204020204" charset="-122"/>
            </a:endParaRPr>
          </a:p>
        </p:txBody>
      </p:sp>
      <p:sp>
        <p:nvSpPr>
          <p:cNvPr id="10" name="Rounded Rectangle 9"/>
          <p:cNvSpPr/>
          <p:nvPr>
            <p:custDataLst>
              <p:tags r:id="rId4"/>
            </p:custDataLst>
          </p:nvPr>
        </p:nvSpPr>
        <p:spPr>
          <a:xfrm>
            <a:off x="2878962" y="2072362"/>
            <a:ext cx="2057277" cy="3823107"/>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10" b="0">
                <a:solidFill>
                  <a:srgbClr val="252B36"/>
                </a:solidFill>
                <a:latin typeface="微软雅黑" panose="020B0503020204020204" charset="-122"/>
              </a:rPr>
              <a:t>核心动作：完成策划编制、供方文件审核、质量计划和 W/R/H 点生效。</a:t>
            </a:r>
            <a:endParaRPr sz="1110" b="0">
              <a:solidFill>
                <a:srgbClr val="252B36"/>
              </a:solidFill>
              <a:latin typeface="微软雅黑" panose="020B0503020204020204" charset="-122"/>
            </a:endParaRPr>
          </a:p>
          <a:p>
            <a:pPr algn="l">
              <a:spcAft>
                <a:spcPts val="200"/>
              </a:spcAft>
            </a:pPr>
            <a:r>
              <a:rPr sz="1110" b="0">
                <a:solidFill>
                  <a:srgbClr val="252B36"/>
                </a:solidFill>
                <a:latin typeface="微软雅黑" panose="020B0503020204020204" charset="-122"/>
              </a:rPr>
              <a:t>价值：先把执行口径和见证责任定清楚。</a:t>
            </a:r>
            <a:endParaRPr sz="1110" b="0">
              <a:solidFill>
                <a:srgbClr val="252B36"/>
              </a:solidFill>
              <a:latin typeface="微软雅黑" panose="020B0503020204020204" charset="-122"/>
            </a:endParaRPr>
          </a:p>
        </p:txBody>
      </p:sp>
      <p:sp>
        <p:nvSpPr>
          <p:cNvPr id="11" name="Rounded Rectangle 10"/>
          <p:cNvSpPr/>
          <p:nvPr>
            <p:custDataLst>
              <p:tags r:id="rId5"/>
            </p:custDataLst>
          </p:nvPr>
        </p:nvSpPr>
        <p:spPr>
          <a:xfrm>
            <a:off x="5021959" y="1712339"/>
            <a:ext cx="2057277" cy="360023"/>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监督执行阶段</a:t>
            </a:r>
            <a:endParaRPr sz="1200" b="1">
              <a:solidFill>
                <a:srgbClr val="FFFFFF"/>
              </a:solidFill>
              <a:latin typeface="微软雅黑" panose="020B0503020204020204" charset="-122"/>
            </a:endParaRPr>
          </a:p>
        </p:txBody>
      </p:sp>
      <p:sp>
        <p:nvSpPr>
          <p:cNvPr id="12" name="Rounded Rectangle 11"/>
          <p:cNvSpPr/>
          <p:nvPr>
            <p:custDataLst>
              <p:tags r:id="rId6"/>
            </p:custDataLst>
          </p:nvPr>
        </p:nvSpPr>
        <p:spPr>
          <a:xfrm>
            <a:off x="5021959" y="2072362"/>
            <a:ext cx="2057277" cy="3823107"/>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10" b="0">
                <a:solidFill>
                  <a:srgbClr val="252B36"/>
                </a:solidFill>
                <a:latin typeface="微软雅黑" panose="020B0503020204020204" charset="-122"/>
              </a:rPr>
              <a:t>核心动作：开展日常监督、专项监督、巡查、问题处理、抽查复验、日报周报。</a:t>
            </a:r>
            <a:endParaRPr sz="1110" b="0">
              <a:solidFill>
                <a:srgbClr val="252B36"/>
              </a:solidFill>
              <a:latin typeface="微软雅黑" panose="020B0503020204020204" charset="-122"/>
            </a:endParaRPr>
          </a:p>
          <a:p>
            <a:pPr algn="l">
              <a:spcAft>
                <a:spcPts val="200"/>
              </a:spcAft>
            </a:pPr>
            <a:r>
              <a:rPr sz="1110" b="0">
                <a:solidFill>
                  <a:srgbClr val="252B36"/>
                </a:solidFill>
                <a:latin typeface="微软雅黑" panose="020B0503020204020204" charset="-122"/>
              </a:rPr>
              <a:t>价值：把现场执行过程做成标准化数据和闭环记录。</a:t>
            </a:r>
            <a:endParaRPr sz="1110" b="0">
              <a:solidFill>
                <a:srgbClr val="252B36"/>
              </a:solidFill>
              <a:latin typeface="微软雅黑" panose="020B0503020204020204" charset="-122"/>
            </a:endParaRPr>
          </a:p>
        </p:txBody>
      </p:sp>
      <p:sp>
        <p:nvSpPr>
          <p:cNvPr id="13" name="Rounded Rectangle 12"/>
          <p:cNvSpPr/>
          <p:nvPr>
            <p:custDataLst>
              <p:tags r:id="rId7"/>
            </p:custDataLst>
          </p:nvPr>
        </p:nvSpPr>
        <p:spPr>
          <a:xfrm>
            <a:off x="7164956" y="1712339"/>
            <a:ext cx="2057277" cy="360023"/>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交付收口阶段</a:t>
            </a:r>
            <a:endParaRPr sz="1200" b="1">
              <a:solidFill>
                <a:srgbClr val="FFFFFF"/>
              </a:solidFill>
              <a:latin typeface="微软雅黑" panose="020B0503020204020204" charset="-122"/>
            </a:endParaRPr>
          </a:p>
        </p:txBody>
      </p:sp>
      <p:sp>
        <p:nvSpPr>
          <p:cNvPr id="14" name="Rounded Rectangle 13"/>
          <p:cNvSpPr/>
          <p:nvPr>
            <p:custDataLst>
              <p:tags r:id="rId8"/>
            </p:custDataLst>
          </p:nvPr>
        </p:nvSpPr>
        <p:spPr>
          <a:xfrm>
            <a:off x="7164956" y="2072362"/>
            <a:ext cx="2057277" cy="3823107"/>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10" b="0">
                <a:solidFill>
                  <a:srgbClr val="252B36"/>
                </a:solidFill>
                <a:latin typeface="微软雅黑" panose="020B0503020204020204" charset="-122"/>
              </a:rPr>
              <a:t>核心动作：完工总结、验收、放行、质量追溯。</a:t>
            </a:r>
            <a:endParaRPr sz="1110" b="0">
              <a:solidFill>
                <a:srgbClr val="252B36"/>
              </a:solidFill>
              <a:latin typeface="微软雅黑" panose="020B0503020204020204" charset="-122"/>
            </a:endParaRPr>
          </a:p>
          <a:p>
            <a:pPr algn="l">
              <a:spcAft>
                <a:spcPts val="200"/>
              </a:spcAft>
            </a:pPr>
            <a:r>
              <a:rPr sz="1110" b="0">
                <a:solidFill>
                  <a:srgbClr val="252B36"/>
                </a:solidFill>
                <a:latin typeface="微软雅黑" panose="020B0503020204020204" charset="-122"/>
              </a:rPr>
              <a:t>价值：把执行结果沉淀成正式报告、放行依据和追责链。</a:t>
            </a:r>
            <a:endParaRPr sz="1110" b="0">
              <a:solidFill>
                <a:srgbClr val="252B36"/>
              </a:solidFill>
              <a:latin typeface="微软雅黑" panose="020B0503020204020204" charset="-122"/>
            </a:endParaRPr>
          </a:p>
        </p:txBody>
      </p:sp>
      <p:sp>
        <p:nvSpPr>
          <p:cNvPr id="15" name="Rounded Rectangle 14"/>
          <p:cNvSpPr/>
          <p:nvPr>
            <p:custDataLst>
              <p:tags r:id="rId9"/>
            </p:custDataLst>
          </p:nvPr>
        </p:nvSpPr>
        <p:spPr>
          <a:xfrm>
            <a:off x="9307953" y="1712339"/>
            <a:ext cx="2057277" cy="360023"/>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管理支撑阶段</a:t>
            </a:r>
            <a:endParaRPr sz="1200" b="1">
              <a:solidFill>
                <a:srgbClr val="FFFFFF"/>
              </a:solidFill>
              <a:latin typeface="微软雅黑" panose="020B0503020204020204" charset="-122"/>
            </a:endParaRPr>
          </a:p>
        </p:txBody>
      </p:sp>
      <p:sp>
        <p:nvSpPr>
          <p:cNvPr id="16" name="Rounded Rectangle 15"/>
          <p:cNvSpPr/>
          <p:nvPr>
            <p:custDataLst>
              <p:tags r:id="rId10"/>
            </p:custDataLst>
          </p:nvPr>
        </p:nvSpPr>
        <p:spPr>
          <a:xfrm>
            <a:off x="9307953" y="2072362"/>
            <a:ext cx="2057277" cy="3823107"/>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10" b="0">
                <a:solidFill>
                  <a:srgbClr val="252B36"/>
                </a:solidFill>
                <a:latin typeface="微软雅黑" panose="020B0503020204020204" charset="-122"/>
              </a:rPr>
              <a:t>核心动作：统计分析、预警、可视化、工日、二维码、签名、OCR、视频、付款、培训。</a:t>
            </a:r>
            <a:endParaRPr sz="1110" b="0">
              <a:solidFill>
                <a:srgbClr val="252B36"/>
              </a:solidFill>
              <a:latin typeface="微软雅黑" panose="020B0503020204020204" charset="-122"/>
            </a:endParaRPr>
          </a:p>
          <a:p>
            <a:pPr algn="l">
              <a:spcAft>
                <a:spcPts val="200"/>
              </a:spcAft>
            </a:pPr>
            <a:r>
              <a:rPr sz="1110" b="0">
                <a:solidFill>
                  <a:srgbClr val="252B36"/>
                </a:solidFill>
                <a:latin typeface="微软雅黑" panose="020B0503020204020204" charset="-122"/>
              </a:rPr>
              <a:t>价值：让管理层看得见、监造人员用得顺、经营管理有抓手。</a:t>
            </a:r>
            <a:endParaRPr sz="1110" b="0">
              <a:solidFill>
                <a:srgbClr val="252B36"/>
              </a:solidFill>
              <a:latin typeface="微软雅黑" panose="020B0503020204020204" charset="-122"/>
            </a:endParaRPr>
          </a:p>
        </p:txBody>
      </p:sp>
      <p:sp>
        <p:nvSpPr>
          <p:cNvPr id="17" name="Rounded Rectangle 16"/>
          <p:cNvSpPr/>
          <p:nvPr/>
        </p:nvSpPr>
        <p:spPr>
          <a:xfrm>
            <a:off x="502920" y="5870448"/>
            <a:ext cx="11109960" cy="402336"/>
          </a:xfrm>
          <a:prstGeom prst="roundRect">
            <a:avLst/>
          </a:prstGeom>
          <a:solidFill>
            <a:srgbClr val="F4F7FC"/>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40" b="0">
                <a:solidFill>
                  <a:srgbClr val="122D57"/>
                </a:solidFill>
                <a:latin typeface="微软雅黑" panose="020B0503020204020204" charset="-122"/>
              </a:rPr>
              <a:t>模块数量口径：主链 15 个 + 一期支撑 10 个 + 二期增强 2 个 = 27 个；一期先落地主业务闭环和关键支撑能力。</a:t>
            </a:r>
            <a:endParaRPr sz="1140" b="0">
              <a:solidFill>
                <a:srgbClr val="122D57"/>
              </a:solidFill>
              <a:latin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模块关系总图</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主链按业务先后关系展开，问题处理和支撑模块以挂载方式接入，不再强行画成单线。</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3</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75DAD"/>
                </a:solidFill>
                <a:latin typeface="微软雅黑" panose="020B0503020204020204" charset="-122"/>
              </a:rPr>
              <a:t>本页核心：把“谁是主链、谁是支撑、谁是跨阶段闭环模块”一次讲清，甲方看图就能明白系统怎么落地。</a:t>
            </a:r>
            <a:endParaRPr sz="1250" b="0">
              <a:solidFill>
                <a:srgbClr val="275DAD"/>
              </a:solidFill>
              <a:latin typeface="微软雅黑" panose="020B0503020204020204" charset="-122"/>
            </a:endParaRPr>
          </a:p>
        </p:txBody>
      </p:sp>
      <p:sp>
        <p:nvSpPr>
          <p:cNvPr id="7" name="Rounded Rectangle 6"/>
          <p:cNvSpPr/>
          <p:nvPr/>
        </p:nvSpPr>
        <p:spPr>
          <a:xfrm>
            <a:off x="411480" y="1627632"/>
            <a:ext cx="1691640" cy="566928"/>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20" b="1">
                <a:solidFill>
                  <a:srgbClr val="252B36"/>
                </a:solidFill>
                <a:latin typeface="微软雅黑" panose="020B0503020204020204" charset="-122"/>
              </a:rPr>
              <a:t>体系文件</a:t>
            </a:r>
            <a:endParaRPr sz="1120" b="1">
              <a:solidFill>
                <a:srgbClr val="252B36"/>
              </a:solidFill>
              <a:latin typeface="微软雅黑" panose="020B0503020204020204" charset="-122"/>
            </a:endParaRPr>
          </a:p>
        </p:txBody>
      </p:sp>
      <p:sp>
        <p:nvSpPr>
          <p:cNvPr id="8" name="Chevron 7"/>
          <p:cNvSpPr/>
          <p:nvPr/>
        </p:nvSpPr>
        <p:spPr>
          <a:xfrm>
            <a:off x="2148840" y="1810512"/>
            <a:ext cx="164592" cy="201168"/>
          </a:xfrm>
          <a:prstGeom prst="chevron">
            <a:avLst/>
          </a:prstGeom>
          <a:solidFill>
            <a:srgbClr val="108CBA"/>
          </a:solidFill>
          <a:ln>
            <a:solidFill>
              <a:srgbClr val="1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50008" y="1627632"/>
            <a:ext cx="1691640" cy="566928"/>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20" b="1">
                <a:solidFill>
                  <a:srgbClr val="252B36"/>
                </a:solidFill>
                <a:latin typeface="微软雅黑" panose="020B0503020204020204" charset="-122"/>
              </a:rPr>
              <a:t>物资采购</a:t>
            </a:r>
            <a:endParaRPr sz="1120" b="1">
              <a:solidFill>
                <a:srgbClr val="252B36"/>
              </a:solidFill>
              <a:latin typeface="微软雅黑" panose="020B0503020204020204" charset="-122"/>
            </a:endParaRPr>
          </a:p>
        </p:txBody>
      </p:sp>
      <p:sp>
        <p:nvSpPr>
          <p:cNvPr id="10" name="Chevron 9"/>
          <p:cNvSpPr/>
          <p:nvPr/>
        </p:nvSpPr>
        <p:spPr>
          <a:xfrm>
            <a:off x="4087368" y="1810512"/>
            <a:ext cx="164592" cy="201168"/>
          </a:xfrm>
          <a:prstGeom prst="chevron">
            <a:avLst/>
          </a:prstGeom>
          <a:solidFill>
            <a:srgbClr val="108CBA"/>
          </a:solidFill>
          <a:ln>
            <a:solidFill>
              <a:srgbClr val="1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88536" y="1627632"/>
            <a:ext cx="1691640" cy="566928"/>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20" b="1">
                <a:solidFill>
                  <a:srgbClr val="252B36"/>
                </a:solidFill>
                <a:latin typeface="微软雅黑" panose="020B0503020204020204" charset="-122"/>
              </a:rPr>
              <a:t>任务分配</a:t>
            </a:r>
            <a:endParaRPr sz="1120" b="1">
              <a:solidFill>
                <a:srgbClr val="252B36"/>
              </a:solidFill>
              <a:latin typeface="微软雅黑" panose="020B0503020204020204" charset="-122"/>
            </a:endParaRPr>
          </a:p>
        </p:txBody>
      </p:sp>
      <p:sp>
        <p:nvSpPr>
          <p:cNvPr id="12" name="Chevron 11"/>
          <p:cNvSpPr/>
          <p:nvPr/>
        </p:nvSpPr>
        <p:spPr>
          <a:xfrm>
            <a:off x="6025896" y="1810512"/>
            <a:ext cx="164592" cy="201168"/>
          </a:xfrm>
          <a:prstGeom prst="chevron">
            <a:avLst/>
          </a:prstGeom>
          <a:solidFill>
            <a:srgbClr val="108CBA"/>
          </a:solidFill>
          <a:ln>
            <a:solidFill>
              <a:srgbClr val="1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27064" y="1627632"/>
            <a:ext cx="1691640" cy="566928"/>
          </a:xfrm>
          <a:prstGeom prst="roundRect">
            <a:avLst/>
          </a:prstGeom>
          <a:solidFill>
            <a:srgbClr val="FFFFFF"/>
          </a:solidFill>
          <a:ln w="12700">
            <a:solidFill>
              <a:srgbClr val="108CB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20" b="1">
                <a:solidFill>
                  <a:srgbClr val="252B36"/>
                </a:solidFill>
                <a:latin typeface="微软雅黑" panose="020B0503020204020204" charset="-122"/>
              </a:rPr>
              <a:t>策划管理</a:t>
            </a:r>
            <a:endParaRPr sz="1120" b="1">
              <a:solidFill>
                <a:srgbClr val="252B36"/>
              </a:solidFill>
              <a:latin typeface="微软雅黑" panose="020B0503020204020204" charset="-122"/>
            </a:endParaRPr>
          </a:p>
        </p:txBody>
      </p:sp>
      <p:sp>
        <p:nvSpPr>
          <p:cNvPr id="14" name="Chevron 13"/>
          <p:cNvSpPr/>
          <p:nvPr/>
        </p:nvSpPr>
        <p:spPr>
          <a:xfrm>
            <a:off x="7964424" y="1810512"/>
            <a:ext cx="164592" cy="201168"/>
          </a:xfrm>
          <a:prstGeom prst="chevron">
            <a:avLst/>
          </a:prstGeom>
          <a:solidFill>
            <a:srgbClr val="108CBA"/>
          </a:solidFill>
          <a:ln>
            <a:solidFill>
              <a:srgbClr val="1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65592" y="1627632"/>
            <a:ext cx="1691640" cy="566928"/>
          </a:xfrm>
          <a:prstGeom prst="roundRect">
            <a:avLst/>
          </a:prstGeom>
          <a:solidFill>
            <a:srgbClr val="FFFFFF"/>
          </a:solidFill>
          <a:ln w="12700">
            <a:solidFill>
              <a:srgbClr val="108CB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20" b="1">
                <a:solidFill>
                  <a:srgbClr val="252B36"/>
                </a:solidFill>
                <a:latin typeface="微软雅黑" panose="020B0503020204020204" charset="-122"/>
              </a:rPr>
              <a:t>供方文件审核</a:t>
            </a:r>
            <a:endParaRPr sz="1120" b="1">
              <a:solidFill>
                <a:srgbClr val="252B36"/>
              </a:solidFill>
              <a:latin typeface="微软雅黑" panose="020B0503020204020204" charset="-122"/>
            </a:endParaRPr>
          </a:p>
        </p:txBody>
      </p:sp>
      <p:sp>
        <p:nvSpPr>
          <p:cNvPr id="16" name="Chevron 15"/>
          <p:cNvSpPr/>
          <p:nvPr/>
        </p:nvSpPr>
        <p:spPr>
          <a:xfrm>
            <a:off x="9902952" y="1810512"/>
            <a:ext cx="164592" cy="201168"/>
          </a:xfrm>
          <a:prstGeom prst="chevron">
            <a:avLst/>
          </a:prstGeom>
          <a:solidFill>
            <a:srgbClr val="108CBA"/>
          </a:solidFill>
          <a:ln>
            <a:solidFill>
              <a:srgbClr val="1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104120" y="1627632"/>
            <a:ext cx="1691640" cy="566928"/>
          </a:xfrm>
          <a:prstGeom prst="roundRect">
            <a:avLst/>
          </a:prstGeom>
          <a:solidFill>
            <a:srgbClr val="FFFFFF"/>
          </a:solidFill>
          <a:ln w="12700">
            <a:solidFill>
              <a:srgbClr val="108CB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20" b="1">
                <a:solidFill>
                  <a:srgbClr val="252B36"/>
                </a:solidFill>
                <a:latin typeface="微软雅黑" panose="020B0503020204020204" charset="-122"/>
              </a:rPr>
              <a:t>质量计划标准建立</a:t>
            </a:r>
            <a:endParaRPr sz="1120" b="1">
              <a:solidFill>
                <a:srgbClr val="252B36"/>
              </a:solidFill>
              <a:latin typeface="微软雅黑" panose="020B0503020204020204" charset="-122"/>
            </a:endParaRPr>
          </a:p>
        </p:txBody>
      </p:sp>
      <p:sp>
        <p:nvSpPr>
          <p:cNvPr id="18" name="Rounded Rectangle 17"/>
          <p:cNvSpPr/>
          <p:nvPr/>
        </p:nvSpPr>
        <p:spPr>
          <a:xfrm>
            <a:off x="3840480" y="2450592"/>
            <a:ext cx="4526280" cy="859536"/>
          </a:xfrm>
          <a:prstGeom prst="roundRect">
            <a:avLst/>
          </a:prstGeom>
          <a:solidFill>
            <a:srgbClr val="ECF7F1"/>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300" b="0">
                <a:solidFill>
                  <a:srgbClr val="252B36"/>
                </a:solidFill>
                <a:latin typeface="微软雅黑" panose="020B0503020204020204" charset="-122"/>
              </a:rPr>
              <a:t>监造过程监督和执行</a:t>
            </a:r>
            <a:endParaRPr sz="1300" b="0">
              <a:solidFill>
                <a:srgbClr val="252B36"/>
              </a:solidFill>
              <a:latin typeface="微软雅黑" panose="020B0503020204020204" charset="-122"/>
            </a:endParaRPr>
          </a:p>
          <a:p>
            <a:pPr algn="l">
              <a:spcAft>
                <a:spcPts val="200"/>
              </a:spcAft>
            </a:pPr>
            <a:r>
              <a:rPr sz="1300" b="0">
                <a:solidFill>
                  <a:srgbClr val="252B36"/>
                </a:solidFill>
                <a:latin typeface="微软雅黑" panose="020B0503020204020204" charset="-122"/>
              </a:rPr>
              <a:t>日常监督 / 专项监督 / 见证执行 / 2 天内佐证回传 / 异常项触发问题</a:t>
            </a:r>
            <a:endParaRPr sz="1300" b="0">
              <a:solidFill>
                <a:srgbClr val="252B36"/>
              </a:solidFill>
              <a:latin typeface="微软雅黑" panose="020B0503020204020204" charset="-122"/>
            </a:endParaRPr>
          </a:p>
        </p:txBody>
      </p:sp>
      <p:sp>
        <p:nvSpPr>
          <p:cNvPr id="19" name="Rounded Rectangle 18"/>
          <p:cNvSpPr/>
          <p:nvPr/>
        </p:nvSpPr>
        <p:spPr>
          <a:xfrm>
            <a:off x="960120" y="3621024"/>
            <a:ext cx="1874519" cy="713232"/>
          </a:xfrm>
          <a:prstGeom prst="roundRect">
            <a:avLst/>
          </a:prstGeom>
          <a:solidFill>
            <a:srgbClr val="FFFFFF"/>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30" b="1">
                <a:solidFill>
                  <a:srgbClr val="252B36"/>
                </a:solidFill>
                <a:latin typeface="微软雅黑" panose="020B0503020204020204" charset="-122"/>
              </a:rPr>
              <a:t>监造巡查管理</a:t>
            </a:r>
            <a:endParaRPr sz="1130" b="1">
              <a:solidFill>
                <a:srgbClr val="252B36"/>
              </a:solidFill>
              <a:latin typeface="微软雅黑" panose="020B0503020204020204" charset="-122"/>
            </a:endParaRPr>
          </a:p>
        </p:txBody>
      </p:sp>
      <p:sp>
        <p:nvSpPr>
          <p:cNvPr id="20" name="Chevron 19"/>
          <p:cNvSpPr/>
          <p:nvPr/>
        </p:nvSpPr>
        <p:spPr>
          <a:xfrm>
            <a:off x="3145282" y="3932428"/>
            <a:ext cx="237744" cy="219456"/>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794760" y="3621024"/>
            <a:ext cx="1874519" cy="713232"/>
          </a:xfrm>
          <a:prstGeom prst="roundRect">
            <a:avLst/>
          </a:prstGeom>
          <a:solidFill>
            <a:srgbClr val="FFFFFF"/>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30" b="1">
                <a:solidFill>
                  <a:srgbClr val="252B36"/>
                </a:solidFill>
                <a:latin typeface="微软雅黑" panose="020B0503020204020204" charset="-122"/>
              </a:rPr>
              <a:t>监造质量问题处理</a:t>
            </a:r>
            <a:endParaRPr sz="1130" b="1">
              <a:solidFill>
                <a:srgbClr val="252B36"/>
              </a:solidFill>
              <a:latin typeface="微软雅黑" panose="020B0503020204020204" charset="-122"/>
            </a:endParaRPr>
          </a:p>
        </p:txBody>
      </p:sp>
      <p:sp>
        <p:nvSpPr>
          <p:cNvPr id="22" name="Chevron 21"/>
          <p:cNvSpPr/>
          <p:nvPr/>
        </p:nvSpPr>
        <p:spPr>
          <a:xfrm>
            <a:off x="6030722" y="3867658"/>
            <a:ext cx="237744" cy="219456"/>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629400" y="3621024"/>
            <a:ext cx="1874519" cy="713232"/>
          </a:xfrm>
          <a:prstGeom prst="roundRect">
            <a:avLst/>
          </a:prstGeom>
          <a:solidFill>
            <a:srgbClr val="FFFFFF"/>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30" b="1">
                <a:solidFill>
                  <a:srgbClr val="252B36"/>
                </a:solidFill>
                <a:latin typeface="微软雅黑" panose="020B0503020204020204" charset="-122"/>
              </a:rPr>
              <a:t>抽查复验管理</a:t>
            </a:r>
            <a:endParaRPr sz="1130" b="1">
              <a:solidFill>
                <a:srgbClr val="252B36"/>
              </a:solidFill>
              <a:latin typeface="微软雅黑" panose="020B0503020204020204" charset="-122"/>
            </a:endParaRPr>
          </a:p>
        </p:txBody>
      </p:sp>
      <p:sp>
        <p:nvSpPr>
          <p:cNvPr id="24" name="Chevron 23"/>
          <p:cNvSpPr/>
          <p:nvPr/>
        </p:nvSpPr>
        <p:spPr>
          <a:xfrm>
            <a:off x="8765667" y="3867023"/>
            <a:ext cx="237744" cy="219456"/>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464040" y="3621024"/>
            <a:ext cx="1874519" cy="713232"/>
          </a:xfrm>
          <a:prstGeom prst="roundRect">
            <a:avLst/>
          </a:prstGeom>
          <a:solidFill>
            <a:srgbClr val="FFFFFF"/>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30" b="1">
                <a:solidFill>
                  <a:srgbClr val="252B36"/>
                </a:solidFill>
                <a:latin typeface="微软雅黑" panose="020B0503020204020204" charset="-122"/>
              </a:rPr>
              <a:t>监造记录</a:t>
            </a:r>
            <a:endParaRPr sz="1130" b="1">
              <a:solidFill>
                <a:srgbClr val="252B36"/>
              </a:solidFill>
              <a:latin typeface="微软雅黑" panose="020B0503020204020204" charset="-122"/>
            </a:endParaRPr>
          </a:p>
        </p:txBody>
      </p:sp>
      <p:sp>
        <p:nvSpPr>
          <p:cNvPr id="26" name="Chevron 25"/>
          <p:cNvSpPr/>
          <p:nvPr/>
        </p:nvSpPr>
        <p:spPr>
          <a:xfrm>
            <a:off x="11444732" y="3931793"/>
            <a:ext cx="237744" cy="219456"/>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084831" y="4800600"/>
            <a:ext cx="1874519" cy="694944"/>
          </a:xfrm>
          <a:prstGeom prst="roundRect">
            <a:avLst/>
          </a:prstGeom>
          <a:solidFill>
            <a:srgbClr val="FFFFFF"/>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252B36"/>
                </a:solidFill>
                <a:latin typeface="微软雅黑" panose="020B0503020204020204" charset="-122"/>
              </a:rPr>
              <a:t>监造完工管理</a:t>
            </a:r>
            <a:endParaRPr sz="1140" b="1">
              <a:solidFill>
                <a:srgbClr val="252B36"/>
              </a:solidFill>
              <a:latin typeface="微软雅黑" panose="020B0503020204020204" charset="-122"/>
            </a:endParaRPr>
          </a:p>
        </p:txBody>
      </p:sp>
      <p:sp>
        <p:nvSpPr>
          <p:cNvPr id="28" name="Chevron 27"/>
          <p:cNvSpPr/>
          <p:nvPr/>
        </p:nvSpPr>
        <p:spPr>
          <a:xfrm>
            <a:off x="4005072" y="5029200"/>
            <a:ext cx="182880" cy="201168"/>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187952" y="4800600"/>
            <a:ext cx="1874519" cy="694944"/>
          </a:xfrm>
          <a:prstGeom prst="roundRect">
            <a:avLst/>
          </a:prstGeom>
          <a:solidFill>
            <a:srgbClr val="FFFFFF"/>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252B36"/>
                </a:solidFill>
                <a:latin typeface="微软雅黑" panose="020B0503020204020204" charset="-122"/>
              </a:rPr>
              <a:t>监造验收</a:t>
            </a:r>
            <a:endParaRPr sz="1140" b="1">
              <a:solidFill>
                <a:srgbClr val="252B36"/>
              </a:solidFill>
              <a:latin typeface="微软雅黑" panose="020B0503020204020204" charset="-122"/>
            </a:endParaRPr>
          </a:p>
        </p:txBody>
      </p:sp>
      <p:sp>
        <p:nvSpPr>
          <p:cNvPr id="30" name="Chevron 29"/>
          <p:cNvSpPr/>
          <p:nvPr/>
        </p:nvSpPr>
        <p:spPr>
          <a:xfrm>
            <a:off x="6108192" y="5029200"/>
            <a:ext cx="182880" cy="201168"/>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91071" y="4800600"/>
            <a:ext cx="1874519" cy="694944"/>
          </a:xfrm>
          <a:prstGeom prst="roundRect">
            <a:avLst/>
          </a:prstGeom>
          <a:solidFill>
            <a:srgbClr val="FFFFFF"/>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252B36"/>
                </a:solidFill>
                <a:latin typeface="微软雅黑" panose="020B0503020204020204" charset="-122"/>
              </a:rPr>
              <a:t>监造放行</a:t>
            </a:r>
            <a:endParaRPr sz="1140" b="1">
              <a:solidFill>
                <a:srgbClr val="252B36"/>
              </a:solidFill>
              <a:latin typeface="微软雅黑" panose="020B0503020204020204" charset="-122"/>
            </a:endParaRPr>
          </a:p>
        </p:txBody>
      </p:sp>
      <p:sp>
        <p:nvSpPr>
          <p:cNvPr id="32" name="Chevron 31"/>
          <p:cNvSpPr/>
          <p:nvPr/>
        </p:nvSpPr>
        <p:spPr>
          <a:xfrm>
            <a:off x="8211311" y="5029200"/>
            <a:ext cx="182880" cy="201168"/>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394192" y="4800600"/>
            <a:ext cx="1874519" cy="694944"/>
          </a:xfrm>
          <a:prstGeom prst="roundRect">
            <a:avLst/>
          </a:prstGeom>
          <a:solidFill>
            <a:srgbClr val="FFFFFF"/>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252B36"/>
                </a:solidFill>
                <a:latin typeface="微软雅黑" panose="020B0503020204020204" charset="-122"/>
              </a:rPr>
              <a:t>质量追溯</a:t>
            </a:r>
            <a:endParaRPr sz="1140" b="1">
              <a:solidFill>
                <a:srgbClr val="252B36"/>
              </a:solidFill>
              <a:latin typeface="微软雅黑" panose="020B0503020204020204" charset="-122"/>
            </a:endParaRPr>
          </a:p>
        </p:txBody>
      </p:sp>
      <p:sp>
        <p:nvSpPr>
          <p:cNvPr id="34" name="Rounded Rectangle 33"/>
          <p:cNvSpPr/>
          <p:nvPr/>
        </p:nvSpPr>
        <p:spPr>
          <a:xfrm>
            <a:off x="502920" y="5779008"/>
            <a:ext cx="11109960" cy="502920"/>
          </a:xfrm>
          <a:prstGeom prst="roundRect">
            <a:avLst/>
          </a:prstGeom>
          <a:solidFill>
            <a:srgbClr val="F4F7FC"/>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20" b="0">
                <a:solidFill>
                  <a:srgbClr val="122D57"/>
                </a:solidFill>
                <a:latin typeface="微软雅黑" panose="020B0503020204020204" charset="-122"/>
              </a:rPr>
              <a:t>支撑模块挂载逻辑：统计分析 / 风险预警 / 可视化 / 工日 / 二维码 / 签名 / OCR / 视频 / 付款 / 培训贯穿主链服务；质量问题处理是跨阶段闭环模块。</a:t>
            </a:r>
            <a:endParaRPr sz="1120" b="0">
              <a:solidFill>
                <a:srgbClr val="122D57"/>
              </a:solidFill>
              <a:latin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01 体系文件管理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4</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1A56B5"/>
                </a:solidFill>
                <a:latin typeface="微软雅黑" panose="020B0503020204020204" charset="-122"/>
              </a:rPr>
              <a:t>本页核心：把技术文件、法规标准和质量计划模板底座先建好。</a:t>
            </a:r>
            <a:endParaRPr sz="1250" b="0">
              <a:solidFill>
                <a:srgbClr val="1A56B5"/>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基础建模阶段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按类型规划目录</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上传技术文件/标准/法规</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审核发布并编码归档</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审批通过质量计划收录标准库</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策划与质量计划后续复用</a:t>
            </a:r>
            <a:endParaRPr sz="1150" b="0">
              <a:solidFill>
                <a:srgbClr val="252B36"/>
              </a:solidFill>
              <a:latin typeface="微软雅黑" panose="020B0503020204020204" charset="-122"/>
            </a:endParaRPr>
          </a:p>
        </p:txBody>
      </p:sp>
      <p:sp>
        <p:nvSpPr>
          <p:cNvPr id="17" name="Rounded Rectangle 16"/>
          <p:cNvSpPr/>
          <p:nvPr/>
        </p:nvSpPr>
        <p:spPr>
          <a:xfrm>
            <a:off x="512445" y="3401695"/>
            <a:ext cx="5659755" cy="311150"/>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按类型规划监造体系的相关技术文件，可按类型上传技术文件、标准文件、相关法律法规等资料，实现文件的高效上传、规范管理与便捷查阅，形成一个完整的监造体系知识资料文件库，为监理人员提供权威、统一的作业依据，保障监造工作的规范性、一致性</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建立质量计划标准库，数据来源于平台收录的物资采购包质量计划，审批通过后的质量计划收录进标准库，后续建立质量计划时可参考标准库中的基础数据作为模板建立质量计划</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按钮：新建目录 / 上传文件 / 提交审核 / 预览 / 下载</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角色：监造管理部门、监造工程师、审查人/总监</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来源：外部法规标准、技术资料、已审批质量计划</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去向：策划管理、供方文件审核、质量计划标准建立</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先后关系：先立统一依据，再做策划和质量计划。</a:t>
            </a:r>
            <a:endParaRPr sz="1050" b="0">
              <a:solidFill>
                <a:srgbClr val="252B36"/>
              </a:solidFill>
              <a:latin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02 物资采购管理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5</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1A56B5"/>
                </a:solidFill>
                <a:latin typeface="微软雅黑" panose="020B0503020204020204" charset="-122"/>
              </a:rPr>
              <a:t>本页核心：先把合同主体和物资对象建清楚，后续任务和追溯才有唯一对象。</a:t>
            </a:r>
            <a:endParaRPr sz="1250" b="0">
              <a:solidFill>
                <a:srgbClr val="1A56B5"/>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基础建模阶段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创建合同并录入唯一字段</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在“物资维护”入口建物资</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批量导入/增删改并留痕</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维护状态并查询导出打印</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完结归档并向监造模块同步</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物资采购部门人员负责合同创建、上传与编辑，其他部门仅可权限内查阅，上传时需完整填报全局唯一合同编号、合同名称、签约供方等必填核心字段，同时可通过富文本备注栏补充特殊条款等扩展信息，系统预设待生效、履约中、已完结等合同状态并支持采购人员手动更新且留存操作痕迹，支持多条件精准/模糊查询，查询结果可导出、下载、打印，已完结合同自动归档并锁定编辑删除权限，涉密合同还可设置指定人员加密查看权限，实现合同全生命周期管控</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物资与合同执行严格一对多关联，单个合同可绑定多条独立物资信息、单条物资仅归属一个合同，系统后台自动校验杜绝错乱绑定，物资信息需依托已有合同在详情页“物资维护”入口创建，无对应合同无法新建，每条物资需完善合同下唯一编号、名称、规格型号等标准化字段且支持批量导入提升效率，支持物资信息新增、修改、删除并自动留存变更操作痕迹，合同履约完结后锁定物资编辑权限仅支持查看，同时物资数据同步对接监造管理模块，供监造管理部门创建项目、编制任务时调用复用，避免重复录入并为后续采购包、物资品类绑定提供数据支撑</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按钮：新建合同 / 物资维护 / 导入 / 导出 / 归档</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角色：项目负责人/采购员、监造管理部门</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来源：采购合同、供应商信息、合同变更信息</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去向：任务分配管理、监造验收、监造放行、质量追溯</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先后关系：先建合同和物资台账，再做任务分配。</a:t>
            </a:r>
            <a:endParaRPr sz="1050" b="0">
              <a:solidFill>
                <a:srgbClr val="252B36"/>
              </a:solidFill>
              <a:latin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03 任务分配管理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6</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1A56B5"/>
                </a:solidFill>
                <a:latin typeface="微软雅黑" panose="020B0503020204020204" charset="-122"/>
              </a:rPr>
              <a:t>本页核心：建立“项目-采购包-监造任务”三级关联和自动授权链。</a:t>
            </a:r>
            <a:endParaRPr sz="1250" b="0">
              <a:solidFill>
                <a:srgbClr val="1A56B5"/>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基础建模阶段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创建项目并配置属性</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编制任务并绑定采购包/供应商</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项目负责人指定监理人员</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审批通过后自动下放文件权限</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1A56B5"/>
          </a:solidFill>
          <a:ln>
            <a:solidFill>
              <a:srgbClr val="1A5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人员变更时走交接并自动流转权限</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新增项目全生命周期监造任务管理模块，构建「项目-物资采购包-监造任务」三级关联体系，实现监造任务的分级编制、审批授权、人员变动交接全流程管控，确保监造任务权责清晰、权限流转合规、过程文件维护有序</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支持监造管理部门创建项目并进行多维度属性配置（如项目名称、建设周期、所属类型等）</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单个项目下可编制多个独立监造任务，每个监造任务需明确任务范围、验收标准、关键节点、所需交付的监造文件清单（监理大纲、监理细则、监理日志、监理周报、异常问题汇总表、监理联系单、监理通知单、放行单、监理报告、监理总结），形成 “一项目多任务” 的层级管理结构</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监造任务分配及监理人员授权：监造管理部门编制监造任务，物资采购包必选至少带出供应商，任务下达至监造单位项目负责人，项目负责人为每个监造任务指定监理人员，最终提交监造管理部门审批</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审批通过后，系统自动完成权限下放：将该监造任务的文件维护权限（质量计划、监理大纲、监理细则、监理日志、监理周报、异常问题汇总表、监理联系单、监理通知单、放行单、监理报告、监理总结）精准赋予指定监理人员，监理人员可独立维护负责监造任务的全流程文件</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监造任务人员变动管理：监造任务执行过程中，若因人员调岗、离职等原因需更换监理人员，支持监造管理部门/监造单位项目负责人发起监造任务变更申请，申请内容需明确变动原因</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按钮：新建项目 / 分配任务 / 提交审批 / 发起变更 / 交接确认</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角色：监造管理部门、项目负责人/采购员、监造工程师、审查人/总监</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1A56B5"/>
          </a:solidFill>
          <a:ln w="12700">
            <a:solidFill>
              <a:srgbClr val="1A56B5"/>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来源：项目立项信息、合同物资台账、采购包与供应商信息</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去向：策划管理、监造过程监督和执行、培训与考试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先后关系：任务未审批通过，后续策划和现场执行不能合法启动。</a:t>
            </a:r>
            <a:endParaRPr sz="1050" b="0">
              <a:solidFill>
                <a:srgbClr val="252B36"/>
              </a:solidFill>
              <a:latin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04 策划管理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7</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0C78A4"/>
                </a:solidFill>
                <a:latin typeface="微软雅黑" panose="020B0503020204020204" charset="-122"/>
              </a:rPr>
              <a:t>本页核心：把已下发任务转成可执行的监造策划和检试验计划。</a:t>
            </a:r>
            <a:endParaRPr sz="1250" b="0">
              <a:solidFill>
                <a:srgbClr val="0C78A4"/>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执行准备阶段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校验任务状态为“待策划”</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绑定归属采购包</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按封面/主体/检试验计划编制</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项目负责人初审+管理部门终审</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升版迭代并归档历史版本</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监造策划编制需以监造任务分配流程全部办结、任务状态标记为“待策划”为前置条件，未完成分配审批、状态异常的监造任务，禁止监理人员发起策划编制操作，杜绝无依据编制、错编漏编</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监理人员进入策划编制页面后，必须绑定对应物资采购包，且仅可选择当前监造任务归属的采购包，禁止跨任务、跨采购包关联</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单份监造策划仅能关联一个物资采购包，实现“策划-采购包-任务”定向绑定</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监理创建策划后可复用系统自动带入的基础信息，按封面、主体内容、监造检试验计划三大模块完成填报并保存草稿，提交后需经监造单位项目负责人初审、监造管理部门终审的两级审批流程，已审批策划仅允许通过填写升版原因、更新内容并重新审批的方式升版迭代，原版本自动归档为历史版本，同时全程严控操作权限、留存全流程日志、保障数据同源复用，杜绝违规编制、关联错乱、随意修改等问题，实现监造策划全程可管、可溯、可控</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文件查阅权限：监理端开放专属查阅入口：可查看监造管理部门预先上传的采购包相关附件、任务交底文件、技术标准、供方资质等配套资料，仅支持在线预览、下载查阅，禁止修改、删除、上传操作</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按钮：新建策划 / 保存草稿 / 提交审批 / 升版 / 查看历史版本</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角色：监造工程师、审查人/总监、监造管理部门</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来源：已审批监造任务、采购包资料、体系文件标准库</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去向：供方文件审核、质量计划标准建立、电子签名</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先后关系：策划未生效，后续供方审核和质控点确认口径不完整。</a:t>
            </a:r>
            <a:endParaRPr sz="1050" b="0">
              <a:solidFill>
                <a:srgbClr val="252B36"/>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05 供方文件审核</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8</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0C78A4"/>
                </a:solidFill>
                <a:latin typeface="微软雅黑" panose="020B0503020204020204" charset="-122"/>
              </a:rPr>
              <a:t>本页核心：把供应商提交的文件审核受控，再进入质量计划生效。</a:t>
            </a:r>
            <a:endParaRPr sz="1250" b="0">
              <a:solidFill>
                <a:srgbClr val="0C78A4"/>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执行准备阶段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供应商选择采购包提交文件</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系统绑定任务/采购包/供方信息</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监理在线审查并填写意见</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驳回补正或提交审批</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版本留存并衔接质量计划确认</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文件查阅权限：监理端开放专属查阅入口：可查看监造管理部门预先上传的采购包相关附件、任务交底文件、技术标准、供方资质等配套资料，仅支持在线预览、下载查阅，禁止修改、删除、上传操作</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五、供方文件审核及质量计划标准的建立</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质量计划基础管理与编码关联：支持供应商选择对应物资采购包创建原材料和设备制造质量计划，明确计划适用的原材料、设备品类等核心属性，至少包括工序内容、依据条款、质量判定标准等信息</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为每份质量计划分配全局唯一编码，编码规则需包含项目标识、采购包编号、计划类型及版本号</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支持母质量计划、子质量计划、分质量计划的层级化管理，建立母子计划的关联关系，子计划需继承母计划的核心质控要求，分计划需对应具体制造工序，实现质量管控要求的逐级分解与落地</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提供质量计划多维度查询功能，支持按编码、项目、采购包等条件精准检索</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按钮：上传资料 / 填写意见 / 提交审批 / 退回补正 / 查看版本</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角色：供应商/制造厂、监造工程师、审查人/总监、监造管理部门</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来源：供应商质量计划文件、资质材料、采购包附件、技术标准</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去向：质量计划标准建立、图文识别信息抓取、二期防造假管理</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先后关系：先把供方资料审核受控，再让质量计划正式生效。</a:t>
            </a:r>
            <a:endParaRPr sz="1050" b="0">
              <a:solidFill>
                <a:srgbClr val="252B36"/>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06 质量计划标准建立</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9</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0C78A4"/>
                </a:solidFill>
                <a:latin typeface="微软雅黑" panose="020B0503020204020204" charset="-122"/>
              </a:rPr>
              <a:t>本页核心：把 W/R/H 点和见证责任在执行前一次落清楚。</a:t>
            </a:r>
            <a:endParaRPr sz="1250" b="0">
              <a:solidFill>
                <a:srgbClr val="0C78A4"/>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执行准备阶段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供应商创建母/子/分计划</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标注 W/R/H 质控点</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监理+监造双线审批并签章</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系统按工序生成见证点清单</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0C78A4"/>
          </a:solidFill>
          <a:ln>
            <a:solidFill>
              <a:srgbClr val="0C78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生效后按版本持续维护</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质量计划基础管理与编码关联：支持供应商选择对应物资采购包创建原材料和设备制造质量计划，明确计划适用的原材料、设备品类等核心属性，至少包括工序内容、依据条款、质量判定标准等信息</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为每份质量计划分配全局唯一编码，编码规则需包含项目标识、采购包编号、计划类型及版本号</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支持母质量计划、子质量计划、分质量计划的层级化管理，建立母子计划的关联关系，子计划需继承母计划的核心质控要求，分计划需对应具体制造工序，实现质量管控要求的逐级分解与落地</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提供质量计划多维度查询功能，支持按编码、项目、采购包等条件精准检索</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质量计划由供应商作为唯一编制主体完成编制后，需在提交审批前预先自行标注出自身需要见证的W（见证点）、R（报告点）、H（停工待检点）三类质控点，再同步提交至监理单位、监造管理部门进行双线审批</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监理单位与监造管理部门分别开展审批工作，审批过程中需在对应专属列内，逐一标注确认各自负责的W、R、H质控点，同时核对质控点标注合规性，签署审批意见并完成电子签章，需两方均审批通过后质量计划方可确认生效，任一部门驳回则需供应商按驳回意见整改后重新提交</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按钮：新建计划 / 标注质控点 / 提交审批 / 生成清单 / 升版</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角色：供应商/制造厂、监造工程师、监造管理部门、审查人/总监</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0C78A4"/>
          </a:solidFill>
          <a:ln w="12700">
            <a:solidFill>
              <a:srgbClr val="0C78A4"/>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来源：供方文件审核结果、体系文件标准库、采购包及物资工序信息</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去向：监造过程监督和执行、监造验收、监造记录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先后关系：质控点未生效，后续见证、专项监督和验收依据都不成立。</a:t>
            </a:r>
            <a:endParaRPr sz="1050" b="0">
              <a:solidFill>
                <a:srgbClr val="252B36"/>
              </a:solidFill>
              <a:latin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07 监造过程监督和执行</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10</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28057"/>
                </a:solidFill>
                <a:latin typeface="微软雅黑" panose="020B0503020204020204" charset="-122"/>
              </a:rPr>
              <a:t>本页核心：把现场监督、专项监督和见证执行做成标准化数据。</a:t>
            </a:r>
            <a:endParaRPr sz="1250" b="0">
              <a:solidFill>
                <a:srgbClr val="228057"/>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监督执行阶段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选择执行中的监造任务</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按日填报日常监督日志</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按质量计划发起专项监督/见证</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2 天内回传佐证材料</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异常项联动质量问题和统计</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系统支持监造人员在已分配、执行中的对应监造任务项下，实时记录供方日常生产全维度工况信息，涵盖生产工艺执行合规性、关键设备运行状态（含参数、异常情况）、现场作业人员操作规范性等核心内容，支持补充异常问题描述、处置措施等扩展备注</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同时严格执行按日填报机制，日志自动关联当前监造任务、对应项目及采购包信息，监造人员需当日完成填报，不支持补录，日志必填项完整且提交后不可随意修改，如需更正需走审批流程，所有记录数据与监造任务绑定归档，留存操作痕迹，实现日常监督数据可查、可追溯，为后续监造复盘、问题溯源提供依据</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系统为监造人员开展供方制造过程监督工作提供标准化流程与明确执行要求，核心实现全过程可视化、标准化、数据化、可追溯及闭环管理</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依据在已分配、执行中的对应监造任务物资采购包质量计划控制要点搭建专项监督标准化表单，确保监督主题、检查项及判定标准与质量计划控制要点完全匹配，佐证材料需在监督实施完成后 2 天内同步回传，逾期自动触发提醒及督促功能，同时支持检验计划全链路追溯至对应监理人员填报的专项监督表单，实现检验数据与监督记录双向关联、全程可查，对不合格项支持质量问题填报</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按钮：填报日志 / 发起监督 / 上传附件 / 提交记录 / 更新进度</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角色：监造工程师、供应商/制造厂、监造管理部门</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来源：已生效监造任务、质量计划、W/R/H 见证点、现场生产数据</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去向：监造巡查管理、监造质量问题处理、抽查复验管理、监造记录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先后关系：这是主生产区，后续巡查、问题、抽查和记录都从这里持续取数或被这里触发。</a:t>
            </a:r>
            <a:endParaRPr sz="1050" b="0">
              <a:solidFill>
                <a:srgbClr val="252B36"/>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08 监造巡查管理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11</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28057"/>
                </a:solidFill>
                <a:latin typeface="微软雅黑" panose="020B0503020204020204" charset="-122"/>
              </a:rPr>
              <a:t>本页核心：把巡查计划、报告、行动项和整改关闭做成完整闭环。</a:t>
            </a:r>
            <a:endParaRPr sz="1250" b="0">
              <a:solidFill>
                <a:srgbClr val="228057"/>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监督执行阶段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依据任务创建或变更巡查计划</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逐级审批后实施巡查</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巡查结束自动生成报告</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生成行动项并判定是否质量问题</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全部关闭后本次巡查办结</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监造人员可依据对应监造任务发起巡查计划的创建、变更，并提交至监造单位、监造管理部门逐级审批，审批通过后方可实施监造巡查</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巡查实施完成后系统自动生成监造巡查报告并生成行动项，同步判定行动项是否属于质量问题，若判定为质量问题则自动纳入质量问题汇总表统一管理，并按责任归属指定供应商或监造单位相关责任人开展整改</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供应商整改完成后需上传佐证材料，向监理人员及监造管理部门提交关闭申请</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系统对行动项执行全流程跟踪与规范化关闭流程管理，待所有行动项均闭环完成后，该次监造巡查方可标记为已完成</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按钮：新建巡查 / 提交审批 / 生成报告 / 分派行动项 / 关闭</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角色：监造工程师、监造管理部门、供应商/制造厂、审查人/总监</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来源：执行中的监造任务、现场巡查安排、监督记录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去向：监造质量问题处理、监造记录、风险预警</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先后关系：巡查是监督执行的重要支路，行动项可直接回流到问题闭环和风险预警。</a:t>
            </a:r>
            <a:endParaRPr sz="1050" b="0">
              <a:solidFill>
                <a:srgbClr val="252B36"/>
              </a:solidFill>
              <a:latin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09 监造质量问题处理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12</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28057"/>
                </a:solidFill>
                <a:latin typeface="微软雅黑" panose="020B0503020204020204" charset="-122"/>
              </a:rPr>
              <a:t>本页核心：把问题发现、建单、整改、复核、关闭做成强约束闭环。</a:t>
            </a:r>
            <a:endParaRPr sz="1250" b="0">
              <a:solidFill>
                <a:srgbClr val="228057"/>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监督执行阶段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从业务记录页快捷建单或手动建单</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按单据类型进入审批流</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系统推送供应商整改并要求回传佐证</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监造复核合格/不合格</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单据和源业务记录同步关闭或退回重整</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支持质量问题单、工作联系单、质量问题通知单三类核心单据的全生命周期管理</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明确三类单据的业务来源：质量问题单、工作联系单、质量问题通知单需直接关联监造任务巡视检查、专项巡检、见证执行、出厂验收、监造放行等业务环节产生的记录，系统支持从上述业务记录页面发起单据，自动带出关联的项目编号、合同编号、制造厂信息等核心数据，无需手动重复录入</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建立单据编码关联机制：对于因质量问题触发的工作联系单、质量问题通知单，系统需将单据编码自动反写至源头业务记录的对应字段，实现"业务记录-问题单据-整改记录"的双向追溯</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支持通过单据编号、项目编号、制造厂名称等多维度检索单据</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快捷创建模式：监造人员在监造工作过程中（如见证现场发现质量问题、巡检中识别隐患），在当前监造任务下可直接从对应业务记录页面点击创建单据，系统自动填充已有的项目、合同、制造厂等信息，缺失信息支持现场补充录入，提交后立即触发预设审批流程</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手动新建模式：支持监造人员按需手动新建三类单据，系统提供标准化模板，内置工作联系单、质量问题通知单、停工令等表单模板，支持一键套用模板生成单据</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按钮：快捷建单 / 提交审批 / 发送整改 / 复核 / 关闭</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角色：监造工程师、供应商/制造厂、审查人/总监、监造管理部门</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来源：巡视检查、专项监督、见证执行、监造验收、监造放行等业务记录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去向：风险预警、监造记录、统计分析、质量追溯</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先后关系：该模块贯穿监督执行和交付收口阶段，接收多源问题并回写源业务。</a:t>
            </a:r>
            <a:endParaRPr sz="1050" b="0">
              <a:solidFill>
                <a:srgbClr val="252B36"/>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10 抽查复验管理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13</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28057"/>
                </a:solidFill>
                <a:latin typeface="微软雅黑" panose="020B0503020204020204" charset="-122"/>
              </a:rPr>
              <a:t>本页核心：把抽验任务、结果录入和台账沉淀做成可统计的数据闭环。</a:t>
            </a:r>
            <a:endParaRPr sz="1250" b="0">
              <a:solidFill>
                <a:srgbClr val="228057"/>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监督执行阶段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创建抽验任务并绑定任务/采购包/合同</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指定抽验物项、检查人员、时限</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在线录入检查细节和结果判定</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上传图片/文件并提出整改建议</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系统自动生成抽验复查台账</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支持将抽验任务与当前监造任务及物资采购包绑定，关联合同基本信息，确保抽验范围精准对应合同约定</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创建抽验任务时，可指定抽验物项、检查人员、完成时限</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支持监理人员在线填写抽验结果，包括检查细节(如检测指标、实测数据)、问题描述(附图片/文件上传)、结果判定(合格/不合格)，支持提交整改建议</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抽验台账管理：自动生成抽验复查全量台账，记录每次抽验任务的基础信息(任务编号、抽验类型、合同关联)、执行信息(监理人员、检查时间)、结果信息(判定结论、问题详情)，支持按多维度筛选（合同、时间、结果）</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按钮：新建抽验 / 录入结果 / 上传附件 / 提交建议 / 查看报表</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角色：监造工程师、项目负责人/采购员、供应商/制造厂</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来源：监造任务、物资采购包、合同基本信息、抽验要求</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去向：监造质量问题处理、统计分析、监造记录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先后关系：抽查复验和巡查并列服务监督执行，结果既可能触发质量问题，也会进入统计报表。</a:t>
            </a:r>
            <a:endParaRPr sz="1050" b="0">
              <a:solidFill>
                <a:srgbClr val="252B36"/>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11 监造记录（日 / 周 / 月报）</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14</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28057"/>
                </a:solidFill>
                <a:latin typeface="微软雅黑" panose="020B0503020204020204" charset="-122"/>
              </a:rPr>
              <a:t>本页核心：把日报、周报、月报和总结做成自动汇总与不可篡改电子档案。</a:t>
            </a:r>
            <a:endParaRPr sz="1250" b="0">
              <a:solidFill>
                <a:srgbClr val="228057"/>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监督执行阶段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按任务/采购包创建日报周报月报</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自动抓取日志/专项监督/问题/行动项</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监理编辑补充照片与说明</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监理编制-负责人审核-管理部门审核</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228057"/>
          </a:solidFill>
          <a:ln>
            <a:solidFill>
              <a:srgbClr val="228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批准后固化电子档案</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本系统可按现有监造任务及物资采购包创建与维护监造日报、周报、月报模板，支持查询及打印输出，监造范围首次手动选择后再次发起默认沿用上次内容并支持手动修改</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日报、周报、月报等统计表格可自动抓取日志、专项监督表单、质量问题、行动项等监造文件填报内容并归纳统计，支持上传及编辑照片、文件说明，打印时自动作为附件置于文件后，具备数据积累与存储能力，周报、月报及总结可从日报自动汇总统计且保留编辑修正功能，无需人工二次汇总</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所有监造资料执行编审批流程（监造人员编制、监造单位负责人审核、监造管理部门审核），审核通过方可流转，经最终批准后的监督记录、照片、报告将形成不可篡改电子档案，留存操作日志，便于随时查阅与追溯</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按钮：新建日报 / 自动汇总 / 提交审批 / 打印 / 归档</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角色：监造工程师、审查人/总监、监造管理部门</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来源：日志、专项监督、质量问题、巡查行动项、抽验结果</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去向：监造完工管理、统计分析、可视化管理</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先后关系：该模块负责把执行阶段分散数据汇总成正式报告和电子档案。</a:t>
            </a:r>
            <a:endParaRPr sz="1050" b="0">
              <a:solidFill>
                <a:srgbClr val="252B36"/>
              </a:solidFill>
              <a:latin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12 监造完工管理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15</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A97117"/>
                </a:solidFill>
                <a:latin typeface="微软雅黑" panose="020B0503020204020204" charset="-122"/>
              </a:rPr>
              <a:t>本页核心：系统自动汇总合同全生命周期监造数据生成完工报告。</a:t>
            </a:r>
            <a:endParaRPr sz="1250" b="0">
              <a:solidFill>
                <a:srgbClr val="A97117"/>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交付收口阶段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质量计划完成后发起完工总结</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系统自动关联合同并汇总全生命周期数据</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监理编辑补充修正初稿</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提交负责人和管理部门审查</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批准后自动生成完工报告</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本系统可按现有监造任务及物资采购包质量计划完成后，支持监造人员发起监造完工总结创建流程，系统自动关联对应合同的基础信息，自动收集该合同全生命周期的监造数据(如监造过程中发现的异常问题)，自动生成监造完工总结初稿，无需手动汇总</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支持监造人员对自动生成的总结初稿进行编辑、补充、修正（如添加文字说明、调整数据表述、补充特殊情况说明）</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总结提交审查：完工总结编辑完成后，支持提交至审查环节（监造人员编制、监造单位负责人审核、监造管理部门审核），系统自动推送至指定审查人，支持附带总结的提交说明</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自动生成报告：批准后，系统汇总全流程见证点相关报表、异常质量问题等信息，按预设模板自动生成监造完工报告</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按钮：发起总结 / 编辑初稿 / 提交审查 / 生成报告 / 归档</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角色：监造工程师、审查人/总监、监造管理部门</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来源：监造记录、见证点执行、质量问题、抽查复验、验收准备数据</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去向：监造验收、可视化管理、质量追溯</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先后关系：先形成正式总结和报告，再组织预验收和放行判断。</a:t>
            </a:r>
            <a:endParaRPr sz="1050" b="0">
              <a:solidFill>
                <a:srgbClr val="252B36"/>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13 监造验收</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16</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A97117"/>
                </a:solidFill>
                <a:latin typeface="微软雅黑" panose="020B0503020204020204" charset="-122"/>
              </a:rPr>
              <a:t>本页核心：先关遗留项，再形成放行依据和验收统计结果。</a:t>
            </a:r>
            <a:endParaRPr sz="1250" b="0">
              <a:solidFill>
                <a:srgbClr val="A97117"/>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交付收口阶段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创建预验收遗留项</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跟踪整改进度并上传佐证</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遗留项关闭后组织正式验收</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监造人员创建质量放行单并走审核</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系统统计一次合格率和验收结果</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遗留项管理：支持创建预验收遗留项(填写问题描述、整改责任人、时限)，跟踪遗留项整改进度(待整改/整改中/已完成)，完成整改后提交关闭申请，支持上传遗留项整改佐证附件(如检测报告、现场照片)</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质量放行单管理：监造人员可创建质量放行单，提交审核流程(审核通过/退回修改)</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支持上传放行相关附件，支持放行单导出</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一次合格率统计：系统自动统计质量放行环节的一次合格率(一次合格数量/总放行数量)，生成统计报表，支持按时间、合同筛选查看</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按钮：新建遗留项 / 提交关闭 / 发起验收 / 上传附件 / 查看统计</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角色：监造工程师、供应商/制造厂、监造管理部门、审查人/总监</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来源：完工总结、质量计划执行结果、遗留问题整改信息</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去向：监造放行、质量追溯、统计分析</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先后关系：验收先关遗留项，再形成放行依据；结果还要反哺统计与追溯。</a:t>
            </a:r>
            <a:endParaRPr sz="1050" b="0">
              <a:solidFill>
                <a:srgbClr val="252B36"/>
              </a:solidFill>
              <a:latin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14 监造放行</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17</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A97117"/>
                </a:solidFill>
                <a:latin typeface="微软雅黑" panose="020B0503020204020204" charset="-122"/>
              </a:rPr>
              <a:t>本页核心：把供应商申请、监造审查、放行单编制和发货通知串成标准流程。</a:t>
            </a:r>
            <a:endParaRPr sz="1250" b="0">
              <a:solidFill>
                <a:srgbClr val="A97117"/>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交付收口阶段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供应商提交放行申请</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系统自动生成申请单号并推送待办</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监造查看申请和附件并审查</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编制放行单并提交审批</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审批通过后通知供应商发货</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供应商端申请提交：供应商登录系统后，可发起放行申请，填写申请基本信息（如合同编号、物项名称、申请放行数量、申请日期），支持上传申请相关佐证材，提交后系统自动生成申请单号并推送至监造人员任务列表</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监造人员登录系统后可查看待处理放行申请任务，任务详情页可查看供应商提交的申请信息及附件，允许则上传资料填写审查情况与结论，完成放行单编制</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放行单编制完成并审批通过则通知供应商进行发货</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按钮：发起放行 / 上传佐证 / 编制放行单 / 提交审批 / 通知发货</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角色：供应商/制造厂、监造工程师、审查人/总监</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来源：供应商放行申请、监造验收结果、质量放行单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去向：质量追溯、付款台账</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先后关系：这是交付收口阶段的最终业务动作之一，审批通过后影响追溯与经营。</a:t>
            </a:r>
            <a:endParaRPr sz="1050" b="0">
              <a:solidFill>
                <a:srgbClr val="252B36"/>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15 质量追溯</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一页讲清一个核心模块，流程图、规则、按钮、角色和上下游一次展开。</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18</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A97117"/>
                </a:solidFill>
                <a:latin typeface="微软雅黑" panose="020B0503020204020204" charset="-122"/>
              </a:rPr>
              <a:t>本页核心：从物项编号出发，拉通制造、检验、验收、放行的全链路信息。</a:t>
            </a:r>
            <a:endParaRPr sz="1250" b="0">
              <a:solidFill>
                <a:srgbClr val="A97117"/>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交付收口阶段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输入采购物项编号或模糊条件</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聚合合同/供应商/问题/验收/放行数据</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按时间轴展示全流程节点</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打开关联文件与问题记录</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A97117"/>
          </a:solidFill>
          <a:ln>
            <a:solidFill>
              <a:srgbClr val="A97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导出追溯结果用于复盘或追责</a:t>
            </a:r>
            <a:endParaRPr sz="1150" b="0">
              <a:solidFill>
                <a:srgbClr val="252B36"/>
              </a:solidFill>
              <a:latin typeface="微软雅黑" panose="020B0503020204020204" charset="-122"/>
            </a:endParaRPr>
          </a:p>
        </p:txBody>
      </p:sp>
      <p:sp>
        <p:nvSpPr>
          <p:cNvPr id="17" name="Rounded Rectangle 16"/>
          <p:cNvSpPr/>
          <p:nvPr/>
        </p:nvSpPr>
        <p:spPr>
          <a:xfrm>
            <a:off x="502920" y="3401568"/>
            <a:ext cx="566928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关键业务规则 / 字段 / 限制</a:t>
            </a:r>
            <a:endParaRPr sz="1200" b="1">
              <a:solidFill>
                <a:srgbClr val="FFFFFF"/>
              </a:solidFill>
              <a:latin typeface="微软雅黑" panose="020B0503020204020204" charset="-122"/>
            </a:endParaRPr>
          </a:p>
        </p:txBody>
      </p:sp>
      <p:sp>
        <p:nvSpPr>
          <p:cNvPr id="18" name="Rounded Rectangle 17"/>
          <p:cNvSpPr/>
          <p:nvPr/>
        </p:nvSpPr>
        <p:spPr>
          <a:xfrm>
            <a:off x="502920" y="3730752"/>
            <a:ext cx="5669280" cy="254203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信息联查功能：支持通过采购物项编号精准检索，或通过物项名称、合同编号、供应商名称等关键信息模糊查询，触发联查操作</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支持关联展示相关文件，支持文件下载</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质量追溯：支持从采购物项编号出发，追溯生产制造→检测检验→监造验收→出厂放行的全流程信息，清晰展示各环节节点的数据及相关文件</a:t>
            </a:r>
            <a:endParaRPr sz="1080" b="0">
              <a:solidFill>
                <a:srgbClr val="252B36"/>
              </a:solidFill>
              <a:latin typeface="微软雅黑" panose="020B0503020204020204" charset="-122"/>
            </a:endParaRPr>
          </a:p>
        </p:txBody>
      </p:sp>
      <p:sp>
        <p:nvSpPr>
          <p:cNvPr id="19" name="Rounded Rectangle 18"/>
          <p:cNvSpPr/>
          <p:nvPr/>
        </p:nvSpPr>
        <p:spPr>
          <a:xfrm>
            <a:off x="6355080" y="3401568"/>
            <a:ext cx="214884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功能按钮</a:t>
            </a:r>
            <a:endParaRPr sz="1200" b="1">
              <a:solidFill>
                <a:srgbClr val="FFFFFF"/>
              </a:solidFill>
              <a:latin typeface="微软雅黑" panose="020B0503020204020204" charset="-122"/>
            </a:endParaRPr>
          </a:p>
        </p:txBody>
      </p:sp>
      <p:sp>
        <p:nvSpPr>
          <p:cNvPr id="20" name="Rounded Rectangle 19"/>
          <p:cNvSpPr/>
          <p:nvPr/>
        </p:nvSpPr>
        <p:spPr>
          <a:xfrm>
            <a:off x="6355080" y="3730752"/>
            <a:ext cx="214884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按钮：联查 / 查看节点 / 下载文件 / 导出追溯结果 / 回溯定位</a:t>
            </a:r>
            <a:endParaRPr sz="1070" b="0">
              <a:solidFill>
                <a:srgbClr val="252B36"/>
              </a:solidFill>
              <a:latin typeface="微软雅黑" panose="020B0503020204020204" charset="-122"/>
            </a:endParaRPr>
          </a:p>
        </p:txBody>
      </p:sp>
      <p:sp>
        <p:nvSpPr>
          <p:cNvPr id="21" name="Rounded Rectangle 20"/>
          <p:cNvSpPr/>
          <p:nvPr/>
        </p:nvSpPr>
        <p:spPr>
          <a:xfrm>
            <a:off x="8641080" y="3401568"/>
            <a:ext cx="251460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参与角色</a:t>
            </a:r>
            <a:endParaRPr sz="1200" b="1">
              <a:solidFill>
                <a:srgbClr val="FFFFFF"/>
              </a:solidFill>
              <a:latin typeface="微软雅黑" panose="020B0503020204020204" charset="-122"/>
            </a:endParaRPr>
          </a:p>
        </p:txBody>
      </p:sp>
      <p:sp>
        <p:nvSpPr>
          <p:cNvPr id="22" name="Rounded Rectangle 21"/>
          <p:cNvSpPr/>
          <p:nvPr/>
        </p:nvSpPr>
        <p:spPr>
          <a:xfrm>
            <a:off x="8641080" y="3730752"/>
            <a:ext cx="2514600" cy="11338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70" b="0">
                <a:solidFill>
                  <a:srgbClr val="252B36"/>
                </a:solidFill>
                <a:latin typeface="微软雅黑" panose="020B0503020204020204" charset="-122"/>
              </a:rPr>
              <a:t>角色：监造工程师、监造管理部门、项目负责人/采购员</a:t>
            </a:r>
            <a:endParaRPr sz="1070" b="0">
              <a:solidFill>
                <a:srgbClr val="252B36"/>
              </a:solidFill>
              <a:latin typeface="微软雅黑" panose="020B0503020204020204" charset="-122"/>
            </a:endParaRPr>
          </a:p>
        </p:txBody>
      </p:sp>
      <p:sp>
        <p:nvSpPr>
          <p:cNvPr id="23" name="Rounded Rectangle 22"/>
          <p:cNvSpPr/>
          <p:nvPr/>
        </p:nvSpPr>
        <p:spPr>
          <a:xfrm>
            <a:off x="6355080" y="4992624"/>
            <a:ext cx="4800600" cy="310896"/>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模块关系 / 触发来源 / 输出去向</a:t>
            </a:r>
            <a:endParaRPr sz="1200" b="1">
              <a:solidFill>
                <a:srgbClr val="FFFFFF"/>
              </a:solidFill>
              <a:latin typeface="微软雅黑" panose="020B0503020204020204" charset="-122"/>
            </a:endParaRPr>
          </a:p>
        </p:txBody>
      </p:sp>
      <p:sp>
        <p:nvSpPr>
          <p:cNvPr id="24" name="Rounded Rectangle 23"/>
          <p:cNvSpPr/>
          <p:nvPr/>
        </p:nvSpPr>
        <p:spPr>
          <a:xfrm>
            <a:off x="6355080" y="5321808"/>
            <a:ext cx="4800600" cy="9509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来源：合同物资台账、质量问题、监造验收、监造放行、监造记录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去向：统计分析、可视化管理、甲方追责与复盘</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先后关系：主链最终收口模块，前面所有业务数据只有形成追溯闭环，系统价值才完整。</a:t>
            </a:r>
            <a:endParaRPr sz="1050" b="0">
              <a:solidFill>
                <a:srgbClr val="252B36"/>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S01 数据统计及质量趋势分析</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支撑模块不替代主链，但必须挂到关键节点上真正发生作用。</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19</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5C667A"/>
                </a:solidFill>
                <a:latin typeface="微软雅黑" panose="020B0503020204020204" charset="-122"/>
              </a:rPr>
              <a:t>本页核心：把监造过程沉淀成图表、报表和可点击下钻的数据分析能力。</a:t>
            </a:r>
            <a:endParaRPr sz="1250" b="0">
              <a:solidFill>
                <a:srgbClr val="5C667A"/>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管理支撑阶段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汇总执行数据</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按维度分类统计</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生成趋势图/对比图</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点击图表下钻明细</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导出分析报表</a:t>
            </a:r>
            <a:endParaRPr sz="1150" b="0">
              <a:solidFill>
                <a:srgbClr val="252B36"/>
              </a:solidFill>
              <a:latin typeface="微软雅黑" panose="020B0503020204020204" charset="-122"/>
            </a:endParaRPr>
          </a:p>
        </p:txBody>
      </p:sp>
      <p:sp>
        <p:nvSpPr>
          <p:cNvPr id="17" name="Rounded Rectangle 16"/>
          <p:cNvSpPr/>
          <p:nvPr/>
        </p:nvSpPr>
        <p:spPr>
          <a:xfrm>
            <a:off x="502920" y="3401568"/>
            <a:ext cx="56235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落地要点</a:t>
            </a:r>
            <a:endParaRPr sz="1200" b="1">
              <a:solidFill>
                <a:srgbClr val="FFFFFF"/>
              </a:solidFill>
              <a:latin typeface="微软雅黑" panose="020B0503020204020204" charset="-122"/>
            </a:endParaRPr>
          </a:p>
        </p:txBody>
      </p:sp>
      <p:sp>
        <p:nvSpPr>
          <p:cNvPr id="18" name="Rounded Rectangle 17"/>
          <p:cNvSpPr/>
          <p:nvPr/>
        </p:nvSpPr>
        <p:spPr>
          <a:xfrm>
            <a:off x="502920" y="3730752"/>
            <a:ext cx="5623560"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根据物项的各个维度分类(如设备分类、装置分类、大件吊装分类)进行数量统计</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统计物项的完成进度情况，汇总不同进度的数量</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统计物项部件是否合格，汇总合格/不合格的数量</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统计物项关键材料外协外购件的到厂状态，汇总不同状态的数量</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统计物项监造全流程中发现的异常问题分类与状态</a:t>
            </a:r>
            <a:endParaRPr sz="1080" b="0">
              <a:solidFill>
                <a:srgbClr val="252B36"/>
              </a:solidFill>
              <a:latin typeface="微软雅黑" panose="020B0503020204020204" charset="-122"/>
            </a:endParaRPr>
          </a:p>
        </p:txBody>
      </p:sp>
      <p:sp>
        <p:nvSpPr>
          <p:cNvPr id="19" name="Rounded Rectangle 18"/>
          <p:cNvSpPr/>
          <p:nvPr/>
        </p:nvSpPr>
        <p:spPr>
          <a:xfrm>
            <a:off x="6291072" y="3401568"/>
            <a:ext cx="486460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挂载节点 / 触发 / 按钮 / 输出</a:t>
            </a:r>
            <a:endParaRPr sz="1200" b="1">
              <a:solidFill>
                <a:srgbClr val="FFFFFF"/>
              </a:solidFill>
              <a:latin typeface="微软雅黑" panose="020B0503020204020204" charset="-122"/>
            </a:endParaRPr>
          </a:p>
        </p:txBody>
      </p:sp>
      <p:sp>
        <p:nvSpPr>
          <p:cNvPr id="20" name="Rounded Rectangle 19"/>
          <p:cNvSpPr/>
          <p:nvPr/>
        </p:nvSpPr>
        <p:spPr>
          <a:xfrm>
            <a:off x="6291072" y="3730752"/>
            <a:ext cx="4864608"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挂载节点：监造记录、抽查复验管理、监造质量问题处理、质量追溯</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触发时机：日报汇总后、问题闭环后、抽验完成后</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功能按钮：查看统计图 / 切换维度 / 导出报表</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输出结果：趋势图、合同质量分析报表</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参与角色：监造管理部门、监造工程师、项目负责人/采购员</a:t>
            </a:r>
            <a:endParaRPr sz="1050" b="0">
              <a:solidFill>
                <a:srgbClr val="252B36"/>
              </a:solidFill>
              <a:latin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S02 产品进度跟踪及风险预警</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支撑模块不替代主链，但必须挂到关键节点上真正发生作用。</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20</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5C667A"/>
                </a:solidFill>
                <a:latin typeface="微软雅黑" panose="020B0503020204020204" charset="-122"/>
              </a:rPr>
              <a:t>本页核心：把质量问题和整改超时做成实时预警，不等到项目后期才暴露风险。</a:t>
            </a:r>
            <a:endParaRPr sz="1250" b="0">
              <a:solidFill>
                <a:srgbClr val="5C667A"/>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管理支撑阶段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归集质量相关数据</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配置预警阈值</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自动或手动触发预警</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首页弹窗展示</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问题关闭后解除预警</a:t>
            </a:r>
            <a:endParaRPr sz="1150" b="0">
              <a:solidFill>
                <a:srgbClr val="252B36"/>
              </a:solidFill>
              <a:latin typeface="微软雅黑" panose="020B0503020204020204" charset="-122"/>
            </a:endParaRPr>
          </a:p>
        </p:txBody>
      </p:sp>
      <p:sp>
        <p:nvSpPr>
          <p:cNvPr id="17" name="Rounded Rectangle 16"/>
          <p:cNvSpPr/>
          <p:nvPr/>
        </p:nvSpPr>
        <p:spPr>
          <a:xfrm>
            <a:off x="502920" y="3401568"/>
            <a:ext cx="56235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落地要点</a:t>
            </a:r>
            <a:endParaRPr sz="1200" b="1">
              <a:solidFill>
                <a:srgbClr val="FFFFFF"/>
              </a:solidFill>
              <a:latin typeface="微软雅黑" panose="020B0503020204020204" charset="-122"/>
            </a:endParaRPr>
          </a:p>
        </p:txBody>
      </p:sp>
      <p:sp>
        <p:nvSpPr>
          <p:cNvPr id="18" name="Rounded Rectangle 17"/>
          <p:cNvSpPr/>
          <p:nvPr/>
        </p:nvSpPr>
        <p:spPr>
          <a:xfrm>
            <a:off x="502920" y="3730752"/>
            <a:ext cx="5623560"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系统自动归集以下质量相关数据，作为进度风险判断依据：监造过程中发现的质量问题、已开具的质量问题通知单、联系单</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预警规则配置：自定义预警阈值：如质量问题整改超 7 天触发预警</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预警触发方式：系统实时监控质量数据，满足预警条件时自动生成进度风险预警</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监造人员可根据实际情况，手动发起进度风险预警</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预警展示形式：系统首页弹窗提醒</a:t>
            </a:r>
            <a:endParaRPr sz="1080" b="0">
              <a:solidFill>
                <a:srgbClr val="252B36"/>
              </a:solidFill>
              <a:latin typeface="微软雅黑" panose="020B0503020204020204" charset="-122"/>
            </a:endParaRPr>
          </a:p>
        </p:txBody>
      </p:sp>
      <p:sp>
        <p:nvSpPr>
          <p:cNvPr id="19" name="Rounded Rectangle 18"/>
          <p:cNvSpPr/>
          <p:nvPr/>
        </p:nvSpPr>
        <p:spPr>
          <a:xfrm>
            <a:off x="6291072" y="3401568"/>
            <a:ext cx="486460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挂载节点 / 触发 / 按钮 / 输出</a:t>
            </a:r>
            <a:endParaRPr sz="1200" b="1">
              <a:solidFill>
                <a:srgbClr val="FFFFFF"/>
              </a:solidFill>
              <a:latin typeface="微软雅黑" panose="020B0503020204020204" charset="-122"/>
            </a:endParaRPr>
          </a:p>
        </p:txBody>
      </p:sp>
      <p:sp>
        <p:nvSpPr>
          <p:cNvPr id="20" name="Rounded Rectangle 19"/>
          <p:cNvSpPr/>
          <p:nvPr/>
        </p:nvSpPr>
        <p:spPr>
          <a:xfrm>
            <a:off x="6291072" y="3730752"/>
            <a:ext cx="4864608"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挂载节点：监造过程监督和执行、监造质量问题处理、监造验收</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触发时机：计划超时、整改超期、关键节点异常</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功能按钮：查看预警 / 解除预警 / 预警配置</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输出结果：风险预警清单、闭环记录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参与角色：监造管理部门、监造工程师、项目负责人/采购员</a:t>
            </a:r>
            <a:endParaRPr sz="1050" b="0">
              <a:solidFill>
                <a:srgbClr val="252B36"/>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S04 可视化管理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支撑模块不替代主链，但必须挂到关键节点上真正发生作用。</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21</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5C667A"/>
                </a:solidFill>
                <a:latin typeface="微软雅黑" panose="020B0503020204020204" charset="-122"/>
              </a:rPr>
              <a:t>本页核心：把领导层最关心的合同包、问题、见证点和预警做成总览大屏。</a:t>
            </a:r>
            <a:endParaRPr sz="1250" b="0">
              <a:solidFill>
                <a:srgbClr val="5C667A"/>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管理支撑阶段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汇总 KPI 指标</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生成总览卡片</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按供应商/委托方切换维度</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钻取到清单页</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查看异常预警汇总</a:t>
            </a:r>
            <a:endParaRPr sz="1150" b="0">
              <a:solidFill>
                <a:srgbClr val="252B36"/>
              </a:solidFill>
              <a:latin typeface="微软雅黑" panose="020B0503020204020204" charset="-122"/>
            </a:endParaRPr>
          </a:p>
        </p:txBody>
      </p:sp>
      <p:sp>
        <p:nvSpPr>
          <p:cNvPr id="17" name="Rounded Rectangle 16"/>
          <p:cNvSpPr/>
          <p:nvPr/>
        </p:nvSpPr>
        <p:spPr>
          <a:xfrm>
            <a:off x="502920" y="3401568"/>
            <a:ext cx="56235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落地要点</a:t>
            </a:r>
            <a:endParaRPr sz="1200" b="1">
              <a:solidFill>
                <a:srgbClr val="FFFFFF"/>
              </a:solidFill>
              <a:latin typeface="微软雅黑" panose="020B0503020204020204" charset="-122"/>
            </a:endParaRPr>
          </a:p>
        </p:txBody>
      </p:sp>
      <p:sp>
        <p:nvSpPr>
          <p:cNvPr id="18" name="Rounded Rectangle 17"/>
          <p:cNvSpPr/>
          <p:nvPr/>
        </p:nvSpPr>
        <p:spPr>
          <a:xfrm>
            <a:off x="502920" y="3730752"/>
            <a:ext cx="5623560"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展示监造管理核心KPI总览卡片（如在监合同包总数、未关闭质量问题数、见证点完成率），点击卡片可钻取至清单页</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展示在监/已完成/暂停的合同包数量及占比，可按供应商/委托方分类统计</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展示未关闭质量问题数量及占比，可按供应商/委托方/问题类型统计</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展示见证点完成数量以及占比，可按照供应商/委托方/见证点类型统计</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显示异常预警汇总(如整改超时的异常问题)，用红/黄/绿三色标注风险等级，支持一键查看预警清单</a:t>
            </a:r>
            <a:endParaRPr sz="1080" b="0">
              <a:solidFill>
                <a:srgbClr val="252B36"/>
              </a:solidFill>
              <a:latin typeface="微软雅黑" panose="020B0503020204020204" charset="-122"/>
            </a:endParaRPr>
          </a:p>
        </p:txBody>
      </p:sp>
      <p:sp>
        <p:nvSpPr>
          <p:cNvPr id="19" name="Rounded Rectangle 18"/>
          <p:cNvSpPr/>
          <p:nvPr/>
        </p:nvSpPr>
        <p:spPr>
          <a:xfrm>
            <a:off x="6291072" y="3401568"/>
            <a:ext cx="486460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挂载节点 / 触发 / 按钮 / 输出</a:t>
            </a:r>
            <a:endParaRPr sz="1200" b="1">
              <a:solidFill>
                <a:srgbClr val="FFFFFF"/>
              </a:solidFill>
              <a:latin typeface="微软雅黑" panose="020B0503020204020204" charset="-122"/>
            </a:endParaRPr>
          </a:p>
        </p:txBody>
      </p:sp>
      <p:sp>
        <p:nvSpPr>
          <p:cNvPr id="20" name="Rounded Rectangle 19"/>
          <p:cNvSpPr/>
          <p:nvPr/>
        </p:nvSpPr>
        <p:spPr>
          <a:xfrm>
            <a:off x="6291072" y="3730752"/>
            <a:ext cx="4864608"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挂载节点：监造记录、质量问题、见证点、验收放行</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触发时机：首页查看、领导汇报、阶段总结</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功能按钮：查看总览 / 钻取清单 / 切换维度</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输出结果：KPI 总览、异常概览</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参与角色：监造管理部门、监造工程师、项目负责人/采购员</a:t>
            </a:r>
            <a:endParaRPr sz="1050" b="0">
              <a:solidFill>
                <a:srgbClr val="252B36"/>
              </a:solidFill>
              <a:latin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S05 日常工作量化管理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支撑模块不替代主链，但必须挂到关键节点上真正发生作用。</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22</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5C667A"/>
                </a:solidFill>
                <a:latin typeface="微软雅黑" panose="020B0503020204020204" charset="-122"/>
              </a:rPr>
              <a:t>本页核心：把监造工作拆成工日台账，可统计、可审核、可追溯。</a:t>
            </a:r>
            <a:endParaRPr sz="1250" b="0">
              <a:solidFill>
                <a:srgbClr val="5C667A"/>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管理支撑阶段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定义工作项与基准工日</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任务完成后自动计入工日</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支持手工补录临时工作</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异常数据提醒并审核</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按人/时间/合同统计工日</a:t>
            </a:r>
            <a:endParaRPr sz="1150" b="0">
              <a:solidFill>
                <a:srgbClr val="252B36"/>
              </a:solidFill>
              <a:latin typeface="微软雅黑" panose="020B0503020204020204" charset="-122"/>
            </a:endParaRPr>
          </a:p>
        </p:txBody>
      </p:sp>
      <p:sp>
        <p:nvSpPr>
          <p:cNvPr id="17" name="Rounded Rectangle 16"/>
          <p:cNvSpPr/>
          <p:nvPr/>
        </p:nvSpPr>
        <p:spPr>
          <a:xfrm>
            <a:off x="502920" y="3401568"/>
            <a:ext cx="56235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落地要点</a:t>
            </a:r>
            <a:endParaRPr sz="1200" b="1">
              <a:solidFill>
                <a:srgbClr val="FFFFFF"/>
              </a:solidFill>
              <a:latin typeface="微软雅黑" panose="020B0503020204020204" charset="-122"/>
            </a:endParaRPr>
          </a:p>
        </p:txBody>
      </p:sp>
      <p:sp>
        <p:nvSpPr>
          <p:cNvPr id="18" name="Rounded Rectangle 17"/>
          <p:cNvSpPr/>
          <p:nvPr/>
        </p:nvSpPr>
        <p:spPr>
          <a:xfrm>
            <a:off x="502920" y="3730752"/>
            <a:ext cx="5623560"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监造工作可拆分为：日常巡检、抽验复查、见证点执行、质量问题处理、报告编制（日报 / 周报 / 月报 / 完工总结）、出厂验收、放行单办理等，针对每个监造工作细分项，设定基准工日定额</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定额版本管理：保留工日定额修改历史记录，支持版本切换(如2025版/2024版定额标准)，修改后需审批生效，确保定额标准可追溯</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工日数据采集：监造人员完成系统内任务(如提交见证点记录、生成周报、办结放行单)后，系统自动匹配对应工作项及工日定额，计入该人员工日台账</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支持监造人员手动录入未关联系统任务的监造工作(如临时供应商沟通、现场应急处理)，选择对应工作项、填写执行时长，系统自动换算工日(如沟通2小时=0.25工日)，录入后需提交审核</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系统自动校验录入数据(如工作项与合同包匹配性、工日数值合理性)，异常数据(如单日工日超长)触发提醒，需人工确认后生效</a:t>
            </a:r>
            <a:endParaRPr sz="1080" b="0">
              <a:solidFill>
                <a:srgbClr val="252B36"/>
              </a:solidFill>
              <a:latin typeface="微软雅黑" panose="020B0503020204020204" charset="-122"/>
            </a:endParaRPr>
          </a:p>
        </p:txBody>
      </p:sp>
      <p:sp>
        <p:nvSpPr>
          <p:cNvPr id="19" name="Rounded Rectangle 18"/>
          <p:cNvSpPr/>
          <p:nvPr/>
        </p:nvSpPr>
        <p:spPr>
          <a:xfrm>
            <a:off x="6291072" y="3401568"/>
            <a:ext cx="486460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挂载节点 / 触发 / 按钮 / 输出</a:t>
            </a:r>
            <a:endParaRPr sz="1200" b="1">
              <a:solidFill>
                <a:srgbClr val="FFFFFF"/>
              </a:solidFill>
              <a:latin typeface="微软雅黑" panose="020B0503020204020204" charset="-122"/>
            </a:endParaRPr>
          </a:p>
        </p:txBody>
      </p:sp>
      <p:sp>
        <p:nvSpPr>
          <p:cNvPr id="20" name="Rounded Rectangle 19"/>
          <p:cNvSpPr/>
          <p:nvPr/>
        </p:nvSpPr>
        <p:spPr>
          <a:xfrm>
            <a:off x="6291072" y="3730752"/>
            <a:ext cx="4864608"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挂载节点：监造过程监督和执行、抽查复验管理、监造记录、监造验收</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触发时机：提交监督记录后、手工补录时</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功能按钮：录入工日 / 提交审核 / 查看统计</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输出结果：个人/团队工日台账</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参与角色：监造管理部门、监造工程师</a:t>
            </a:r>
            <a:endParaRPr sz="1050" b="0">
              <a:solidFill>
                <a:srgbClr val="252B36"/>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S06 产品二维码</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支撑模块不替代主链，但必须挂到关键节点上真正发生作用。</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23</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5C667A"/>
                </a:solidFill>
                <a:latin typeface="微软雅黑" panose="020B0503020204020204" charset="-122"/>
              </a:rPr>
              <a:t>本页核心：把合同包或物项的关键数据生成二维码，便于现场快速联查。</a:t>
            </a:r>
            <a:endParaRPr sz="1250" b="0">
              <a:solidFill>
                <a:srgbClr val="5C667A"/>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管理支撑阶段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抓取合同包核心数据</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审批通过后生成二维码</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信息变更时生成新版本</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旧码扫码提示失效</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按规则下载二维码</a:t>
            </a:r>
            <a:endParaRPr sz="1150" b="0">
              <a:solidFill>
                <a:srgbClr val="252B36"/>
              </a:solidFill>
              <a:latin typeface="微软雅黑" panose="020B0503020204020204" charset="-122"/>
            </a:endParaRPr>
          </a:p>
        </p:txBody>
      </p:sp>
      <p:sp>
        <p:nvSpPr>
          <p:cNvPr id="17" name="Rounded Rectangle 16"/>
          <p:cNvSpPr/>
          <p:nvPr/>
        </p:nvSpPr>
        <p:spPr>
          <a:xfrm>
            <a:off x="502920" y="3401568"/>
            <a:ext cx="56235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落地要点</a:t>
            </a:r>
            <a:endParaRPr sz="1200" b="1">
              <a:solidFill>
                <a:srgbClr val="FFFFFF"/>
              </a:solidFill>
              <a:latin typeface="微软雅黑" panose="020B0503020204020204" charset="-122"/>
            </a:endParaRPr>
          </a:p>
        </p:txBody>
      </p:sp>
      <p:sp>
        <p:nvSpPr>
          <p:cNvPr id="18" name="Rounded Rectangle 17"/>
          <p:cNvSpPr/>
          <p:nvPr/>
        </p:nvSpPr>
        <p:spPr>
          <a:xfrm>
            <a:off x="502920" y="3730752"/>
            <a:ext cx="5623560"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二维码生成规则：系统自动抓取监造信息录入环节的核心数据(如合同包编号、供应商名称等)作为二维码内容并在数据审批通过后生成对应二维码图片文件</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二维码与合同包唯一标识绑定</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二维码版本管理：若关联的合同包信息修改并重新审核，系统自动生成新版本二维码，作废旧版本(旧码扫码时提示信息已更新，请扫描新版二维码)，留存二维码版本变更记录</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二维码下载功能：支持单张/批量下载二维码图片(PNG/JPG格式)，下载文件命名规则可配置(如"合同包编号-二维码")</a:t>
            </a:r>
            <a:endParaRPr sz="1080" b="0">
              <a:solidFill>
                <a:srgbClr val="252B36"/>
              </a:solidFill>
              <a:latin typeface="微软雅黑" panose="020B0503020204020204" charset="-122"/>
            </a:endParaRPr>
          </a:p>
        </p:txBody>
      </p:sp>
      <p:sp>
        <p:nvSpPr>
          <p:cNvPr id="19" name="Rounded Rectangle 18"/>
          <p:cNvSpPr/>
          <p:nvPr/>
        </p:nvSpPr>
        <p:spPr>
          <a:xfrm>
            <a:off x="6291072" y="3401568"/>
            <a:ext cx="486460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挂载节点 / 触发 / 按钮 / 输出</a:t>
            </a:r>
            <a:endParaRPr sz="1200" b="1">
              <a:solidFill>
                <a:srgbClr val="FFFFFF"/>
              </a:solidFill>
              <a:latin typeface="微软雅黑" panose="020B0503020204020204" charset="-122"/>
            </a:endParaRPr>
          </a:p>
        </p:txBody>
      </p:sp>
      <p:sp>
        <p:nvSpPr>
          <p:cNvPr id="20" name="Rounded Rectangle 19"/>
          <p:cNvSpPr/>
          <p:nvPr/>
        </p:nvSpPr>
        <p:spPr>
          <a:xfrm>
            <a:off x="6291072" y="3730752"/>
            <a:ext cx="4864608"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挂载节点：物资采购管理、质量追溯、监造验收</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触发时机：审批通过后、版本更新后</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功能按钮：生成二维码 / 下载 / 查看版本</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输出结果：二维码图片、版本记录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参与角色：监造管理部门、监造工程师、项目负责人/采购员</a:t>
            </a:r>
            <a:endParaRPr sz="1050" b="0">
              <a:solidFill>
                <a:srgbClr val="252B36"/>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S07 电子签名</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支撑模块不替代主链，但必须挂到关键节点上真正发生作用。</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24</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5C667A"/>
                </a:solidFill>
                <a:latin typeface="微软雅黑" panose="020B0503020204020204" charset="-122"/>
              </a:rPr>
              <a:t>本页核心：把审批和签发动作留成电子身份痕迹，后续审计可追。</a:t>
            </a:r>
            <a:endParaRPr sz="1250" b="0">
              <a:solidFill>
                <a:srgbClr val="5C667A"/>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管理支撑阶段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个人中心上传电子签名</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审批节点调用签名</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完成签章确认</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记录签章人和时间</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供后续审计追溯</a:t>
            </a:r>
            <a:endParaRPr sz="1150" b="0">
              <a:solidFill>
                <a:srgbClr val="252B36"/>
              </a:solidFill>
              <a:latin typeface="微软雅黑" panose="020B0503020204020204" charset="-122"/>
            </a:endParaRPr>
          </a:p>
        </p:txBody>
      </p:sp>
      <p:sp>
        <p:nvSpPr>
          <p:cNvPr id="17" name="Rounded Rectangle 16"/>
          <p:cNvSpPr/>
          <p:nvPr/>
        </p:nvSpPr>
        <p:spPr>
          <a:xfrm>
            <a:off x="502920" y="3401568"/>
            <a:ext cx="56235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落地要点</a:t>
            </a:r>
            <a:endParaRPr sz="1200" b="1">
              <a:solidFill>
                <a:srgbClr val="FFFFFF"/>
              </a:solidFill>
              <a:latin typeface="微软雅黑" panose="020B0503020204020204" charset="-122"/>
            </a:endParaRPr>
          </a:p>
        </p:txBody>
      </p:sp>
      <p:sp>
        <p:nvSpPr>
          <p:cNvPr id="18" name="Rounded Rectangle 17"/>
          <p:cNvSpPr/>
          <p:nvPr/>
        </p:nvSpPr>
        <p:spPr>
          <a:xfrm>
            <a:off x="502920" y="3730752"/>
            <a:ext cx="5623560"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用户可在个人中心上传电子签名图片，对于操作者在平台的操作进行身份证明</a:t>
            </a:r>
            <a:endParaRPr sz="1080" b="0">
              <a:solidFill>
                <a:srgbClr val="252B36"/>
              </a:solidFill>
              <a:latin typeface="微软雅黑" panose="020B0503020204020204" charset="-122"/>
            </a:endParaRPr>
          </a:p>
        </p:txBody>
      </p:sp>
      <p:sp>
        <p:nvSpPr>
          <p:cNvPr id="19" name="Rounded Rectangle 18"/>
          <p:cNvSpPr/>
          <p:nvPr/>
        </p:nvSpPr>
        <p:spPr>
          <a:xfrm>
            <a:off x="6291072" y="3401568"/>
            <a:ext cx="486460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挂载节点 / 触发 / 按钮 / 输出</a:t>
            </a:r>
            <a:endParaRPr sz="1200" b="1">
              <a:solidFill>
                <a:srgbClr val="FFFFFF"/>
              </a:solidFill>
              <a:latin typeface="微软雅黑" panose="020B0503020204020204" charset="-122"/>
            </a:endParaRPr>
          </a:p>
        </p:txBody>
      </p:sp>
      <p:sp>
        <p:nvSpPr>
          <p:cNvPr id="20" name="Rounded Rectangle 19"/>
          <p:cNvSpPr/>
          <p:nvPr/>
        </p:nvSpPr>
        <p:spPr>
          <a:xfrm>
            <a:off x="6291072" y="3730752"/>
            <a:ext cx="4864608"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挂载节点：策划管理、供方文件审核、质量计划标准建立、监造放行</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触发时机：审批提交时、签章确认时</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功能按钮：上传签名 / 签章确认 / 查看签名</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输出结果：电子签章记录</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参与角色：监造工程师、审查人/总监、监造管理部门</a:t>
            </a:r>
            <a:endParaRPr sz="1050" b="0">
              <a:solidFill>
                <a:srgbClr val="252B36"/>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S08 图文识别信息抓取</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支撑模块不替代主链，但必须挂到关键节点上真正发生作用。</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25</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5C667A"/>
                </a:solidFill>
                <a:latin typeface="微软雅黑" panose="020B0503020204020204" charset="-122"/>
              </a:rPr>
              <a:t>本页核心：把 PDF 证书和报告中的关键字段自动抽出来，再和标准库做对比。</a:t>
            </a:r>
            <a:endParaRPr sz="1250" b="0">
              <a:solidFill>
                <a:srgbClr val="5C667A"/>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管理支撑阶段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建立质量标准管理库</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上传 PDF/图片文件</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按模板抽取关键字段</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与标准库数据比对</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页面提示异常值</a:t>
            </a:r>
            <a:endParaRPr sz="1150" b="0">
              <a:solidFill>
                <a:srgbClr val="252B36"/>
              </a:solidFill>
              <a:latin typeface="微软雅黑" panose="020B0503020204020204" charset="-122"/>
            </a:endParaRPr>
          </a:p>
        </p:txBody>
      </p:sp>
      <p:sp>
        <p:nvSpPr>
          <p:cNvPr id="17" name="Rounded Rectangle 16"/>
          <p:cNvSpPr/>
          <p:nvPr/>
        </p:nvSpPr>
        <p:spPr>
          <a:xfrm>
            <a:off x="502920" y="3401568"/>
            <a:ext cx="56235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落地要点</a:t>
            </a:r>
            <a:endParaRPr sz="1200" b="1">
              <a:solidFill>
                <a:srgbClr val="FFFFFF"/>
              </a:solidFill>
              <a:latin typeface="微软雅黑" panose="020B0503020204020204" charset="-122"/>
            </a:endParaRPr>
          </a:p>
        </p:txBody>
      </p:sp>
      <p:sp>
        <p:nvSpPr>
          <p:cNvPr id="18" name="Rounded Rectangle 17"/>
          <p:cNvSpPr/>
          <p:nvPr/>
        </p:nvSpPr>
        <p:spPr>
          <a:xfrm>
            <a:off x="502920" y="3730752"/>
            <a:ext cx="5623560"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建立质量标准管理库，预设不同类型设备的质量证书的标准数值</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对于用户上传的pdf文件进行文字识别，预设5套识别模板，针对采购物项质量证明文件(如材质证明、校准证书、检测报告)的固定版式，预设字段提取模板(如物项编号、规格型号、检测结果、有效期、出具机构)</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将提取出的数值与标准库中数据进行比对，对于不符合标准库范围的数据在页面中做出提示</a:t>
            </a:r>
            <a:endParaRPr sz="1080" b="0">
              <a:solidFill>
                <a:srgbClr val="252B36"/>
              </a:solidFill>
              <a:latin typeface="微软雅黑" panose="020B0503020204020204" charset="-122"/>
            </a:endParaRPr>
          </a:p>
        </p:txBody>
      </p:sp>
      <p:sp>
        <p:nvSpPr>
          <p:cNvPr id="19" name="Rounded Rectangle 18"/>
          <p:cNvSpPr/>
          <p:nvPr/>
        </p:nvSpPr>
        <p:spPr>
          <a:xfrm>
            <a:off x="6291072" y="3401568"/>
            <a:ext cx="486460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挂载节点 / 触发 / 按钮 / 输出</a:t>
            </a:r>
            <a:endParaRPr sz="1200" b="1">
              <a:solidFill>
                <a:srgbClr val="FFFFFF"/>
              </a:solidFill>
              <a:latin typeface="微软雅黑" panose="020B0503020204020204" charset="-122"/>
            </a:endParaRPr>
          </a:p>
        </p:txBody>
      </p:sp>
      <p:sp>
        <p:nvSpPr>
          <p:cNvPr id="20" name="Rounded Rectangle 19"/>
          <p:cNvSpPr/>
          <p:nvPr/>
        </p:nvSpPr>
        <p:spPr>
          <a:xfrm>
            <a:off x="6291072" y="3730752"/>
            <a:ext cx="4864608"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挂载节点：供方文件审核、质量计划标准建立</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触发时机：上传证明文件时、上传检测报告时</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功能按钮：发起识别 / 查看字段 / 查看比对</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输出结果：OCR 结果、字段比对结果</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参与角色：监造工程师、监造管理部门</a:t>
            </a:r>
            <a:endParaRPr sz="1050" b="0">
              <a:solidFill>
                <a:srgbClr val="252B36"/>
              </a:solidFill>
              <a:latin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S09 视频远程识别</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支撑模块不替代主链，但必须挂到关键节点上真正发生作用。</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26</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5C667A"/>
                </a:solidFill>
                <a:latin typeface="微软雅黑" panose="020B0503020204020204" charset="-122"/>
              </a:rPr>
              <a:t>本页核心：把远程现场视频、语音对讲和历史回放接到监造流程里。</a:t>
            </a:r>
            <a:endParaRPr sz="1250" b="0">
              <a:solidFill>
                <a:srgbClr val="5C667A"/>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管理支撑阶段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接入视频采集工具</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实时视频监控</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现场语音对讲</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历史视频回放</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形成视频记录</a:t>
            </a:r>
            <a:endParaRPr sz="1150" b="0">
              <a:solidFill>
                <a:srgbClr val="252B36"/>
              </a:solidFill>
              <a:latin typeface="微软雅黑" panose="020B0503020204020204" charset="-122"/>
            </a:endParaRPr>
          </a:p>
        </p:txBody>
      </p:sp>
      <p:sp>
        <p:nvSpPr>
          <p:cNvPr id="17" name="Rounded Rectangle 16"/>
          <p:cNvSpPr/>
          <p:nvPr/>
        </p:nvSpPr>
        <p:spPr>
          <a:xfrm>
            <a:off x="502920" y="3401568"/>
            <a:ext cx="56235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落地要点</a:t>
            </a:r>
            <a:endParaRPr sz="1200" b="1">
              <a:solidFill>
                <a:srgbClr val="FFFFFF"/>
              </a:solidFill>
              <a:latin typeface="微软雅黑" panose="020B0503020204020204" charset="-122"/>
            </a:endParaRPr>
          </a:p>
        </p:txBody>
      </p:sp>
      <p:sp>
        <p:nvSpPr>
          <p:cNvPr id="18" name="Rounded Rectangle 17"/>
          <p:cNvSpPr/>
          <p:nvPr/>
        </p:nvSpPr>
        <p:spPr>
          <a:xfrm>
            <a:off x="502920" y="3730752"/>
            <a:ext cx="5623560"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采用第三方视频采集工具(如安全帽视频采集、执法记录仪视频采集)，以达到现场监造过程的视频记录、实时视频监控、实时语音对讲、历史视频回放等功能</a:t>
            </a:r>
            <a:endParaRPr sz="1080" b="0">
              <a:solidFill>
                <a:srgbClr val="252B36"/>
              </a:solidFill>
              <a:latin typeface="微软雅黑" panose="020B0503020204020204" charset="-122"/>
            </a:endParaRPr>
          </a:p>
        </p:txBody>
      </p:sp>
      <p:sp>
        <p:nvSpPr>
          <p:cNvPr id="19" name="Rounded Rectangle 18"/>
          <p:cNvSpPr/>
          <p:nvPr/>
        </p:nvSpPr>
        <p:spPr>
          <a:xfrm>
            <a:off x="6291072" y="3401568"/>
            <a:ext cx="486460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挂载节点 / 触发 / 按钮 / 输出</a:t>
            </a:r>
            <a:endParaRPr sz="1200" b="1">
              <a:solidFill>
                <a:srgbClr val="FFFFFF"/>
              </a:solidFill>
              <a:latin typeface="微软雅黑" panose="020B0503020204020204" charset="-122"/>
            </a:endParaRPr>
          </a:p>
        </p:txBody>
      </p:sp>
      <p:sp>
        <p:nvSpPr>
          <p:cNvPr id="20" name="Rounded Rectangle 19"/>
          <p:cNvSpPr/>
          <p:nvPr/>
        </p:nvSpPr>
        <p:spPr>
          <a:xfrm>
            <a:off x="6291072" y="3730752"/>
            <a:ext cx="4864608"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挂载节点：监造过程监督和执行、监造巡查管理</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触发时机：现场监造、远程巡检、事后回看</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功能按钮：查看直播 / 语音对讲 / 回放</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输出结果：视频记录、远程监控能力</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参与角色：监造工程师、监造管理部门</a:t>
            </a:r>
            <a:endParaRPr sz="1050" b="0">
              <a:solidFill>
                <a:srgbClr val="252B36"/>
              </a:solidFill>
              <a:latin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S11 付款台账</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支撑模块不替代主链，但必须挂到关键节点上真正发生作用。</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27</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5C667A"/>
                </a:solidFill>
                <a:latin typeface="微软雅黑" panose="020B0503020204020204" charset="-122"/>
              </a:rPr>
              <a:t>本页核心：把付款过程沉淀成角色分权的经营台账，和采购及验收结果挂钩。</a:t>
            </a:r>
            <a:endParaRPr sz="1250" b="0">
              <a:solidFill>
                <a:srgbClr val="5C667A"/>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管理支撑阶段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录入付款台账</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按角色控制数据范围</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按条件查询</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导入导出数据</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形成付款统计结果</a:t>
            </a:r>
            <a:endParaRPr sz="1150" b="0">
              <a:solidFill>
                <a:srgbClr val="252B36"/>
              </a:solidFill>
              <a:latin typeface="微软雅黑" panose="020B0503020204020204" charset="-122"/>
            </a:endParaRPr>
          </a:p>
        </p:txBody>
      </p:sp>
      <p:sp>
        <p:nvSpPr>
          <p:cNvPr id="17" name="Rounded Rectangle 16"/>
          <p:cNvSpPr/>
          <p:nvPr/>
        </p:nvSpPr>
        <p:spPr>
          <a:xfrm>
            <a:off x="502920" y="3401568"/>
            <a:ext cx="56235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落地要点</a:t>
            </a:r>
            <a:endParaRPr sz="1200" b="1">
              <a:solidFill>
                <a:srgbClr val="FFFFFF"/>
              </a:solidFill>
              <a:latin typeface="微软雅黑" panose="020B0503020204020204" charset="-122"/>
            </a:endParaRPr>
          </a:p>
        </p:txBody>
      </p:sp>
      <p:sp>
        <p:nvSpPr>
          <p:cNvPr id="18" name="Rounded Rectangle 17"/>
          <p:cNvSpPr/>
          <p:nvPr/>
        </p:nvSpPr>
        <p:spPr>
          <a:xfrm>
            <a:off x="502920" y="3730752"/>
            <a:ext cx="5623560"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支持付款台账数据的维护，各采购员可维护自己的数据，不同角色数据权限范围不同(如采购领导可查看全部采购数据)，支持台账数据的导入导出</a:t>
            </a:r>
            <a:endParaRPr sz="1080" b="0">
              <a:solidFill>
                <a:srgbClr val="252B36"/>
              </a:solidFill>
              <a:latin typeface="微软雅黑" panose="020B0503020204020204" charset="-122"/>
            </a:endParaRPr>
          </a:p>
        </p:txBody>
      </p:sp>
      <p:sp>
        <p:nvSpPr>
          <p:cNvPr id="19" name="Rounded Rectangle 18"/>
          <p:cNvSpPr/>
          <p:nvPr/>
        </p:nvSpPr>
        <p:spPr>
          <a:xfrm>
            <a:off x="6291072" y="3401568"/>
            <a:ext cx="486460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挂载节点 / 触发 / 按钮 / 输出</a:t>
            </a:r>
            <a:endParaRPr sz="1200" b="1">
              <a:solidFill>
                <a:srgbClr val="FFFFFF"/>
              </a:solidFill>
              <a:latin typeface="微软雅黑" panose="020B0503020204020204" charset="-122"/>
            </a:endParaRPr>
          </a:p>
        </p:txBody>
      </p:sp>
      <p:sp>
        <p:nvSpPr>
          <p:cNvPr id="20" name="Rounded Rectangle 19"/>
          <p:cNvSpPr/>
          <p:nvPr/>
        </p:nvSpPr>
        <p:spPr>
          <a:xfrm>
            <a:off x="6291072" y="3730752"/>
            <a:ext cx="4864608"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挂载节点：物资采购管理、监造验收、监造放行</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触发时机：付款登记时、对账时、导入导出时</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功能按钮：导入 / 导出 / 查询 / 查看台账</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输出结果：付款台账、统计结果</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参与角色：项目负责人/采购员、监造管理部门</a:t>
            </a:r>
            <a:endParaRPr sz="1050" b="0">
              <a:solidFill>
                <a:srgbClr val="252B36"/>
              </a:solidFill>
              <a:latin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S12 培训与考试</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支撑模块不替代主链，但必须挂到关键节点上真正发生作用。</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28</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5C667A"/>
                </a:solidFill>
                <a:latin typeface="微软雅黑" panose="020B0503020204020204" charset="-122"/>
              </a:rPr>
              <a:t>本页核心：把培训、考试、证书和统计放在一个闭环里，提升监造队伍能力。</a:t>
            </a:r>
            <a:endParaRPr sz="1250" b="0">
              <a:solidFill>
                <a:srgbClr val="5C667A"/>
              </a:solidFill>
              <a:latin typeface="微软雅黑" panose="020B0503020204020204" charset="-122"/>
            </a:endParaRPr>
          </a:p>
        </p:txBody>
      </p:sp>
      <p:sp>
        <p:nvSpPr>
          <p:cNvPr id="7" name="Rounded Rectangle 6"/>
          <p:cNvSpPr/>
          <p:nvPr/>
        </p:nvSpPr>
        <p:spPr>
          <a:xfrm>
            <a:off x="502920" y="1389888"/>
            <a:ext cx="148132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spcAft>
                <a:spcPts val="200"/>
              </a:spcAft>
            </a:pPr>
            <a:r>
              <a:rPr sz="1050" b="1">
                <a:solidFill>
                  <a:srgbClr val="FFFFFF"/>
                </a:solidFill>
                <a:latin typeface="微软雅黑" panose="020B0503020204020204" charset="-122"/>
              </a:rPr>
              <a:t>管理支撑阶段</a:t>
            </a:r>
            <a:endParaRPr sz="1050" b="1">
              <a:solidFill>
                <a:srgbClr val="FFFFFF"/>
              </a:solidFill>
              <a:latin typeface="微软雅黑" panose="020B0503020204020204" charset="-122"/>
            </a:endParaRPr>
          </a:p>
        </p:txBody>
      </p:sp>
      <p:sp>
        <p:nvSpPr>
          <p:cNvPr id="8" name="Rounded Rectangle 7"/>
          <p:cNvSpPr/>
          <p:nvPr/>
        </p:nvSpPr>
        <p:spPr>
          <a:xfrm>
            <a:off x="502920"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步骤1</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创建培训并上传资料</a:t>
            </a:r>
            <a:endParaRPr sz="1150" b="0">
              <a:solidFill>
                <a:srgbClr val="252B36"/>
              </a:solidFill>
              <a:latin typeface="微软雅黑" panose="020B0503020204020204" charset="-122"/>
            </a:endParaRPr>
          </a:p>
        </p:txBody>
      </p:sp>
      <p:sp>
        <p:nvSpPr>
          <p:cNvPr id="9" name="Chevron 8"/>
          <p:cNvSpPr/>
          <p:nvPr/>
        </p:nvSpPr>
        <p:spPr>
          <a:xfrm>
            <a:off x="2496312"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07207"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步骤2</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记录学习进度和心得反馈</a:t>
            </a:r>
            <a:endParaRPr sz="1150" b="0">
              <a:solidFill>
                <a:srgbClr val="252B36"/>
              </a:solidFill>
              <a:latin typeface="微软雅黑" panose="020B0503020204020204" charset="-122"/>
            </a:endParaRPr>
          </a:p>
        </p:txBody>
      </p:sp>
      <p:sp>
        <p:nvSpPr>
          <p:cNvPr id="11" name="Chevron 10"/>
          <p:cNvSpPr/>
          <p:nvPr/>
        </p:nvSpPr>
        <p:spPr>
          <a:xfrm>
            <a:off x="4800599"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11495"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步骤3</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创建考试并自动/人工阅卷</a:t>
            </a:r>
            <a:endParaRPr sz="1150" b="0">
              <a:solidFill>
                <a:srgbClr val="252B36"/>
              </a:solidFill>
              <a:latin typeface="微软雅黑" panose="020B0503020204020204" charset="-122"/>
            </a:endParaRPr>
          </a:p>
        </p:txBody>
      </p:sp>
      <p:sp>
        <p:nvSpPr>
          <p:cNvPr id="13" name="Chevron 12"/>
          <p:cNvSpPr/>
          <p:nvPr/>
        </p:nvSpPr>
        <p:spPr>
          <a:xfrm>
            <a:off x="7104887"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15783"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步骤4</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通过后发放证书</a:t>
            </a:r>
            <a:endParaRPr sz="1150" b="0">
              <a:solidFill>
                <a:srgbClr val="252B36"/>
              </a:solidFill>
              <a:latin typeface="微软雅黑" panose="020B0503020204020204" charset="-122"/>
            </a:endParaRPr>
          </a:p>
        </p:txBody>
      </p:sp>
      <p:sp>
        <p:nvSpPr>
          <p:cNvPr id="15" name="Chevron 14"/>
          <p:cNvSpPr/>
          <p:nvPr/>
        </p:nvSpPr>
        <p:spPr>
          <a:xfrm>
            <a:off x="9409176" y="2194560"/>
            <a:ext cx="256032" cy="603504"/>
          </a:xfrm>
          <a:prstGeom prst="chevron">
            <a:avLst/>
          </a:prstGeom>
          <a:solidFill>
            <a:srgbClr val="5C667A"/>
          </a:solidFill>
          <a:ln>
            <a:solidFill>
              <a:srgbClr val="5C66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20072" y="1810512"/>
            <a:ext cx="1938527" cy="1371600"/>
          </a:xfrm>
          <a:prstGeom prst="roundRect">
            <a:avLst/>
          </a:prstGeom>
          <a:solidFill>
            <a:srgbClr val="FAFC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步骤5</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汇总培训与考试统计图表</a:t>
            </a:r>
            <a:endParaRPr sz="1150" b="0">
              <a:solidFill>
                <a:srgbClr val="252B36"/>
              </a:solidFill>
              <a:latin typeface="微软雅黑" panose="020B0503020204020204" charset="-122"/>
            </a:endParaRPr>
          </a:p>
        </p:txBody>
      </p:sp>
      <p:sp>
        <p:nvSpPr>
          <p:cNvPr id="17" name="Rounded Rectangle 16"/>
          <p:cNvSpPr/>
          <p:nvPr/>
        </p:nvSpPr>
        <p:spPr>
          <a:xfrm>
            <a:off x="502920" y="3401568"/>
            <a:ext cx="56235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落地要点</a:t>
            </a:r>
            <a:endParaRPr sz="1200" b="1">
              <a:solidFill>
                <a:srgbClr val="FFFFFF"/>
              </a:solidFill>
              <a:latin typeface="微软雅黑" panose="020B0503020204020204" charset="-122"/>
            </a:endParaRPr>
          </a:p>
        </p:txBody>
      </p:sp>
      <p:sp>
        <p:nvSpPr>
          <p:cNvPr id="18" name="Rounded Rectangle 17"/>
          <p:cNvSpPr/>
          <p:nvPr/>
        </p:nvSpPr>
        <p:spPr>
          <a:xfrm>
            <a:off x="502920" y="3730752"/>
            <a:ext cx="5623560"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80" b="0">
                <a:solidFill>
                  <a:srgbClr val="252B36"/>
                </a:solidFill>
                <a:latin typeface="微软雅黑" panose="020B0503020204020204" charset="-122"/>
              </a:rPr>
              <a:t>• 支持按培训类别(如事故案例、安全教育、消防安全等)创建差异化培训，支持上传视频资料、pdf资料等资料作为培训内容，可为文档设置最短阅读时长阈值(比如pdf需阅读满10分钟)，同时配置整体培训课时数</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学员学习过程中系统实时记录各资料学习进度及整体培训完成度，学员完成所有培训内容后，需提交培训心得回执(记录学习收获与规划)以及培训反馈(对培训内容、形式的评价建议)</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可按分类创建不同类型考试，设置答卷时长、最大答卷次数(如允许补考1次)、是否生成证书等基本信息，试卷支持单选、多选、判断、填空和简答题，可按知识点分类组卷</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学员提交答卷后，系统对客观题自动评分，存在简答题的考试可由管理员进行人工阅卷评分</a:t>
            </a:r>
            <a:endParaRPr sz="1080" b="0">
              <a:solidFill>
                <a:srgbClr val="252B36"/>
              </a:solidFill>
              <a:latin typeface="微软雅黑" panose="020B0503020204020204" charset="-122"/>
            </a:endParaRPr>
          </a:p>
          <a:p>
            <a:pPr algn="l">
              <a:spcAft>
                <a:spcPts val="200"/>
              </a:spcAft>
            </a:pPr>
            <a:r>
              <a:rPr sz="1080" b="0">
                <a:solidFill>
                  <a:srgbClr val="252B36"/>
                </a:solidFill>
                <a:latin typeface="微软雅黑" panose="020B0503020204020204" charset="-122"/>
              </a:rPr>
              <a:t>• 学员通过本次考试后，系统自动/手动办法考试合格证书</a:t>
            </a:r>
            <a:endParaRPr sz="1080" b="0">
              <a:solidFill>
                <a:srgbClr val="252B36"/>
              </a:solidFill>
              <a:latin typeface="微软雅黑" panose="020B0503020204020204" charset="-122"/>
            </a:endParaRPr>
          </a:p>
        </p:txBody>
      </p:sp>
      <p:sp>
        <p:nvSpPr>
          <p:cNvPr id="19" name="Rounded Rectangle 18"/>
          <p:cNvSpPr/>
          <p:nvPr/>
        </p:nvSpPr>
        <p:spPr>
          <a:xfrm>
            <a:off x="6291072" y="3401568"/>
            <a:ext cx="4864608"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挂载节点 / 触发 / 按钮 / 输出</a:t>
            </a:r>
            <a:endParaRPr sz="1200" b="1">
              <a:solidFill>
                <a:srgbClr val="FFFFFF"/>
              </a:solidFill>
              <a:latin typeface="微软雅黑" panose="020B0503020204020204" charset="-122"/>
            </a:endParaRPr>
          </a:p>
        </p:txBody>
      </p:sp>
      <p:sp>
        <p:nvSpPr>
          <p:cNvPr id="20" name="Rounded Rectangle 19"/>
          <p:cNvSpPr/>
          <p:nvPr/>
        </p:nvSpPr>
        <p:spPr>
          <a:xfrm>
            <a:off x="6291072" y="3730752"/>
            <a:ext cx="4864608" cy="25054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50" b="0">
                <a:solidFill>
                  <a:srgbClr val="252B36"/>
                </a:solidFill>
                <a:latin typeface="微软雅黑" panose="020B0503020204020204" charset="-122"/>
              </a:rPr>
              <a:t>挂载节点：任务分配管理、可视化管理</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触发时机：培训开展时、考试组织时、证书发放时</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功能按钮：发布培训 / 参加考试 / 查看证书</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输出结果：培训记录、考试结果、证书</a:t>
            </a:r>
            <a:endParaRPr sz="1050" b="0">
              <a:solidFill>
                <a:srgbClr val="252B36"/>
              </a:solidFill>
              <a:latin typeface="微软雅黑" panose="020B0503020204020204" charset="-122"/>
            </a:endParaRPr>
          </a:p>
          <a:p>
            <a:pPr algn="l">
              <a:spcAft>
                <a:spcPts val="200"/>
              </a:spcAft>
            </a:pPr>
            <a:r>
              <a:rPr sz="1050" b="0">
                <a:solidFill>
                  <a:srgbClr val="252B36"/>
                </a:solidFill>
                <a:latin typeface="微软雅黑" panose="020B0503020204020204" charset="-122"/>
              </a:rPr>
              <a:t>参与角色：监造管理部门、监造工程师</a:t>
            </a:r>
            <a:endParaRPr sz="1050" b="0">
              <a:solidFill>
                <a:srgbClr val="252B36"/>
              </a:solidFill>
              <a:latin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开发 SOP 总图（建议周期）</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原需求文档没有直接给排期，本页给出基于一期范围的建议周期，供甲乙双方排计划和卡 Gate。</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29</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75DAD"/>
                </a:solidFill>
                <a:latin typeface="微软雅黑" panose="020B0503020204020204" charset="-122"/>
              </a:rPr>
              <a:t>本页核心：SOP 的关键不是写 10 个阶段名字，而是明确每阶段何时开始、何时结束、通过什么 Gate 才能往下走。</a:t>
            </a:r>
            <a:endParaRPr sz="1250" b="0">
              <a:solidFill>
                <a:srgbClr val="275DAD"/>
              </a:solidFill>
              <a:latin typeface="微软雅黑" panose="020B0503020204020204" charset="-122"/>
            </a:endParaRPr>
          </a:p>
        </p:txBody>
      </p:sp>
      <p:sp>
        <p:nvSpPr>
          <p:cNvPr id="7" name="Rounded Rectangle 6"/>
          <p:cNvSpPr/>
          <p:nvPr/>
        </p:nvSpPr>
        <p:spPr>
          <a:xfrm>
            <a:off x="530352" y="1645920"/>
            <a:ext cx="1993392" cy="1371600"/>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项目启动</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建议周期：1 周</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Gate0 启动评审</a:t>
            </a:r>
            <a:endParaRPr sz="1150" b="0">
              <a:solidFill>
                <a:srgbClr val="252B36"/>
              </a:solidFill>
              <a:latin typeface="微软雅黑" panose="020B0503020204020204" charset="-122"/>
            </a:endParaRPr>
          </a:p>
        </p:txBody>
      </p:sp>
      <p:sp>
        <p:nvSpPr>
          <p:cNvPr id="8" name="Chevron 7"/>
          <p:cNvSpPr/>
          <p:nvPr/>
        </p:nvSpPr>
        <p:spPr>
          <a:xfrm>
            <a:off x="2551176" y="2176272"/>
            <a:ext cx="201168" cy="256032"/>
          </a:xfrm>
          <a:prstGeom prst="chevron">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34640" y="1645920"/>
            <a:ext cx="1993392" cy="1371600"/>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需求调研</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建议周期：2 周</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Gate1 需求评审</a:t>
            </a:r>
            <a:endParaRPr sz="1150" b="0">
              <a:solidFill>
                <a:srgbClr val="252B36"/>
              </a:solidFill>
              <a:latin typeface="微软雅黑" panose="020B0503020204020204" charset="-122"/>
            </a:endParaRPr>
          </a:p>
        </p:txBody>
      </p:sp>
      <p:sp>
        <p:nvSpPr>
          <p:cNvPr id="10" name="Chevron 9"/>
          <p:cNvSpPr/>
          <p:nvPr/>
        </p:nvSpPr>
        <p:spPr>
          <a:xfrm>
            <a:off x="4855464" y="2176272"/>
            <a:ext cx="201168" cy="256032"/>
          </a:xfrm>
          <a:prstGeom prst="chevron">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38928" y="1645920"/>
            <a:ext cx="1993392" cy="1371600"/>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方案设计</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建议周期：2 周</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Gate2 方案评审</a:t>
            </a:r>
            <a:endParaRPr sz="1150" b="0">
              <a:solidFill>
                <a:srgbClr val="252B36"/>
              </a:solidFill>
              <a:latin typeface="微软雅黑" panose="020B0503020204020204" charset="-122"/>
            </a:endParaRPr>
          </a:p>
        </p:txBody>
      </p:sp>
      <p:sp>
        <p:nvSpPr>
          <p:cNvPr id="12" name="Chevron 11"/>
          <p:cNvSpPr/>
          <p:nvPr/>
        </p:nvSpPr>
        <p:spPr>
          <a:xfrm>
            <a:off x="7159752" y="2176272"/>
            <a:ext cx="201168" cy="256032"/>
          </a:xfrm>
          <a:prstGeom prst="chevron">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43216" y="1645920"/>
            <a:ext cx="1993392" cy="1371600"/>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系统设计</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建议周期：2 周</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Gate3 设计评审</a:t>
            </a:r>
            <a:endParaRPr sz="1150" b="0">
              <a:solidFill>
                <a:srgbClr val="252B36"/>
              </a:solidFill>
              <a:latin typeface="微软雅黑" panose="020B0503020204020204" charset="-122"/>
            </a:endParaRPr>
          </a:p>
        </p:txBody>
      </p:sp>
      <p:sp>
        <p:nvSpPr>
          <p:cNvPr id="14" name="Chevron 13"/>
          <p:cNvSpPr/>
          <p:nvPr/>
        </p:nvSpPr>
        <p:spPr>
          <a:xfrm>
            <a:off x="9464040" y="2176272"/>
            <a:ext cx="201168" cy="256032"/>
          </a:xfrm>
          <a:prstGeom prst="chevron">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47504" y="1645920"/>
            <a:ext cx="1993392" cy="1371600"/>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开发构建</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建议周期：6 周</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Gate4 开发自测</a:t>
            </a:r>
            <a:endParaRPr sz="1150" b="0">
              <a:solidFill>
                <a:srgbClr val="252B36"/>
              </a:solidFill>
              <a:latin typeface="微软雅黑" panose="020B0503020204020204" charset="-122"/>
            </a:endParaRPr>
          </a:p>
        </p:txBody>
      </p:sp>
      <p:sp>
        <p:nvSpPr>
          <p:cNvPr id="16" name="Rounded Rectangle 15"/>
          <p:cNvSpPr/>
          <p:nvPr/>
        </p:nvSpPr>
        <p:spPr>
          <a:xfrm>
            <a:off x="530352" y="3767328"/>
            <a:ext cx="1993392" cy="1371600"/>
          </a:xfrm>
          <a:prstGeom prst="roundRect">
            <a:avLst/>
          </a:prstGeom>
          <a:solidFill>
            <a:srgbClr val="FFFFFF"/>
          </a:solidFill>
          <a:ln w="12700">
            <a:solidFill>
              <a:srgbClr val="108CB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测试验证</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建议周期：3 周</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Gate5 测试评审</a:t>
            </a:r>
            <a:endParaRPr sz="1150" b="0">
              <a:solidFill>
                <a:srgbClr val="252B36"/>
              </a:solidFill>
              <a:latin typeface="微软雅黑" panose="020B0503020204020204" charset="-122"/>
            </a:endParaRPr>
          </a:p>
        </p:txBody>
      </p:sp>
      <p:sp>
        <p:nvSpPr>
          <p:cNvPr id="17" name="Chevron 16"/>
          <p:cNvSpPr/>
          <p:nvPr/>
        </p:nvSpPr>
        <p:spPr>
          <a:xfrm>
            <a:off x="2551176" y="4297680"/>
            <a:ext cx="201168" cy="256032"/>
          </a:xfrm>
          <a:prstGeom prst="chevron">
            <a:avLst/>
          </a:prstGeom>
          <a:solidFill>
            <a:srgbClr val="108CBA"/>
          </a:solidFill>
          <a:ln>
            <a:solidFill>
              <a:srgbClr val="1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834640" y="3767328"/>
            <a:ext cx="1993392" cy="1371600"/>
          </a:xfrm>
          <a:prstGeom prst="roundRect">
            <a:avLst/>
          </a:prstGeom>
          <a:solidFill>
            <a:srgbClr val="FFFFFF"/>
          </a:solidFill>
          <a:ln w="12700">
            <a:solidFill>
              <a:srgbClr val="108CB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部署实施</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建议周期：1 周</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Gate6 部署检查</a:t>
            </a:r>
            <a:endParaRPr sz="1150" b="0">
              <a:solidFill>
                <a:srgbClr val="252B36"/>
              </a:solidFill>
              <a:latin typeface="微软雅黑" panose="020B0503020204020204" charset="-122"/>
            </a:endParaRPr>
          </a:p>
        </p:txBody>
      </p:sp>
      <p:sp>
        <p:nvSpPr>
          <p:cNvPr id="19" name="Chevron 18"/>
          <p:cNvSpPr/>
          <p:nvPr/>
        </p:nvSpPr>
        <p:spPr>
          <a:xfrm>
            <a:off x="4855464" y="4297680"/>
            <a:ext cx="201168" cy="256032"/>
          </a:xfrm>
          <a:prstGeom prst="chevron">
            <a:avLst/>
          </a:prstGeom>
          <a:solidFill>
            <a:srgbClr val="108CBA"/>
          </a:solidFill>
          <a:ln>
            <a:solidFill>
              <a:srgbClr val="1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38928" y="3767328"/>
            <a:ext cx="1993392" cy="1371600"/>
          </a:xfrm>
          <a:prstGeom prst="roundRect">
            <a:avLst/>
          </a:prstGeom>
          <a:solidFill>
            <a:srgbClr val="FFFFFF"/>
          </a:solidFill>
          <a:ln w="12700">
            <a:solidFill>
              <a:srgbClr val="108CB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试运行</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建议周期：2 周</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Gate7 试运行评审</a:t>
            </a:r>
            <a:endParaRPr sz="1150" b="0">
              <a:solidFill>
                <a:srgbClr val="252B36"/>
              </a:solidFill>
              <a:latin typeface="微软雅黑" panose="020B0503020204020204" charset="-122"/>
            </a:endParaRPr>
          </a:p>
        </p:txBody>
      </p:sp>
      <p:sp>
        <p:nvSpPr>
          <p:cNvPr id="21" name="Chevron 20"/>
          <p:cNvSpPr/>
          <p:nvPr/>
        </p:nvSpPr>
        <p:spPr>
          <a:xfrm>
            <a:off x="7159752" y="4297680"/>
            <a:ext cx="201168" cy="256032"/>
          </a:xfrm>
          <a:prstGeom prst="chevron">
            <a:avLst/>
          </a:prstGeom>
          <a:solidFill>
            <a:srgbClr val="108CBA"/>
          </a:solidFill>
          <a:ln>
            <a:solidFill>
              <a:srgbClr val="1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43216" y="3767328"/>
            <a:ext cx="1993392" cy="1371600"/>
          </a:xfrm>
          <a:prstGeom prst="roundRect">
            <a:avLst/>
          </a:prstGeom>
          <a:solidFill>
            <a:srgbClr val="FFFFFF"/>
          </a:solidFill>
          <a:ln w="12700">
            <a:solidFill>
              <a:srgbClr val="108CB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验收交付</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建议周期：1 周</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Gate8 验收签字</a:t>
            </a:r>
            <a:endParaRPr sz="1150" b="0">
              <a:solidFill>
                <a:srgbClr val="252B36"/>
              </a:solidFill>
              <a:latin typeface="微软雅黑" panose="020B0503020204020204" charset="-122"/>
            </a:endParaRPr>
          </a:p>
        </p:txBody>
      </p:sp>
      <p:sp>
        <p:nvSpPr>
          <p:cNvPr id="23" name="Chevron 22"/>
          <p:cNvSpPr/>
          <p:nvPr/>
        </p:nvSpPr>
        <p:spPr>
          <a:xfrm>
            <a:off x="9464040" y="4297680"/>
            <a:ext cx="201168" cy="256032"/>
          </a:xfrm>
          <a:prstGeom prst="chevron">
            <a:avLst/>
          </a:prstGeom>
          <a:solidFill>
            <a:srgbClr val="108CBA"/>
          </a:solidFill>
          <a:ln>
            <a:solidFill>
              <a:srgbClr val="108CB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47504" y="3767328"/>
            <a:ext cx="1993392" cy="1371600"/>
          </a:xfrm>
          <a:prstGeom prst="roundRect">
            <a:avLst/>
          </a:prstGeom>
          <a:solidFill>
            <a:srgbClr val="FFFFFF"/>
          </a:solidFill>
          <a:ln w="12700">
            <a:solidFill>
              <a:srgbClr val="108CBA"/>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252B36"/>
                </a:solidFill>
                <a:latin typeface="微软雅黑" panose="020B0503020204020204" charset="-122"/>
              </a:rPr>
              <a:t>运维优化</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建议周期：持续</a:t>
            </a:r>
            <a:endParaRPr sz="1150" b="0">
              <a:solidFill>
                <a:srgbClr val="252B36"/>
              </a:solidFill>
              <a:latin typeface="微软雅黑" panose="020B0503020204020204" charset="-122"/>
            </a:endParaRPr>
          </a:p>
          <a:p>
            <a:pPr algn="l">
              <a:spcAft>
                <a:spcPts val="200"/>
              </a:spcAft>
            </a:pPr>
            <a:r>
              <a:rPr sz="1150" b="0">
                <a:solidFill>
                  <a:srgbClr val="252B36"/>
                </a:solidFill>
                <a:latin typeface="微软雅黑" panose="020B0503020204020204" charset="-122"/>
              </a:rPr>
              <a:t>Gate9 常态运维</a:t>
            </a:r>
            <a:endParaRPr sz="1150" b="0">
              <a:solidFill>
                <a:srgbClr val="252B36"/>
              </a:solidFill>
              <a:latin typeface="微软雅黑" panose="020B0503020204020204" charset="-122"/>
            </a:endParaRPr>
          </a:p>
        </p:txBody>
      </p:sp>
      <p:sp>
        <p:nvSpPr>
          <p:cNvPr id="25" name="Down Arrow 24"/>
          <p:cNvSpPr/>
          <p:nvPr/>
        </p:nvSpPr>
        <p:spPr>
          <a:xfrm>
            <a:off x="10808208" y="2697480"/>
            <a:ext cx="301752" cy="640080"/>
          </a:xfrm>
          <a:prstGeom prst="downArrow">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0352" y="5833872"/>
            <a:ext cx="11082528" cy="402336"/>
          </a:xfrm>
          <a:prstGeom prst="roundRect">
            <a:avLst/>
          </a:prstGeom>
          <a:solidFill>
            <a:srgbClr val="F4F7FC"/>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30" b="0">
                <a:solidFill>
                  <a:srgbClr val="122D57"/>
                </a:solidFill>
                <a:latin typeface="微软雅黑" panose="020B0503020204020204" charset="-122"/>
              </a:rPr>
              <a:t>建议口径：冻结需求和设计后再进开发；测试与安全问题闭环后再进部署；试运行问题清单收敛后再组织验收。</a:t>
            </a:r>
            <a:endParaRPr sz="1130" b="0">
              <a:solidFill>
                <a:srgbClr val="122D57"/>
              </a:solidFill>
              <a:latin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开发 SOP 阶段矩阵</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把每个阶段的主责、配合、可执行动作、输出物和 Gate 写明白，便于甲方现场问责。</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30</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75DAD"/>
                </a:solidFill>
                <a:latin typeface="微软雅黑" panose="020B0503020204020204" charset="-122"/>
              </a:rPr>
              <a:t>本页核心：每个节点都要说明“谁主责、谁配合、能干什么、交什么、通过什么条件往下走”。</a:t>
            </a:r>
            <a:endParaRPr sz="1250" b="0">
              <a:solidFill>
                <a:srgbClr val="275DAD"/>
              </a:solidFill>
              <a:latin typeface="微软雅黑" panose="020B0503020204020204" charset="-122"/>
            </a:endParaRPr>
          </a:p>
        </p:txBody>
      </p:sp>
      <p:sp>
        <p:nvSpPr>
          <p:cNvPr id="7" name="Rounded Rectangle 6"/>
          <p:cNvSpPr/>
          <p:nvPr/>
        </p:nvSpPr>
        <p:spPr>
          <a:xfrm>
            <a:off x="411480" y="1572768"/>
            <a:ext cx="1005840" cy="384048"/>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FFFFFF"/>
                </a:solidFill>
                <a:latin typeface="微软雅黑" panose="020B0503020204020204" charset="-122"/>
              </a:rPr>
              <a:t>阶段</a:t>
            </a:r>
            <a:endParaRPr sz="1140" b="1">
              <a:solidFill>
                <a:srgbClr val="FFFFFF"/>
              </a:solidFill>
              <a:latin typeface="微软雅黑" panose="020B0503020204020204" charset="-122"/>
            </a:endParaRPr>
          </a:p>
        </p:txBody>
      </p:sp>
      <p:sp>
        <p:nvSpPr>
          <p:cNvPr id="8" name="Rounded Rectangle 7"/>
          <p:cNvSpPr/>
          <p:nvPr/>
        </p:nvSpPr>
        <p:spPr>
          <a:xfrm>
            <a:off x="1508760" y="1572768"/>
            <a:ext cx="1645920" cy="384048"/>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FFFFFF"/>
                </a:solidFill>
                <a:latin typeface="微软雅黑" panose="020B0503020204020204" charset="-122"/>
              </a:rPr>
              <a:t>主责</a:t>
            </a:r>
            <a:endParaRPr sz="1140" b="1">
              <a:solidFill>
                <a:srgbClr val="FFFFFF"/>
              </a:solidFill>
              <a:latin typeface="微软雅黑" panose="020B0503020204020204" charset="-122"/>
            </a:endParaRPr>
          </a:p>
        </p:txBody>
      </p:sp>
      <p:sp>
        <p:nvSpPr>
          <p:cNvPr id="9" name="Rounded Rectangle 8"/>
          <p:cNvSpPr/>
          <p:nvPr/>
        </p:nvSpPr>
        <p:spPr>
          <a:xfrm>
            <a:off x="3273552" y="1572768"/>
            <a:ext cx="1783080" cy="384048"/>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FFFFFF"/>
                </a:solidFill>
                <a:latin typeface="微软雅黑" panose="020B0503020204020204" charset="-122"/>
              </a:rPr>
              <a:t>配合</a:t>
            </a:r>
            <a:endParaRPr sz="1140" b="1">
              <a:solidFill>
                <a:srgbClr val="FFFFFF"/>
              </a:solidFill>
              <a:latin typeface="微软雅黑" panose="020B0503020204020204" charset="-122"/>
            </a:endParaRPr>
          </a:p>
        </p:txBody>
      </p:sp>
      <p:sp>
        <p:nvSpPr>
          <p:cNvPr id="10" name="Rounded Rectangle 9"/>
          <p:cNvSpPr/>
          <p:nvPr/>
        </p:nvSpPr>
        <p:spPr>
          <a:xfrm>
            <a:off x="5212080" y="1572768"/>
            <a:ext cx="3108960" cy="384048"/>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FFFFFF"/>
                </a:solidFill>
                <a:latin typeface="微软雅黑" panose="020B0503020204020204" charset="-122"/>
              </a:rPr>
              <a:t>可执行动作</a:t>
            </a:r>
            <a:endParaRPr sz="1140" b="1">
              <a:solidFill>
                <a:srgbClr val="FFFFFF"/>
              </a:solidFill>
              <a:latin typeface="微软雅黑" panose="020B0503020204020204" charset="-122"/>
            </a:endParaRPr>
          </a:p>
        </p:txBody>
      </p:sp>
      <p:sp>
        <p:nvSpPr>
          <p:cNvPr id="11" name="Rounded Rectangle 10"/>
          <p:cNvSpPr/>
          <p:nvPr/>
        </p:nvSpPr>
        <p:spPr>
          <a:xfrm>
            <a:off x="8430768" y="1572768"/>
            <a:ext cx="3337560" cy="384048"/>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FFFFFF"/>
                </a:solidFill>
                <a:latin typeface="微软雅黑" panose="020B0503020204020204" charset="-122"/>
              </a:rPr>
              <a:t>输出物 / Gate</a:t>
            </a:r>
            <a:endParaRPr sz="1140" b="1">
              <a:solidFill>
                <a:srgbClr val="FFFFFF"/>
              </a:solidFill>
              <a:latin typeface="微软雅黑" panose="020B0503020204020204" charset="-122"/>
            </a:endParaRPr>
          </a:p>
        </p:txBody>
      </p:sp>
      <p:sp>
        <p:nvSpPr>
          <p:cNvPr id="12" name="Rectangle 11"/>
          <p:cNvSpPr/>
          <p:nvPr/>
        </p:nvSpPr>
        <p:spPr>
          <a:xfrm>
            <a:off x="411480" y="1993392"/>
            <a:ext cx="10058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项目启动</a:t>
            </a:r>
            <a:endParaRPr sz="900" b="0">
              <a:solidFill>
                <a:srgbClr val="252B36"/>
              </a:solidFill>
              <a:latin typeface="微软雅黑" panose="020B0503020204020204" charset="-122"/>
            </a:endParaRPr>
          </a:p>
        </p:txBody>
      </p:sp>
      <p:sp>
        <p:nvSpPr>
          <p:cNvPr id="13" name="Rectangle 12"/>
          <p:cNvSpPr/>
          <p:nvPr/>
        </p:nvSpPr>
        <p:spPr>
          <a:xfrm>
            <a:off x="1508760" y="1993392"/>
            <a:ext cx="1645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甲方项目负责人、乙方项目经理</a:t>
            </a:r>
            <a:endParaRPr sz="900" b="0">
              <a:solidFill>
                <a:srgbClr val="252B36"/>
              </a:solidFill>
              <a:latin typeface="微软雅黑" panose="020B0503020204020204" charset="-122"/>
            </a:endParaRPr>
          </a:p>
        </p:txBody>
      </p:sp>
      <p:sp>
        <p:nvSpPr>
          <p:cNvPr id="14" name="Rectangle 13"/>
          <p:cNvSpPr/>
          <p:nvPr/>
        </p:nvSpPr>
        <p:spPr>
          <a:xfrm>
            <a:off x="3273552" y="1993392"/>
            <a:ext cx="178308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业务部门、集成商</a:t>
            </a:r>
            <a:endParaRPr sz="900" b="0">
              <a:solidFill>
                <a:srgbClr val="252B36"/>
              </a:solidFill>
              <a:latin typeface="微软雅黑" panose="020B0503020204020204" charset="-122"/>
            </a:endParaRPr>
          </a:p>
        </p:txBody>
      </p:sp>
      <p:sp>
        <p:nvSpPr>
          <p:cNvPr id="15" name="Rectangle 14"/>
          <p:cNvSpPr/>
          <p:nvPr/>
        </p:nvSpPr>
        <p:spPr>
          <a:xfrm>
            <a:off x="5212080" y="1993392"/>
            <a:ext cx="310896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锁定一期范围、责任边界、沟通机制</a:t>
            </a:r>
            <a:endParaRPr sz="900" b="0">
              <a:solidFill>
                <a:srgbClr val="252B36"/>
              </a:solidFill>
              <a:latin typeface="微软雅黑" panose="020B0503020204020204" charset="-122"/>
            </a:endParaRPr>
          </a:p>
        </p:txBody>
      </p:sp>
      <p:sp>
        <p:nvSpPr>
          <p:cNvPr id="16" name="Rectangle 15"/>
          <p:cNvSpPr/>
          <p:nvPr/>
        </p:nvSpPr>
        <p:spPr>
          <a:xfrm>
            <a:off x="8430768" y="1993392"/>
            <a:ext cx="333756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启动纪要、范围清单 / 启动评审</a:t>
            </a:r>
            <a:endParaRPr sz="900" b="0">
              <a:solidFill>
                <a:srgbClr val="252B36"/>
              </a:solidFill>
              <a:latin typeface="微软雅黑" panose="020B0503020204020204" charset="-122"/>
            </a:endParaRPr>
          </a:p>
        </p:txBody>
      </p:sp>
      <p:sp>
        <p:nvSpPr>
          <p:cNvPr id="17" name="Rectangle 16"/>
          <p:cNvSpPr/>
          <p:nvPr/>
        </p:nvSpPr>
        <p:spPr>
          <a:xfrm>
            <a:off x="411480" y="2350008"/>
            <a:ext cx="100584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需求调研</a:t>
            </a:r>
            <a:endParaRPr sz="900" b="0">
              <a:solidFill>
                <a:srgbClr val="252B36"/>
              </a:solidFill>
              <a:latin typeface="微软雅黑" panose="020B0503020204020204" charset="-122"/>
            </a:endParaRPr>
          </a:p>
        </p:txBody>
      </p:sp>
      <p:sp>
        <p:nvSpPr>
          <p:cNvPr id="18" name="Rectangle 17"/>
          <p:cNvSpPr/>
          <p:nvPr/>
        </p:nvSpPr>
        <p:spPr>
          <a:xfrm>
            <a:off x="1508760" y="2350008"/>
            <a:ext cx="164592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产品经理</a:t>
            </a:r>
            <a:endParaRPr sz="900" b="0">
              <a:solidFill>
                <a:srgbClr val="252B36"/>
              </a:solidFill>
              <a:latin typeface="微软雅黑" panose="020B0503020204020204" charset="-122"/>
            </a:endParaRPr>
          </a:p>
        </p:txBody>
      </p:sp>
      <p:sp>
        <p:nvSpPr>
          <p:cNvPr id="19" name="Rectangle 18"/>
          <p:cNvSpPr/>
          <p:nvPr/>
        </p:nvSpPr>
        <p:spPr>
          <a:xfrm>
            <a:off x="3273552" y="2350008"/>
            <a:ext cx="178308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监造管理部门、业务骨干</a:t>
            </a:r>
            <a:endParaRPr sz="900" b="0">
              <a:solidFill>
                <a:srgbClr val="252B36"/>
              </a:solidFill>
              <a:latin typeface="微软雅黑" panose="020B0503020204020204" charset="-122"/>
            </a:endParaRPr>
          </a:p>
        </p:txBody>
      </p:sp>
      <p:sp>
        <p:nvSpPr>
          <p:cNvPr id="20" name="Rectangle 19"/>
          <p:cNvSpPr/>
          <p:nvPr/>
        </p:nvSpPr>
        <p:spPr>
          <a:xfrm>
            <a:off x="5212080" y="2350008"/>
            <a:ext cx="310896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逐模块走查原始需求、确认按钮、规则、角色、边界</a:t>
            </a:r>
            <a:endParaRPr sz="900" b="0">
              <a:solidFill>
                <a:srgbClr val="252B36"/>
              </a:solidFill>
              <a:latin typeface="微软雅黑" panose="020B0503020204020204" charset="-122"/>
            </a:endParaRPr>
          </a:p>
        </p:txBody>
      </p:sp>
      <p:sp>
        <p:nvSpPr>
          <p:cNvPr id="21" name="Rectangle 20"/>
          <p:cNvSpPr/>
          <p:nvPr/>
        </p:nvSpPr>
        <p:spPr>
          <a:xfrm>
            <a:off x="8430768" y="2350008"/>
            <a:ext cx="333756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需求清单、流程清单 / 需求评审</a:t>
            </a:r>
            <a:endParaRPr sz="900" b="0">
              <a:solidFill>
                <a:srgbClr val="252B36"/>
              </a:solidFill>
              <a:latin typeface="微软雅黑" panose="020B0503020204020204" charset="-122"/>
            </a:endParaRPr>
          </a:p>
        </p:txBody>
      </p:sp>
      <p:sp>
        <p:nvSpPr>
          <p:cNvPr id="22" name="Rectangle 21"/>
          <p:cNvSpPr/>
          <p:nvPr/>
        </p:nvSpPr>
        <p:spPr>
          <a:xfrm>
            <a:off x="411480" y="2706624"/>
            <a:ext cx="10058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方案设计</a:t>
            </a:r>
            <a:endParaRPr sz="900" b="0">
              <a:solidFill>
                <a:srgbClr val="252B36"/>
              </a:solidFill>
              <a:latin typeface="微软雅黑" panose="020B0503020204020204" charset="-122"/>
            </a:endParaRPr>
          </a:p>
        </p:txBody>
      </p:sp>
      <p:sp>
        <p:nvSpPr>
          <p:cNvPr id="23" name="Rectangle 22"/>
          <p:cNvSpPr/>
          <p:nvPr/>
        </p:nvSpPr>
        <p:spPr>
          <a:xfrm>
            <a:off x="1508760" y="2706624"/>
            <a:ext cx="1645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架构师、产品经理</a:t>
            </a:r>
            <a:endParaRPr sz="900" b="0">
              <a:solidFill>
                <a:srgbClr val="252B36"/>
              </a:solidFill>
              <a:latin typeface="微软雅黑" panose="020B0503020204020204" charset="-122"/>
            </a:endParaRPr>
          </a:p>
        </p:txBody>
      </p:sp>
      <p:sp>
        <p:nvSpPr>
          <p:cNvPr id="24" name="Rectangle 23"/>
          <p:cNvSpPr/>
          <p:nvPr/>
        </p:nvSpPr>
        <p:spPr>
          <a:xfrm>
            <a:off x="3273552" y="2706624"/>
            <a:ext cx="178308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项目经理、甲方代表</a:t>
            </a:r>
            <a:endParaRPr sz="900" b="0">
              <a:solidFill>
                <a:srgbClr val="252B36"/>
              </a:solidFill>
              <a:latin typeface="微软雅黑" panose="020B0503020204020204" charset="-122"/>
            </a:endParaRPr>
          </a:p>
        </p:txBody>
      </p:sp>
      <p:sp>
        <p:nvSpPr>
          <p:cNvPr id="25" name="Rectangle 24"/>
          <p:cNvSpPr/>
          <p:nvPr/>
        </p:nvSpPr>
        <p:spPr>
          <a:xfrm>
            <a:off x="5212080" y="2706624"/>
            <a:ext cx="310896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形成主链关系图、页面原型、软硬件建议</a:t>
            </a:r>
            <a:endParaRPr sz="900" b="0">
              <a:solidFill>
                <a:srgbClr val="252B36"/>
              </a:solidFill>
              <a:latin typeface="微软雅黑" panose="020B0503020204020204" charset="-122"/>
            </a:endParaRPr>
          </a:p>
        </p:txBody>
      </p:sp>
      <p:sp>
        <p:nvSpPr>
          <p:cNvPr id="26" name="Rectangle 25"/>
          <p:cNvSpPr/>
          <p:nvPr/>
        </p:nvSpPr>
        <p:spPr>
          <a:xfrm>
            <a:off x="8430768" y="2706624"/>
            <a:ext cx="333756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总体方案、模块关系 / 方案评审</a:t>
            </a:r>
            <a:endParaRPr sz="900" b="0">
              <a:solidFill>
                <a:srgbClr val="252B36"/>
              </a:solidFill>
              <a:latin typeface="微软雅黑" panose="020B0503020204020204" charset="-122"/>
            </a:endParaRPr>
          </a:p>
        </p:txBody>
      </p:sp>
      <p:sp>
        <p:nvSpPr>
          <p:cNvPr id="27" name="Rectangle 26"/>
          <p:cNvSpPr/>
          <p:nvPr/>
        </p:nvSpPr>
        <p:spPr>
          <a:xfrm>
            <a:off x="411480" y="3063240"/>
            <a:ext cx="100584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系统设计</a:t>
            </a:r>
            <a:endParaRPr sz="900" b="0">
              <a:solidFill>
                <a:srgbClr val="252B36"/>
              </a:solidFill>
              <a:latin typeface="微软雅黑" panose="020B0503020204020204" charset="-122"/>
            </a:endParaRPr>
          </a:p>
        </p:txBody>
      </p:sp>
      <p:sp>
        <p:nvSpPr>
          <p:cNvPr id="28" name="Rectangle 27"/>
          <p:cNvSpPr/>
          <p:nvPr/>
        </p:nvSpPr>
        <p:spPr>
          <a:xfrm>
            <a:off x="1508760" y="3063240"/>
            <a:ext cx="164592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前后端负责人、架构师</a:t>
            </a:r>
            <a:endParaRPr sz="900" b="0">
              <a:solidFill>
                <a:srgbClr val="252B36"/>
              </a:solidFill>
              <a:latin typeface="微软雅黑" panose="020B0503020204020204" charset="-122"/>
            </a:endParaRPr>
          </a:p>
        </p:txBody>
      </p:sp>
      <p:sp>
        <p:nvSpPr>
          <p:cNvPr id="29" name="Rectangle 28"/>
          <p:cNvSpPr/>
          <p:nvPr/>
        </p:nvSpPr>
        <p:spPr>
          <a:xfrm>
            <a:off x="3273552" y="3063240"/>
            <a:ext cx="178308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实施、测试</a:t>
            </a:r>
            <a:endParaRPr sz="900" b="0">
              <a:solidFill>
                <a:srgbClr val="252B36"/>
              </a:solidFill>
              <a:latin typeface="微软雅黑" panose="020B0503020204020204" charset="-122"/>
            </a:endParaRPr>
          </a:p>
        </p:txBody>
      </p:sp>
      <p:sp>
        <p:nvSpPr>
          <p:cNvPr id="30" name="Rectangle 29"/>
          <p:cNvSpPr/>
          <p:nvPr/>
        </p:nvSpPr>
        <p:spPr>
          <a:xfrm>
            <a:off x="5212080" y="3063240"/>
            <a:ext cx="310896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拆接口、数据结构、权限模型、部署方案</a:t>
            </a:r>
            <a:endParaRPr sz="900" b="0">
              <a:solidFill>
                <a:srgbClr val="252B36"/>
              </a:solidFill>
              <a:latin typeface="微软雅黑" panose="020B0503020204020204" charset="-122"/>
            </a:endParaRPr>
          </a:p>
        </p:txBody>
      </p:sp>
      <p:sp>
        <p:nvSpPr>
          <p:cNvPr id="31" name="Rectangle 30"/>
          <p:cNvSpPr/>
          <p:nvPr/>
        </p:nvSpPr>
        <p:spPr>
          <a:xfrm>
            <a:off x="8430768" y="3063240"/>
            <a:ext cx="333756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详细设计 / 设计评审</a:t>
            </a:r>
            <a:endParaRPr sz="900" b="0">
              <a:solidFill>
                <a:srgbClr val="252B36"/>
              </a:solidFill>
              <a:latin typeface="微软雅黑" panose="020B0503020204020204" charset="-122"/>
            </a:endParaRPr>
          </a:p>
        </p:txBody>
      </p:sp>
      <p:sp>
        <p:nvSpPr>
          <p:cNvPr id="32" name="Rectangle 31"/>
          <p:cNvSpPr/>
          <p:nvPr/>
        </p:nvSpPr>
        <p:spPr>
          <a:xfrm>
            <a:off x="411480" y="3419856"/>
            <a:ext cx="10058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开发构建</a:t>
            </a:r>
            <a:endParaRPr sz="900" b="0">
              <a:solidFill>
                <a:srgbClr val="252B36"/>
              </a:solidFill>
              <a:latin typeface="微软雅黑" panose="020B0503020204020204" charset="-122"/>
            </a:endParaRPr>
          </a:p>
        </p:txBody>
      </p:sp>
      <p:sp>
        <p:nvSpPr>
          <p:cNvPr id="33" name="Rectangle 32"/>
          <p:cNvSpPr/>
          <p:nvPr/>
        </p:nvSpPr>
        <p:spPr>
          <a:xfrm>
            <a:off x="1508760" y="3419856"/>
            <a:ext cx="1645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前后端开发负责人</a:t>
            </a:r>
            <a:endParaRPr sz="900" b="0">
              <a:solidFill>
                <a:srgbClr val="252B36"/>
              </a:solidFill>
              <a:latin typeface="微软雅黑" panose="020B0503020204020204" charset="-122"/>
            </a:endParaRPr>
          </a:p>
        </p:txBody>
      </p:sp>
      <p:sp>
        <p:nvSpPr>
          <p:cNvPr id="34" name="Rectangle 33"/>
          <p:cNvSpPr/>
          <p:nvPr/>
        </p:nvSpPr>
        <p:spPr>
          <a:xfrm>
            <a:off x="3273552" y="3419856"/>
            <a:ext cx="178308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产品、测试</a:t>
            </a:r>
            <a:endParaRPr sz="900" b="0">
              <a:solidFill>
                <a:srgbClr val="252B36"/>
              </a:solidFill>
              <a:latin typeface="微软雅黑" panose="020B0503020204020204" charset="-122"/>
            </a:endParaRPr>
          </a:p>
        </p:txBody>
      </p:sp>
      <p:sp>
        <p:nvSpPr>
          <p:cNvPr id="35" name="Rectangle 34"/>
          <p:cNvSpPr/>
          <p:nvPr/>
        </p:nvSpPr>
        <p:spPr>
          <a:xfrm>
            <a:off x="5212080" y="3419856"/>
            <a:ext cx="310896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按模块开发、联调、自测、修缺陷</a:t>
            </a:r>
            <a:endParaRPr sz="900" b="0">
              <a:solidFill>
                <a:srgbClr val="252B36"/>
              </a:solidFill>
              <a:latin typeface="微软雅黑" panose="020B0503020204020204" charset="-122"/>
            </a:endParaRPr>
          </a:p>
        </p:txBody>
      </p:sp>
      <p:sp>
        <p:nvSpPr>
          <p:cNvPr id="36" name="Rectangle 35"/>
          <p:cNvSpPr/>
          <p:nvPr/>
        </p:nvSpPr>
        <p:spPr>
          <a:xfrm>
            <a:off x="8430768" y="3419856"/>
            <a:ext cx="333756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可运行版本 / 开发自测</a:t>
            </a:r>
            <a:endParaRPr sz="900" b="0">
              <a:solidFill>
                <a:srgbClr val="252B36"/>
              </a:solidFill>
              <a:latin typeface="微软雅黑" panose="020B0503020204020204" charset="-122"/>
            </a:endParaRPr>
          </a:p>
        </p:txBody>
      </p:sp>
      <p:sp>
        <p:nvSpPr>
          <p:cNvPr id="37" name="Rectangle 36"/>
          <p:cNvSpPr/>
          <p:nvPr/>
        </p:nvSpPr>
        <p:spPr>
          <a:xfrm>
            <a:off x="411480" y="3776472"/>
            <a:ext cx="100584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测试验证</a:t>
            </a:r>
            <a:endParaRPr sz="900" b="0">
              <a:solidFill>
                <a:srgbClr val="252B36"/>
              </a:solidFill>
              <a:latin typeface="微软雅黑" panose="020B0503020204020204" charset="-122"/>
            </a:endParaRPr>
          </a:p>
        </p:txBody>
      </p:sp>
      <p:sp>
        <p:nvSpPr>
          <p:cNvPr id="38" name="Rectangle 37"/>
          <p:cNvSpPr/>
          <p:nvPr/>
        </p:nvSpPr>
        <p:spPr>
          <a:xfrm>
            <a:off x="1508760" y="3776472"/>
            <a:ext cx="164592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测试负责人</a:t>
            </a:r>
            <a:endParaRPr sz="900" b="0">
              <a:solidFill>
                <a:srgbClr val="252B36"/>
              </a:solidFill>
              <a:latin typeface="微软雅黑" panose="020B0503020204020204" charset="-122"/>
            </a:endParaRPr>
          </a:p>
        </p:txBody>
      </p:sp>
      <p:sp>
        <p:nvSpPr>
          <p:cNvPr id="39" name="Rectangle 38"/>
          <p:cNvSpPr/>
          <p:nvPr/>
        </p:nvSpPr>
        <p:spPr>
          <a:xfrm>
            <a:off x="3273552" y="3776472"/>
            <a:ext cx="178308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开发、安全团队</a:t>
            </a:r>
            <a:endParaRPr sz="900" b="0">
              <a:solidFill>
                <a:srgbClr val="252B36"/>
              </a:solidFill>
              <a:latin typeface="微软雅黑" panose="020B0503020204020204" charset="-122"/>
            </a:endParaRPr>
          </a:p>
        </p:txBody>
      </p:sp>
      <p:sp>
        <p:nvSpPr>
          <p:cNvPr id="40" name="Rectangle 39"/>
          <p:cNvSpPr/>
          <p:nvPr/>
        </p:nvSpPr>
        <p:spPr>
          <a:xfrm>
            <a:off x="5212080" y="3776472"/>
            <a:ext cx="310896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功能测试、回归测试、安全扫描、性能验证</a:t>
            </a:r>
            <a:endParaRPr sz="900" b="0">
              <a:solidFill>
                <a:srgbClr val="252B36"/>
              </a:solidFill>
              <a:latin typeface="微软雅黑" panose="020B0503020204020204" charset="-122"/>
            </a:endParaRPr>
          </a:p>
        </p:txBody>
      </p:sp>
      <p:sp>
        <p:nvSpPr>
          <p:cNvPr id="41" name="Rectangle 40"/>
          <p:cNvSpPr/>
          <p:nvPr/>
        </p:nvSpPr>
        <p:spPr>
          <a:xfrm>
            <a:off x="8430768" y="3776472"/>
            <a:ext cx="333756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测试报告、问题清单 / 测试评审</a:t>
            </a:r>
            <a:endParaRPr sz="900" b="0">
              <a:solidFill>
                <a:srgbClr val="252B36"/>
              </a:solidFill>
              <a:latin typeface="微软雅黑" panose="020B0503020204020204" charset="-122"/>
            </a:endParaRPr>
          </a:p>
        </p:txBody>
      </p:sp>
      <p:sp>
        <p:nvSpPr>
          <p:cNvPr id="42" name="Rectangle 41"/>
          <p:cNvSpPr/>
          <p:nvPr/>
        </p:nvSpPr>
        <p:spPr>
          <a:xfrm>
            <a:off x="411480" y="4133087"/>
            <a:ext cx="10058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部署实施</a:t>
            </a:r>
            <a:endParaRPr sz="900" b="0">
              <a:solidFill>
                <a:srgbClr val="252B36"/>
              </a:solidFill>
              <a:latin typeface="微软雅黑" panose="020B0503020204020204" charset="-122"/>
            </a:endParaRPr>
          </a:p>
        </p:txBody>
      </p:sp>
      <p:sp>
        <p:nvSpPr>
          <p:cNvPr id="43" name="Rectangle 42"/>
          <p:cNvSpPr/>
          <p:nvPr/>
        </p:nvSpPr>
        <p:spPr>
          <a:xfrm>
            <a:off x="1508760" y="4133087"/>
            <a:ext cx="1645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实施负责人</a:t>
            </a:r>
            <a:endParaRPr sz="900" b="0">
              <a:solidFill>
                <a:srgbClr val="252B36"/>
              </a:solidFill>
              <a:latin typeface="微软雅黑" panose="020B0503020204020204" charset="-122"/>
            </a:endParaRPr>
          </a:p>
        </p:txBody>
      </p:sp>
      <p:sp>
        <p:nvSpPr>
          <p:cNvPr id="44" name="Rectangle 43"/>
          <p:cNvSpPr/>
          <p:nvPr/>
        </p:nvSpPr>
        <p:spPr>
          <a:xfrm>
            <a:off x="3273552" y="4133087"/>
            <a:ext cx="178308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运维、集成商、开发</a:t>
            </a:r>
            <a:endParaRPr sz="900" b="0">
              <a:solidFill>
                <a:srgbClr val="252B36"/>
              </a:solidFill>
              <a:latin typeface="微软雅黑" panose="020B0503020204020204" charset="-122"/>
            </a:endParaRPr>
          </a:p>
        </p:txBody>
      </p:sp>
      <p:sp>
        <p:nvSpPr>
          <p:cNvPr id="45" name="Rectangle 44"/>
          <p:cNvSpPr/>
          <p:nvPr/>
        </p:nvSpPr>
        <p:spPr>
          <a:xfrm>
            <a:off x="5212080" y="4133087"/>
            <a:ext cx="310896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环境部署、基础软件安装、联调上线准备</a:t>
            </a:r>
            <a:endParaRPr sz="900" b="0">
              <a:solidFill>
                <a:srgbClr val="252B36"/>
              </a:solidFill>
              <a:latin typeface="微软雅黑" panose="020B0503020204020204" charset="-122"/>
            </a:endParaRPr>
          </a:p>
        </p:txBody>
      </p:sp>
      <p:sp>
        <p:nvSpPr>
          <p:cNvPr id="46" name="Rectangle 45"/>
          <p:cNvSpPr/>
          <p:nvPr/>
        </p:nvSpPr>
        <p:spPr>
          <a:xfrm>
            <a:off x="8430768" y="4133087"/>
            <a:ext cx="333756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部署记录、联调记录 / 部署检查</a:t>
            </a:r>
            <a:endParaRPr sz="900" b="0">
              <a:solidFill>
                <a:srgbClr val="252B36"/>
              </a:solidFill>
              <a:latin typeface="微软雅黑" panose="020B0503020204020204" charset="-122"/>
            </a:endParaRPr>
          </a:p>
        </p:txBody>
      </p:sp>
      <p:sp>
        <p:nvSpPr>
          <p:cNvPr id="47" name="Rectangle 46"/>
          <p:cNvSpPr/>
          <p:nvPr/>
        </p:nvSpPr>
        <p:spPr>
          <a:xfrm>
            <a:off x="411480" y="4489704"/>
            <a:ext cx="100584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试运行</a:t>
            </a:r>
            <a:endParaRPr sz="900" b="0">
              <a:solidFill>
                <a:srgbClr val="252B36"/>
              </a:solidFill>
              <a:latin typeface="微软雅黑" panose="020B0503020204020204" charset="-122"/>
            </a:endParaRPr>
          </a:p>
        </p:txBody>
      </p:sp>
      <p:sp>
        <p:nvSpPr>
          <p:cNvPr id="48" name="Rectangle 47"/>
          <p:cNvSpPr/>
          <p:nvPr/>
        </p:nvSpPr>
        <p:spPr>
          <a:xfrm>
            <a:off x="1508760" y="4489704"/>
            <a:ext cx="164592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实施负责人、甲方试点负责人</a:t>
            </a:r>
            <a:endParaRPr sz="900" b="0">
              <a:solidFill>
                <a:srgbClr val="252B36"/>
              </a:solidFill>
              <a:latin typeface="微软雅黑" panose="020B0503020204020204" charset="-122"/>
            </a:endParaRPr>
          </a:p>
        </p:txBody>
      </p:sp>
      <p:sp>
        <p:nvSpPr>
          <p:cNvPr id="49" name="Rectangle 48"/>
          <p:cNvSpPr/>
          <p:nvPr/>
        </p:nvSpPr>
        <p:spPr>
          <a:xfrm>
            <a:off x="3273552" y="4489704"/>
            <a:ext cx="178308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产品、测试、运维</a:t>
            </a:r>
            <a:endParaRPr sz="900" b="0">
              <a:solidFill>
                <a:srgbClr val="252B36"/>
              </a:solidFill>
              <a:latin typeface="微软雅黑" panose="020B0503020204020204" charset="-122"/>
            </a:endParaRPr>
          </a:p>
        </p:txBody>
      </p:sp>
      <p:sp>
        <p:nvSpPr>
          <p:cNvPr id="50" name="Rectangle 49"/>
          <p:cNvSpPr/>
          <p:nvPr/>
        </p:nvSpPr>
        <p:spPr>
          <a:xfrm>
            <a:off x="5212080" y="4489704"/>
            <a:ext cx="310896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试点使用、问题收集、配置修正、培训</a:t>
            </a:r>
            <a:endParaRPr sz="900" b="0">
              <a:solidFill>
                <a:srgbClr val="252B36"/>
              </a:solidFill>
              <a:latin typeface="微软雅黑" panose="020B0503020204020204" charset="-122"/>
            </a:endParaRPr>
          </a:p>
        </p:txBody>
      </p:sp>
      <p:sp>
        <p:nvSpPr>
          <p:cNvPr id="51" name="Rectangle 50"/>
          <p:cNvSpPr/>
          <p:nvPr/>
        </p:nvSpPr>
        <p:spPr>
          <a:xfrm>
            <a:off x="8430768" y="4489704"/>
            <a:ext cx="333756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试运行问题清单 / 试运行评审</a:t>
            </a:r>
            <a:endParaRPr sz="900" b="0">
              <a:solidFill>
                <a:srgbClr val="252B36"/>
              </a:solidFill>
              <a:latin typeface="微软雅黑" panose="020B0503020204020204" charset="-122"/>
            </a:endParaRPr>
          </a:p>
        </p:txBody>
      </p:sp>
      <p:sp>
        <p:nvSpPr>
          <p:cNvPr id="52" name="Rectangle 51"/>
          <p:cNvSpPr/>
          <p:nvPr/>
        </p:nvSpPr>
        <p:spPr>
          <a:xfrm>
            <a:off x="411480" y="4846320"/>
            <a:ext cx="10058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验收交付</a:t>
            </a:r>
            <a:endParaRPr sz="900" b="0">
              <a:solidFill>
                <a:srgbClr val="252B36"/>
              </a:solidFill>
              <a:latin typeface="微软雅黑" panose="020B0503020204020204" charset="-122"/>
            </a:endParaRPr>
          </a:p>
        </p:txBody>
      </p:sp>
      <p:sp>
        <p:nvSpPr>
          <p:cNvPr id="53" name="Rectangle 52"/>
          <p:cNvSpPr/>
          <p:nvPr/>
        </p:nvSpPr>
        <p:spPr>
          <a:xfrm>
            <a:off x="1508760" y="4846320"/>
            <a:ext cx="1645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甲方项目负责人、乙方项目经理</a:t>
            </a:r>
            <a:endParaRPr sz="900" b="0">
              <a:solidFill>
                <a:srgbClr val="252B36"/>
              </a:solidFill>
              <a:latin typeface="微软雅黑" panose="020B0503020204020204" charset="-122"/>
            </a:endParaRPr>
          </a:p>
        </p:txBody>
      </p:sp>
      <p:sp>
        <p:nvSpPr>
          <p:cNvPr id="54" name="Rectangle 53"/>
          <p:cNvSpPr/>
          <p:nvPr/>
        </p:nvSpPr>
        <p:spPr>
          <a:xfrm>
            <a:off x="3273552" y="4846320"/>
            <a:ext cx="178308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业务部门、测试、实施、安全团队</a:t>
            </a:r>
            <a:endParaRPr sz="900" b="0">
              <a:solidFill>
                <a:srgbClr val="252B36"/>
              </a:solidFill>
              <a:latin typeface="微软雅黑" panose="020B0503020204020204" charset="-122"/>
            </a:endParaRPr>
          </a:p>
        </p:txBody>
      </p:sp>
      <p:sp>
        <p:nvSpPr>
          <p:cNvPr id="55" name="Rectangle 54"/>
          <p:cNvSpPr/>
          <p:nvPr/>
        </p:nvSpPr>
        <p:spPr>
          <a:xfrm>
            <a:off x="5212080" y="4846320"/>
            <a:ext cx="310896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组织验收、培训交付、签字确认</a:t>
            </a:r>
            <a:endParaRPr sz="900" b="0">
              <a:solidFill>
                <a:srgbClr val="252B36"/>
              </a:solidFill>
              <a:latin typeface="微软雅黑" panose="020B0503020204020204" charset="-122"/>
            </a:endParaRPr>
          </a:p>
        </p:txBody>
      </p:sp>
      <p:sp>
        <p:nvSpPr>
          <p:cNvPr id="56" name="Rectangle 55"/>
          <p:cNvSpPr/>
          <p:nvPr/>
        </p:nvSpPr>
        <p:spPr>
          <a:xfrm>
            <a:off x="8430768" y="4846320"/>
            <a:ext cx="333756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验收材料、交付清单 / 验收签字</a:t>
            </a:r>
            <a:endParaRPr sz="900" b="0">
              <a:solidFill>
                <a:srgbClr val="252B36"/>
              </a:solidFill>
              <a:latin typeface="微软雅黑" panose="020B0503020204020204" charset="-122"/>
            </a:endParaRPr>
          </a:p>
        </p:txBody>
      </p:sp>
      <p:sp>
        <p:nvSpPr>
          <p:cNvPr id="57" name="Rectangle 56"/>
          <p:cNvSpPr/>
          <p:nvPr/>
        </p:nvSpPr>
        <p:spPr>
          <a:xfrm>
            <a:off x="411480" y="5202936"/>
            <a:ext cx="100584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运维优化</a:t>
            </a:r>
            <a:endParaRPr sz="900" b="0">
              <a:solidFill>
                <a:srgbClr val="252B36"/>
              </a:solidFill>
              <a:latin typeface="微软雅黑" panose="020B0503020204020204" charset="-122"/>
            </a:endParaRPr>
          </a:p>
        </p:txBody>
      </p:sp>
      <p:sp>
        <p:nvSpPr>
          <p:cNvPr id="58" name="Rectangle 57"/>
          <p:cNvSpPr/>
          <p:nvPr/>
        </p:nvSpPr>
        <p:spPr>
          <a:xfrm>
            <a:off x="1508760" y="5202936"/>
            <a:ext cx="164592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运维负责人</a:t>
            </a:r>
            <a:endParaRPr sz="900" b="0">
              <a:solidFill>
                <a:srgbClr val="252B36"/>
              </a:solidFill>
              <a:latin typeface="微软雅黑" panose="020B0503020204020204" charset="-122"/>
            </a:endParaRPr>
          </a:p>
        </p:txBody>
      </p:sp>
      <p:sp>
        <p:nvSpPr>
          <p:cNvPr id="59" name="Rectangle 58"/>
          <p:cNvSpPr/>
          <p:nvPr/>
        </p:nvSpPr>
        <p:spPr>
          <a:xfrm>
            <a:off x="3273552" y="5202936"/>
            <a:ext cx="178308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产品经理、甲方使用部门</a:t>
            </a:r>
            <a:endParaRPr sz="900" b="0">
              <a:solidFill>
                <a:srgbClr val="252B36"/>
              </a:solidFill>
              <a:latin typeface="微软雅黑" panose="020B0503020204020204" charset="-122"/>
            </a:endParaRPr>
          </a:p>
        </p:txBody>
      </p:sp>
      <p:sp>
        <p:nvSpPr>
          <p:cNvPr id="60" name="Rectangle 59"/>
          <p:cNvSpPr/>
          <p:nvPr/>
        </p:nvSpPr>
        <p:spPr>
          <a:xfrm>
            <a:off x="5212080" y="5202936"/>
            <a:ext cx="310896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运行监测、问题跟踪、版本优化</a:t>
            </a:r>
            <a:endParaRPr sz="900" b="0">
              <a:solidFill>
                <a:srgbClr val="252B36"/>
              </a:solidFill>
              <a:latin typeface="微软雅黑" panose="020B0503020204020204" charset="-122"/>
            </a:endParaRPr>
          </a:p>
        </p:txBody>
      </p:sp>
      <p:sp>
        <p:nvSpPr>
          <p:cNvPr id="61" name="Rectangle 60"/>
          <p:cNvSpPr/>
          <p:nvPr/>
        </p:nvSpPr>
        <p:spPr>
          <a:xfrm>
            <a:off x="8430768" y="5202936"/>
            <a:ext cx="333756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运维台账、优化计划 / 常态运维</a:t>
            </a:r>
            <a:endParaRPr sz="900" b="0">
              <a:solidFill>
                <a:srgbClr val="252B36"/>
              </a:solidFill>
              <a:latin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SOP 参与者能干的事</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把甲方、供应商和乙方团队在各节点能做什么写清楚，汇报时能直接对应责任人。</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31</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75DAD"/>
                </a:solidFill>
                <a:latin typeface="微软雅黑" panose="020B0503020204020204" charset="-122"/>
              </a:rPr>
              <a:t>本页核心：SOP 不是乙方单独推进，甲方业务部门、监造管理部门、供应商、集成商、安全团队都各有动作。</a:t>
            </a:r>
            <a:endParaRPr sz="1250" b="0">
              <a:solidFill>
                <a:srgbClr val="275DAD"/>
              </a:solidFill>
              <a:latin typeface="微软雅黑" panose="020B0503020204020204" charset="-122"/>
            </a:endParaRPr>
          </a:p>
        </p:txBody>
      </p:sp>
      <p:sp>
        <p:nvSpPr>
          <p:cNvPr id="7" name="Rounded Rectangle 6"/>
          <p:cNvSpPr/>
          <p:nvPr/>
        </p:nvSpPr>
        <p:spPr>
          <a:xfrm>
            <a:off x="502920" y="1645920"/>
            <a:ext cx="2880360" cy="365760"/>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监造管理部门</a:t>
            </a:r>
            <a:endParaRPr sz="1200" b="1">
              <a:solidFill>
                <a:srgbClr val="FFFFFF"/>
              </a:solidFill>
              <a:latin typeface="微软雅黑" panose="020B0503020204020204" charset="-122"/>
            </a:endParaRPr>
          </a:p>
        </p:txBody>
      </p:sp>
      <p:sp>
        <p:nvSpPr>
          <p:cNvPr id="8" name="Rounded Rectangle 7"/>
          <p:cNvSpPr/>
          <p:nvPr/>
        </p:nvSpPr>
        <p:spPr>
          <a:xfrm>
            <a:off x="502920" y="2029968"/>
            <a:ext cx="2880360" cy="15910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0">
                <a:solidFill>
                  <a:srgbClr val="252B36"/>
                </a:solidFill>
                <a:latin typeface="微软雅黑" panose="020B0503020204020204" charset="-122"/>
              </a:rPr>
              <a:t>• 确认业务规则与一期范围</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审批任务/策划/关键阶段成果</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跨部门协调与问题升级</a:t>
            </a:r>
            <a:endParaRPr sz="1100" b="0">
              <a:solidFill>
                <a:srgbClr val="252B36"/>
              </a:solidFill>
              <a:latin typeface="微软雅黑" panose="020B0503020204020204" charset="-122"/>
            </a:endParaRPr>
          </a:p>
        </p:txBody>
      </p:sp>
      <p:sp>
        <p:nvSpPr>
          <p:cNvPr id="9" name="Rounded Rectangle 8"/>
          <p:cNvSpPr/>
          <p:nvPr/>
        </p:nvSpPr>
        <p:spPr>
          <a:xfrm>
            <a:off x="3977639" y="1645920"/>
            <a:ext cx="2880360" cy="365760"/>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甲方项目负责人</a:t>
            </a:r>
            <a:endParaRPr sz="1200" b="1">
              <a:solidFill>
                <a:srgbClr val="FFFFFF"/>
              </a:solidFill>
              <a:latin typeface="微软雅黑" panose="020B0503020204020204" charset="-122"/>
            </a:endParaRPr>
          </a:p>
        </p:txBody>
      </p:sp>
      <p:sp>
        <p:nvSpPr>
          <p:cNvPr id="10" name="Rounded Rectangle 9"/>
          <p:cNvSpPr/>
          <p:nvPr/>
        </p:nvSpPr>
        <p:spPr>
          <a:xfrm>
            <a:off x="3977639" y="2029968"/>
            <a:ext cx="2880360" cy="15910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0">
                <a:solidFill>
                  <a:srgbClr val="252B36"/>
                </a:solidFill>
                <a:latin typeface="微软雅黑" panose="020B0503020204020204" charset="-122"/>
              </a:rPr>
              <a:t>• 主持启动、方案、验收评审</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确认软硬件采购和资源边界</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对试运行和最终交付签字</a:t>
            </a:r>
            <a:endParaRPr sz="1100" b="0">
              <a:solidFill>
                <a:srgbClr val="252B36"/>
              </a:solidFill>
              <a:latin typeface="微软雅黑" panose="020B0503020204020204" charset="-122"/>
            </a:endParaRPr>
          </a:p>
        </p:txBody>
      </p:sp>
      <p:sp>
        <p:nvSpPr>
          <p:cNvPr id="11" name="Rounded Rectangle 10"/>
          <p:cNvSpPr/>
          <p:nvPr/>
        </p:nvSpPr>
        <p:spPr>
          <a:xfrm>
            <a:off x="7452360" y="1645920"/>
            <a:ext cx="2880360" cy="365760"/>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业务部门/监造工程师</a:t>
            </a:r>
            <a:endParaRPr sz="1200" b="1">
              <a:solidFill>
                <a:srgbClr val="FFFFFF"/>
              </a:solidFill>
              <a:latin typeface="微软雅黑" panose="020B0503020204020204" charset="-122"/>
            </a:endParaRPr>
          </a:p>
        </p:txBody>
      </p:sp>
      <p:sp>
        <p:nvSpPr>
          <p:cNvPr id="12" name="Rounded Rectangle 11"/>
          <p:cNvSpPr/>
          <p:nvPr/>
        </p:nvSpPr>
        <p:spPr>
          <a:xfrm>
            <a:off x="7452360" y="2029968"/>
            <a:ext cx="2880360" cy="15910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0">
                <a:solidFill>
                  <a:srgbClr val="252B36"/>
                </a:solidFill>
                <a:latin typeface="微软雅黑" panose="020B0503020204020204" charset="-122"/>
              </a:rPr>
              <a:t>• 提供原始流程和表单口径</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参与需求评审和试运行反馈</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上线后按流程真实使用并沉淀数据</a:t>
            </a:r>
            <a:endParaRPr sz="1100" b="0">
              <a:solidFill>
                <a:srgbClr val="252B36"/>
              </a:solidFill>
              <a:latin typeface="微软雅黑" panose="020B0503020204020204" charset="-122"/>
            </a:endParaRPr>
          </a:p>
        </p:txBody>
      </p:sp>
      <p:sp>
        <p:nvSpPr>
          <p:cNvPr id="13" name="Rounded Rectangle 12"/>
          <p:cNvSpPr/>
          <p:nvPr/>
        </p:nvSpPr>
        <p:spPr>
          <a:xfrm>
            <a:off x="502920" y="3749039"/>
            <a:ext cx="2880360" cy="365760"/>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供应商/制造厂</a:t>
            </a:r>
            <a:endParaRPr sz="1200" b="1">
              <a:solidFill>
                <a:srgbClr val="FFFFFF"/>
              </a:solidFill>
              <a:latin typeface="微软雅黑" panose="020B0503020204020204" charset="-122"/>
            </a:endParaRPr>
          </a:p>
        </p:txBody>
      </p:sp>
      <p:sp>
        <p:nvSpPr>
          <p:cNvPr id="14" name="Rounded Rectangle 13"/>
          <p:cNvSpPr/>
          <p:nvPr/>
        </p:nvSpPr>
        <p:spPr>
          <a:xfrm>
            <a:off x="502920" y="4133087"/>
            <a:ext cx="2880360" cy="15910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0">
                <a:solidFill>
                  <a:srgbClr val="252B36"/>
                </a:solidFill>
                <a:latin typeface="微软雅黑" panose="020B0503020204020204" charset="-122"/>
              </a:rPr>
              <a:t>• 提交供方文件与质量计划</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配合巡查、整改、放行、验收</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按要求上传佐证并回应问题单</a:t>
            </a:r>
            <a:endParaRPr sz="1100" b="0">
              <a:solidFill>
                <a:srgbClr val="252B36"/>
              </a:solidFill>
              <a:latin typeface="微软雅黑" panose="020B0503020204020204" charset="-122"/>
            </a:endParaRPr>
          </a:p>
        </p:txBody>
      </p:sp>
      <p:sp>
        <p:nvSpPr>
          <p:cNvPr id="15" name="Rounded Rectangle 14"/>
          <p:cNvSpPr/>
          <p:nvPr/>
        </p:nvSpPr>
        <p:spPr>
          <a:xfrm>
            <a:off x="3977639" y="3749039"/>
            <a:ext cx="2880360" cy="365760"/>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产品/架构/开发/测试</a:t>
            </a:r>
            <a:endParaRPr sz="1200" b="1">
              <a:solidFill>
                <a:srgbClr val="FFFFFF"/>
              </a:solidFill>
              <a:latin typeface="微软雅黑" panose="020B0503020204020204" charset="-122"/>
            </a:endParaRPr>
          </a:p>
        </p:txBody>
      </p:sp>
      <p:sp>
        <p:nvSpPr>
          <p:cNvPr id="16" name="Rounded Rectangle 15"/>
          <p:cNvSpPr/>
          <p:nvPr/>
        </p:nvSpPr>
        <p:spPr>
          <a:xfrm>
            <a:off x="3977639" y="4133087"/>
            <a:ext cx="2880360" cy="15910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0">
                <a:solidFill>
                  <a:srgbClr val="252B36"/>
                </a:solidFill>
                <a:latin typeface="微软雅黑" panose="020B0503020204020204" charset="-122"/>
              </a:rPr>
              <a:t>• 拆解需求形成方案和设计</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完成功能开发、联调、测试、安全整改</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对关键 Gate 输出正式文档和版本</a:t>
            </a:r>
            <a:endParaRPr sz="1100" b="0">
              <a:solidFill>
                <a:srgbClr val="252B36"/>
              </a:solidFill>
              <a:latin typeface="微软雅黑" panose="020B0503020204020204" charset="-122"/>
            </a:endParaRPr>
          </a:p>
        </p:txBody>
      </p:sp>
      <p:sp>
        <p:nvSpPr>
          <p:cNvPr id="17" name="Rounded Rectangle 16"/>
          <p:cNvSpPr/>
          <p:nvPr/>
        </p:nvSpPr>
        <p:spPr>
          <a:xfrm>
            <a:off x="7452360" y="3749039"/>
            <a:ext cx="2880360" cy="365760"/>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实施/运维/集成商/安全团队</a:t>
            </a:r>
            <a:endParaRPr sz="1200" b="1">
              <a:solidFill>
                <a:srgbClr val="FFFFFF"/>
              </a:solidFill>
              <a:latin typeface="微软雅黑" panose="020B0503020204020204" charset="-122"/>
            </a:endParaRPr>
          </a:p>
        </p:txBody>
      </p:sp>
      <p:sp>
        <p:nvSpPr>
          <p:cNvPr id="18" name="Rounded Rectangle 17"/>
          <p:cNvSpPr/>
          <p:nvPr/>
        </p:nvSpPr>
        <p:spPr>
          <a:xfrm>
            <a:off x="7452360" y="4133087"/>
            <a:ext cx="2880360" cy="159105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0">
                <a:solidFill>
                  <a:srgbClr val="252B36"/>
                </a:solidFill>
                <a:latin typeface="微软雅黑" panose="020B0503020204020204" charset="-122"/>
              </a:rPr>
              <a:t>• 部署服务器、数据库、网络和客户端</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执行等保、漏洞扫描、备份切换、VPN 配置</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保障试运行与正式上线稳定运行</a:t>
            </a:r>
            <a:endParaRPr sz="1100" b="0">
              <a:solidFill>
                <a:srgbClr val="252B36"/>
              </a:solidFill>
              <a:latin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软硬件入场时间轴</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结合硬件清单和开发 SOP，明确每类对象何时进场、何时安装、何时联调。</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32</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75DAD"/>
                </a:solidFill>
                <a:latin typeface="微软雅黑" panose="020B0503020204020204" charset="-122"/>
              </a:rPr>
              <a:t>本页核心：软硬件不是验收前一起搬进来，而是要跟着系统设计、部署实施、试运行节点分批到位。</a:t>
            </a:r>
            <a:endParaRPr sz="1250" b="0">
              <a:solidFill>
                <a:srgbClr val="275DAD"/>
              </a:solidFill>
              <a:latin typeface="微软雅黑" panose="020B0503020204020204" charset="-122"/>
            </a:endParaRPr>
          </a:p>
        </p:txBody>
      </p:sp>
      <p:sp>
        <p:nvSpPr>
          <p:cNvPr id="7" name="Rounded Rectangle 6"/>
          <p:cNvSpPr/>
          <p:nvPr/>
        </p:nvSpPr>
        <p:spPr>
          <a:xfrm>
            <a:off x="548640" y="1874519"/>
            <a:ext cx="1325880" cy="475488"/>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080" b="1">
                <a:solidFill>
                  <a:srgbClr val="252B36"/>
                </a:solidFill>
                <a:latin typeface="微软雅黑" panose="020B0503020204020204" charset="-122"/>
              </a:rPr>
              <a:t>项目启动</a:t>
            </a:r>
            <a:endParaRPr sz="1080" b="1">
              <a:solidFill>
                <a:srgbClr val="252B36"/>
              </a:solidFill>
              <a:latin typeface="微软雅黑" panose="020B0503020204020204" charset="-122"/>
            </a:endParaRPr>
          </a:p>
        </p:txBody>
      </p:sp>
      <p:sp>
        <p:nvSpPr>
          <p:cNvPr id="8" name="Chevron 7"/>
          <p:cNvSpPr/>
          <p:nvPr/>
        </p:nvSpPr>
        <p:spPr>
          <a:xfrm>
            <a:off x="1901952" y="1993392"/>
            <a:ext cx="164592" cy="237744"/>
          </a:xfrm>
          <a:prstGeom prst="chevron">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57984" y="1874519"/>
            <a:ext cx="1325880" cy="475488"/>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080" b="1">
                <a:solidFill>
                  <a:srgbClr val="252B36"/>
                </a:solidFill>
                <a:latin typeface="微软雅黑" panose="020B0503020204020204" charset="-122"/>
              </a:rPr>
              <a:t>方案设计</a:t>
            </a:r>
            <a:endParaRPr sz="1080" b="1">
              <a:solidFill>
                <a:srgbClr val="252B36"/>
              </a:solidFill>
              <a:latin typeface="微软雅黑" panose="020B0503020204020204" charset="-122"/>
            </a:endParaRPr>
          </a:p>
        </p:txBody>
      </p:sp>
      <p:sp>
        <p:nvSpPr>
          <p:cNvPr id="10" name="Chevron 9"/>
          <p:cNvSpPr/>
          <p:nvPr/>
        </p:nvSpPr>
        <p:spPr>
          <a:xfrm>
            <a:off x="3511296" y="1993392"/>
            <a:ext cx="164592" cy="237744"/>
          </a:xfrm>
          <a:prstGeom prst="chevron">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67328" y="1874519"/>
            <a:ext cx="1325880" cy="475488"/>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080" b="1">
                <a:solidFill>
                  <a:srgbClr val="252B36"/>
                </a:solidFill>
                <a:latin typeface="微软雅黑" panose="020B0503020204020204" charset="-122"/>
              </a:rPr>
              <a:t>系统设计</a:t>
            </a:r>
            <a:endParaRPr sz="1080" b="1">
              <a:solidFill>
                <a:srgbClr val="252B36"/>
              </a:solidFill>
              <a:latin typeface="微软雅黑" panose="020B0503020204020204" charset="-122"/>
            </a:endParaRPr>
          </a:p>
        </p:txBody>
      </p:sp>
      <p:sp>
        <p:nvSpPr>
          <p:cNvPr id="12" name="Chevron 11"/>
          <p:cNvSpPr/>
          <p:nvPr/>
        </p:nvSpPr>
        <p:spPr>
          <a:xfrm>
            <a:off x="5120640" y="1993392"/>
            <a:ext cx="164592" cy="237744"/>
          </a:xfrm>
          <a:prstGeom prst="chevron">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76672" y="1874519"/>
            <a:ext cx="1325880" cy="475488"/>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080" b="1">
                <a:solidFill>
                  <a:srgbClr val="252B36"/>
                </a:solidFill>
                <a:latin typeface="微软雅黑" panose="020B0503020204020204" charset="-122"/>
              </a:rPr>
              <a:t>开发后期/测试前</a:t>
            </a:r>
            <a:endParaRPr sz="1080" b="1">
              <a:solidFill>
                <a:srgbClr val="252B36"/>
              </a:solidFill>
              <a:latin typeface="微软雅黑" panose="020B0503020204020204" charset="-122"/>
            </a:endParaRPr>
          </a:p>
        </p:txBody>
      </p:sp>
      <p:sp>
        <p:nvSpPr>
          <p:cNvPr id="14" name="Chevron 13"/>
          <p:cNvSpPr/>
          <p:nvPr/>
        </p:nvSpPr>
        <p:spPr>
          <a:xfrm>
            <a:off x="6729983" y="1993392"/>
            <a:ext cx="164592" cy="237744"/>
          </a:xfrm>
          <a:prstGeom prst="chevron">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86016" y="1874519"/>
            <a:ext cx="1325880" cy="475488"/>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080" b="1">
                <a:solidFill>
                  <a:srgbClr val="252B36"/>
                </a:solidFill>
                <a:latin typeface="微软雅黑" panose="020B0503020204020204" charset="-122"/>
              </a:rPr>
              <a:t>部署实施</a:t>
            </a:r>
            <a:endParaRPr sz="1080" b="1">
              <a:solidFill>
                <a:srgbClr val="252B36"/>
              </a:solidFill>
              <a:latin typeface="微软雅黑" panose="020B0503020204020204" charset="-122"/>
            </a:endParaRPr>
          </a:p>
        </p:txBody>
      </p:sp>
      <p:sp>
        <p:nvSpPr>
          <p:cNvPr id="16" name="Chevron 15"/>
          <p:cNvSpPr/>
          <p:nvPr/>
        </p:nvSpPr>
        <p:spPr>
          <a:xfrm>
            <a:off x="8339327" y="1993392"/>
            <a:ext cx="164592" cy="237744"/>
          </a:xfrm>
          <a:prstGeom prst="chevron">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95360" y="1874519"/>
            <a:ext cx="1325880" cy="475488"/>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080" b="1">
                <a:solidFill>
                  <a:srgbClr val="252B36"/>
                </a:solidFill>
                <a:latin typeface="微软雅黑" panose="020B0503020204020204" charset="-122"/>
              </a:rPr>
              <a:t>试运行前</a:t>
            </a:r>
            <a:endParaRPr sz="1080" b="1">
              <a:solidFill>
                <a:srgbClr val="252B36"/>
              </a:solidFill>
              <a:latin typeface="微软雅黑" panose="020B0503020204020204" charset="-122"/>
            </a:endParaRPr>
          </a:p>
        </p:txBody>
      </p:sp>
      <p:sp>
        <p:nvSpPr>
          <p:cNvPr id="18" name="Chevron 17"/>
          <p:cNvSpPr/>
          <p:nvPr/>
        </p:nvSpPr>
        <p:spPr>
          <a:xfrm>
            <a:off x="9948672" y="1993392"/>
            <a:ext cx="164592" cy="237744"/>
          </a:xfrm>
          <a:prstGeom prst="chevron">
            <a:avLst/>
          </a:prstGeom>
          <a:solidFill>
            <a:srgbClr val="275DAD"/>
          </a:solidFill>
          <a:ln>
            <a:solidFill>
              <a:srgbClr val="275D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04704" y="1874519"/>
            <a:ext cx="1325880" cy="475488"/>
          </a:xfrm>
          <a:prstGeom prst="roundRect">
            <a:avLst/>
          </a:prstGeom>
          <a:solidFill>
            <a:srgbClr val="FFFFFF"/>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080" b="1">
                <a:solidFill>
                  <a:srgbClr val="252B36"/>
                </a:solidFill>
                <a:latin typeface="微软雅黑" panose="020B0503020204020204" charset="-122"/>
              </a:rPr>
              <a:t>验收交付</a:t>
            </a:r>
            <a:endParaRPr sz="1080" b="1">
              <a:solidFill>
                <a:srgbClr val="252B36"/>
              </a:solidFill>
              <a:latin typeface="微软雅黑" panose="020B0503020204020204" charset="-122"/>
            </a:endParaRPr>
          </a:p>
        </p:txBody>
      </p:sp>
      <p:sp>
        <p:nvSpPr>
          <p:cNvPr id="20" name="Rounded Rectangle 19"/>
          <p:cNvSpPr/>
          <p:nvPr/>
        </p:nvSpPr>
        <p:spPr>
          <a:xfrm>
            <a:off x="566928" y="2880360"/>
            <a:ext cx="1645920" cy="310896"/>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30" b="1">
                <a:solidFill>
                  <a:srgbClr val="FFFFFF"/>
                </a:solidFill>
                <a:latin typeface="微软雅黑" panose="020B0503020204020204" charset="-122"/>
              </a:rPr>
              <a:t>硬件设备</a:t>
            </a:r>
            <a:endParaRPr sz="1130" b="1">
              <a:solidFill>
                <a:srgbClr val="FFFFFF"/>
              </a:solidFill>
              <a:latin typeface="微软雅黑" panose="020B0503020204020204" charset="-122"/>
            </a:endParaRPr>
          </a:p>
        </p:txBody>
      </p:sp>
      <p:sp>
        <p:nvSpPr>
          <p:cNvPr id="21" name="Rounded Rectangle 20"/>
          <p:cNvSpPr/>
          <p:nvPr/>
        </p:nvSpPr>
        <p:spPr>
          <a:xfrm>
            <a:off x="2267712" y="2880360"/>
            <a:ext cx="9281160" cy="4937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90" b="0">
                <a:solidFill>
                  <a:srgbClr val="252B36"/>
                </a:solidFill>
                <a:latin typeface="微软雅黑" panose="020B0503020204020204" charset="-122"/>
              </a:rPr>
              <a:t>项目启动后确认采购范围；系统设计阶段锁定配置；部署实施阶段上架安装；试运行前完成客户端配发。</a:t>
            </a:r>
            <a:endParaRPr sz="1090" b="0">
              <a:solidFill>
                <a:srgbClr val="252B36"/>
              </a:solidFill>
              <a:latin typeface="微软雅黑" panose="020B0503020204020204" charset="-122"/>
            </a:endParaRPr>
          </a:p>
        </p:txBody>
      </p:sp>
      <p:sp>
        <p:nvSpPr>
          <p:cNvPr id="22" name="Rounded Rectangle 21"/>
          <p:cNvSpPr/>
          <p:nvPr/>
        </p:nvSpPr>
        <p:spPr>
          <a:xfrm>
            <a:off x="566928" y="3721608"/>
            <a:ext cx="1645920" cy="310896"/>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30" b="1">
                <a:solidFill>
                  <a:srgbClr val="FFFFFF"/>
                </a:solidFill>
                <a:latin typeface="微软雅黑" panose="020B0503020204020204" charset="-122"/>
              </a:rPr>
              <a:t>基础软件</a:t>
            </a:r>
            <a:endParaRPr sz="1130" b="1">
              <a:solidFill>
                <a:srgbClr val="FFFFFF"/>
              </a:solidFill>
              <a:latin typeface="微软雅黑" panose="020B0503020204020204" charset="-122"/>
            </a:endParaRPr>
          </a:p>
        </p:txBody>
      </p:sp>
      <p:sp>
        <p:nvSpPr>
          <p:cNvPr id="23" name="Rounded Rectangle 22"/>
          <p:cNvSpPr/>
          <p:nvPr/>
        </p:nvSpPr>
        <p:spPr>
          <a:xfrm>
            <a:off x="2267712" y="3721608"/>
            <a:ext cx="9281160" cy="4937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90" b="0">
                <a:solidFill>
                  <a:srgbClr val="252B36"/>
                </a:solidFill>
                <a:latin typeface="微软雅黑" panose="020B0503020204020204" charset="-122"/>
              </a:rPr>
              <a:t>系统设计阶段确认操作系统/数据库版本；部署实施阶段安装银河麒麟、终端系统、达梦数据库；联调前完成初始化。</a:t>
            </a:r>
            <a:endParaRPr sz="1090" b="0">
              <a:solidFill>
                <a:srgbClr val="252B36"/>
              </a:solidFill>
              <a:latin typeface="微软雅黑" panose="020B0503020204020204" charset="-122"/>
            </a:endParaRPr>
          </a:p>
        </p:txBody>
      </p:sp>
      <p:sp>
        <p:nvSpPr>
          <p:cNvPr id="24" name="Rounded Rectangle 23"/>
          <p:cNvSpPr/>
          <p:nvPr/>
        </p:nvSpPr>
        <p:spPr>
          <a:xfrm>
            <a:off x="566928" y="4562856"/>
            <a:ext cx="1645920" cy="310896"/>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30" b="1">
                <a:solidFill>
                  <a:srgbClr val="FFFFFF"/>
                </a:solidFill>
                <a:latin typeface="微软雅黑" panose="020B0503020204020204" charset="-122"/>
              </a:rPr>
              <a:t>安全与保障服务</a:t>
            </a:r>
            <a:endParaRPr sz="1130" b="1">
              <a:solidFill>
                <a:srgbClr val="FFFFFF"/>
              </a:solidFill>
              <a:latin typeface="微软雅黑" panose="020B0503020204020204" charset="-122"/>
            </a:endParaRPr>
          </a:p>
        </p:txBody>
      </p:sp>
      <p:sp>
        <p:nvSpPr>
          <p:cNvPr id="25" name="Rounded Rectangle 24"/>
          <p:cNvSpPr/>
          <p:nvPr/>
        </p:nvSpPr>
        <p:spPr>
          <a:xfrm>
            <a:off x="2267712" y="4562856"/>
            <a:ext cx="9281160" cy="4937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90" b="0">
                <a:solidFill>
                  <a:srgbClr val="252B36"/>
                </a:solidFill>
                <a:latin typeface="微软雅黑" panose="020B0503020204020204" charset="-122"/>
              </a:rPr>
              <a:t>测试后期启动等保测评、代码检测、漏洞扫描；试运行前完成整改闭环和容灾演练。</a:t>
            </a:r>
            <a:endParaRPr sz="1090" b="0">
              <a:solidFill>
                <a:srgbClr val="252B36"/>
              </a:solidFill>
              <a:latin typeface="微软雅黑" panose="020B0503020204020204" charset="-122"/>
            </a:endParaRPr>
          </a:p>
        </p:txBody>
      </p:sp>
      <p:sp>
        <p:nvSpPr>
          <p:cNvPr id="26" name="Rounded Rectangle 25"/>
          <p:cNvSpPr/>
          <p:nvPr/>
        </p:nvSpPr>
        <p:spPr>
          <a:xfrm>
            <a:off x="566928" y="5404104"/>
            <a:ext cx="1645920" cy="310896"/>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30" b="1">
                <a:solidFill>
                  <a:srgbClr val="FFFFFF"/>
                </a:solidFill>
                <a:latin typeface="微软雅黑" panose="020B0503020204020204" charset="-122"/>
              </a:rPr>
              <a:t>网络接入方案</a:t>
            </a:r>
            <a:endParaRPr sz="1130" b="1">
              <a:solidFill>
                <a:srgbClr val="FFFFFF"/>
              </a:solidFill>
              <a:latin typeface="微软雅黑" panose="020B0503020204020204" charset="-122"/>
            </a:endParaRPr>
          </a:p>
        </p:txBody>
      </p:sp>
      <p:sp>
        <p:nvSpPr>
          <p:cNvPr id="27" name="Rounded Rectangle 26"/>
          <p:cNvSpPr/>
          <p:nvPr/>
        </p:nvSpPr>
        <p:spPr>
          <a:xfrm>
            <a:off x="2267712" y="5404104"/>
            <a:ext cx="9281160" cy="493776"/>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90" b="0">
                <a:solidFill>
                  <a:srgbClr val="252B36"/>
                </a:solidFill>
                <a:latin typeface="微软雅黑" panose="020B0503020204020204" charset="-122"/>
              </a:rPr>
              <a:t>部署实施阶段完成防火墙和 VPN 配置；联调前打通办公网与远程访问；试运行前验证稳定性。</a:t>
            </a:r>
            <a:endParaRPr sz="1090" b="0">
              <a:solidFill>
                <a:srgbClr val="252B36"/>
              </a:solidFill>
              <a:latin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软硬件配置矩阵</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直接引用硬件清单中的配置、数量和用途，让甲方看见本次部署到底要上什么。</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33</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75DAD"/>
                </a:solidFill>
                <a:latin typeface="微软雅黑" panose="020B0503020204020204" charset="-122"/>
              </a:rPr>
              <a:t>本页核心：这页不讲抽象概念，只讲具体设备、软件、数量和核心用途。</a:t>
            </a:r>
            <a:endParaRPr sz="1250" b="0">
              <a:solidFill>
                <a:srgbClr val="275DAD"/>
              </a:solidFill>
              <a:latin typeface="微软雅黑" panose="020B0503020204020204" charset="-122"/>
            </a:endParaRPr>
          </a:p>
        </p:txBody>
      </p:sp>
      <p:sp>
        <p:nvSpPr>
          <p:cNvPr id="7" name="Rounded Rectangle 6"/>
          <p:cNvSpPr/>
          <p:nvPr/>
        </p:nvSpPr>
        <p:spPr>
          <a:xfrm>
            <a:off x="411480" y="1572768"/>
            <a:ext cx="914400" cy="384048"/>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FFFFFF"/>
                </a:solidFill>
                <a:latin typeface="微软雅黑" panose="020B0503020204020204" charset="-122"/>
              </a:rPr>
              <a:t>类别</a:t>
            </a:r>
            <a:endParaRPr sz="1140" b="1">
              <a:solidFill>
                <a:srgbClr val="FFFFFF"/>
              </a:solidFill>
              <a:latin typeface="微软雅黑" panose="020B0503020204020204" charset="-122"/>
            </a:endParaRPr>
          </a:p>
        </p:txBody>
      </p:sp>
      <p:sp>
        <p:nvSpPr>
          <p:cNvPr id="8" name="Rounded Rectangle 7"/>
          <p:cNvSpPr/>
          <p:nvPr/>
        </p:nvSpPr>
        <p:spPr>
          <a:xfrm>
            <a:off x="1508760" y="1572768"/>
            <a:ext cx="2514600" cy="384048"/>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FFFFFF"/>
                </a:solidFill>
                <a:latin typeface="微软雅黑" panose="020B0503020204020204" charset="-122"/>
              </a:rPr>
              <a:t>对象</a:t>
            </a:r>
            <a:endParaRPr sz="1140" b="1">
              <a:solidFill>
                <a:srgbClr val="FFFFFF"/>
              </a:solidFill>
              <a:latin typeface="微软雅黑" panose="020B0503020204020204" charset="-122"/>
            </a:endParaRPr>
          </a:p>
        </p:txBody>
      </p:sp>
      <p:sp>
        <p:nvSpPr>
          <p:cNvPr id="9" name="Rounded Rectangle 8"/>
          <p:cNvSpPr/>
          <p:nvPr/>
        </p:nvSpPr>
        <p:spPr>
          <a:xfrm>
            <a:off x="4160520" y="1572768"/>
            <a:ext cx="3931920" cy="384048"/>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FFFFFF"/>
                </a:solidFill>
                <a:latin typeface="微软雅黑" panose="020B0503020204020204" charset="-122"/>
              </a:rPr>
              <a:t>配置 / 数量</a:t>
            </a:r>
            <a:endParaRPr sz="1140" b="1">
              <a:solidFill>
                <a:srgbClr val="FFFFFF"/>
              </a:solidFill>
              <a:latin typeface="微软雅黑" panose="020B0503020204020204" charset="-122"/>
            </a:endParaRPr>
          </a:p>
        </p:txBody>
      </p:sp>
      <p:sp>
        <p:nvSpPr>
          <p:cNvPr id="10" name="Rounded Rectangle 9"/>
          <p:cNvSpPr/>
          <p:nvPr/>
        </p:nvSpPr>
        <p:spPr>
          <a:xfrm>
            <a:off x="8229600" y="1572768"/>
            <a:ext cx="3520440" cy="384048"/>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140" b="1">
                <a:solidFill>
                  <a:srgbClr val="FFFFFF"/>
                </a:solidFill>
                <a:latin typeface="微软雅黑" panose="020B0503020204020204" charset="-122"/>
              </a:rPr>
              <a:t>核心用途</a:t>
            </a:r>
            <a:endParaRPr sz="1140" b="1">
              <a:solidFill>
                <a:srgbClr val="FFFFFF"/>
              </a:solidFill>
              <a:latin typeface="微软雅黑" panose="020B0503020204020204" charset="-122"/>
            </a:endParaRPr>
          </a:p>
        </p:txBody>
      </p:sp>
      <p:sp>
        <p:nvSpPr>
          <p:cNvPr id="11" name="Rectangle 10"/>
          <p:cNvSpPr/>
          <p:nvPr/>
        </p:nvSpPr>
        <p:spPr>
          <a:xfrm>
            <a:off x="411480" y="1993392"/>
            <a:ext cx="9144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硬件</a:t>
            </a:r>
            <a:endParaRPr sz="900" b="0">
              <a:solidFill>
                <a:srgbClr val="252B36"/>
              </a:solidFill>
              <a:latin typeface="微软雅黑" panose="020B0503020204020204" charset="-122"/>
            </a:endParaRPr>
          </a:p>
        </p:txBody>
      </p:sp>
      <p:sp>
        <p:nvSpPr>
          <p:cNvPr id="12" name="Rectangle 11"/>
          <p:cNvSpPr/>
          <p:nvPr/>
        </p:nvSpPr>
        <p:spPr>
          <a:xfrm>
            <a:off x="1508760" y="1993392"/>
            <a:ext cx="25146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平台服务器</a:t>
            </a:r>
            <a:endParaRPr sz="900" b="0">
              <a:solidFill>
                <a:srgbClr val="252B36"/>
              </a:solidFill>
              <a:latin typeface="微软雅黑" panose="020B0503020204020204" charset="-122"/>
            </a:endParaRPr>
          </a:p>
        </p:txBody>
      </p:sp>
      <p:sp>
        <p:nvSpPr>
          <p:cNvPr id="13" name="Rectangle 12"/>
          <p:cNvSpPr/>
          <p:nvPr/>
        </p:nvSpPr>
        <p:spPr>
          <a:xfrm>
            <a:off x="4160520" y="1993392"/>
            <a:ext cx="3931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海光 7380 / 64GB / 系统盘 1TB + 数据盘 2TB / 1 台 / 银河麒麟 V10</a:t>
            </a:r>
            <a:endParaRPr sz="900" b="0">
              <a:solidFill>
                <a:srgbClr val="252B36"/>
              </a:solidFill>
              <a:latin typeface="微软雅黑" panose="020B0503020204020204" charset="-122"/>
            </a:endParaRPr>
          </a:p>
        </p:txBody>
      </p:sp>
      <p:sp>
        <p:nvSpPr>
          <p:cNvPr id="14" name="Rectangle 13"/>
          <p:cNvSpPr/>
          <p:nvPr/>
        </p:nvSpPr>
        <p:spPr>
          <a:xfrm>
            <a:off x="8229600" y="1993392"/>
            <a:ext cx="35204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承载系统核心平台运行</a:t>
            </a:r>
            <a:endParaRPr sz="900" b="0">
              <a:solidFill>
                <a:srgbClr val="252B36"/>
              </a:solidFill>
              <a:latin typeface="微软雅黑" panose="020B0503020204020204" charset="-122"/>
            </a:endParaRPr>
          </a:p>
        </p:txBody>
      </p:sp>
      <p:sp>
        <p:nvSpPr>
          <p:cNvPr id="15" name="Rectangle 14"/>
          <p:cNvSpPr/>
          <p:nvPr/>
        </p:nvSpPr>
        <p:spPr>
          <a:xfrm>
            <a:off x="411480" y="2350008"/>
            <a:ext cx="91440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硬件</a:t>
            </a:r>
            <a:endParaRPr sz="900" b="0">
              <a:solidFill>
                <a:srgbClr val="252B36"/>
              </a:solidFill>
              <a:latin typeface="微软雅黑" panose="020B0503020204020204" charset="-122"/>
            </a:endParaRPr>
          </a:p>
        </p:txBody>
      </p:sp>
      <p:sp>
        <p:nvSpPr>
          <p:cNvPr id="16" name="Rectangle 15"/>
          <p:cNvSpPr/>
          <p:nvPr/>
        </p:nvSpPr>
        <p:spPr>
          <a:xfrm>
            <a:off x="1508760" y="2350008"/>
            <a:ext cx="251460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中间件服务器</a:t>
            </a:r>
            <a:endParaRPr sz="900" b="0">
              <a:solidFill>
                <a:srgbClr val="252B36"/>
              </a:solidFill>
              <a:latin typeface="微软雅黑" panose="020B0503020204020204" charset="-122"/>
            </a:endParaRPr>
          </a:p>
        </p:txBody>
      </p:sp>
      <p:sp>
        <p:nvSpPr>
          <p:cNvPr id="17" name="Rectangle 16"/>
          <p:cNvSpPr/>
          <p:nvPr/>
        </p:nvSpPr>
        <p:spPr>
          <a:xfrm>
            <a:off x="4160520" y="2350008"/>
            <a:ext cx="393192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海光 7380 / 64GB / 系统盘 1TB + 数据盘 4TB / 3 台 / 银河麒麟 V10</a:t>
            </a:r>
            <a:endParaRPr sz="900" b="0">
              <a:solidFill>
                <a:srgbClr val="252B36"/>
              </a:solidFill>
              <a:latin typeface="微软雅黑" panose="020B0503020204020204" charset="-122"/>
            </a:endParaRPr>
          </a:p>
        </p:txBody>
      </p:sp>
      <p:sp>
        <p:nvSpPr>
          <p:cNvPr id="18" name="Rectangle 17"/>
          <p:cNvSpPr/>
          <p:nvPr/>
        </p:nvSpPr>
        <p:spPr>
          <a:xfrm>
            <a:off x="8229600" y="2350008"/>
            <a:ext cx="352044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部署应用中间件，支撑高并发处理</a:t>
            </a:r>
            <a:endParaRPr sz="900" b="0">
              <a:solidFill>
                <a:srgbClr val="252B36"/>
              </a:solidFill>
              <a:latin typeface="微软雅黑" panose="020B0503020204020204" charset="-122"/>
            </a:endParaRPr>
          </a:p>
        </p:txBody>
      </p:sp>
      <p:sp>
        <p:nvSpPr>
          <p:cNvPr id="19" name="Rectangle 18"/>
          <p:cNvSpPr/>
          <p:nvPr/>
        </p:nvSpPr>
        <p:spPr>
          <a:xfrm>
            <a:off x="411480" y="2706624"/>
            <a:ext cx="9144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硬件</a:t>
            </a:r>
            <a:endParaRPr sz="900" b="0">
              <a:solidFill>
                <a:srgbClr val="252B36"/>
              </a:solidFill>
              <a:latin typeface="微软雅黑" panose="020B0503020204020204" charset="-122"/>
            </a:endParaRPr>
          </a:p>
        </p:txBody>
      </p:sp>
      <p:sp>
        <p:nvSpPr>
          <p:cNvPr id="20" name="Rectangle 19"/>
          <p:cNvSpPr/>
          <p:nvPr/>
        </p:nvSpPr>
        <p:spPr>
          <a:xfrm>
            <a:off x="1508760" y="2706624"/>
            <a:ext cx="25146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领域服务器</a:t>
            </a:r>
            <a:endParaRPr sz="900" b="0">
              <a:solidFill>
                <a:srgbClr val="252B36"/>
              </a:solidFill>
              <a:latin typeface="微软雅黑" panose="020B0503020204020204" charset="-122"/>
            </a:endParaRPr>
          </a:p>
        </p:txBody>
      </p:sp>
      <p:sp>
        <p:nvSpPr>
          <p:cNvPr id="21" name="Rectangle 20"/>
          <p:cNvSpPr/>
          <p:nvPr/>
        </p:nvSpPr>
        <p:spPr>
          <a:xfrm>
            <a:off x="4160520" y="2706624"/>
            <a:ext cx="3931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海光 7380 / 64GB / 系统盘 1TB + 数据盘 4TB / 1 台 / 银河麒麟 V10</a:t>
            </a:r>
            <a:endParaRPr sz="900" b="0">
              <a:solidFill>
                <a:srgbClr val="252B36"/>
              </a:solidFill>
              <a:latin typeface="微软雅黑" panose="020B0503020204020204" charset="-122"/>
            </a:endParaRPr>
          </a:p>
        </p:txBody>
      </p:sp>
      <p:sp>
        <p:nvSpPr>
          <p:cNvPr id="22" name="Rectangle 21"/>
          <p:cNvSpPr/>
          <p:nvPr/>
        </p:nvSpPr>
        <p:spPr>
          <a:xfrm>
            <a:off x="8229600" y="2706624"/>
            <a:ext cx="35204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存储监造领域核心业务数据</a:t>
            </a:r>
            <a:endParaRPr sz="900" b="0">
              <a:solidFill>
                <a:srgbClr val="252B36"/>
              </a:solidFill>
              <a:latin typeface="微软雅黑" panose="020B0503020204020204" charset="-122"/>
            </a:endParaRPr>
          </a:p>
        </p:txBody>
      </p:sp>
      <p:sp>
        <p:nvSpPr>
          <p:cNvPr id="23" name="Rectangle 22"/>
          <p:cNvSpPr/>
          <p:nvPr/>
        </p:nvSpPr>
        <p:spPr>
          <a:xfrm>
            <a:off x="411480" y="3063240"/>
            <a:ext cx="91440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硬件</a:t>
            </a:r>
            <a:endParaRPr sz="900" b="0">
              <a:solidFill>
                <a:srgbClr val="252B36"/>
              </a:solidFill>
              <a:latin typeface="微软雅黑" panose="020B0503020204020204" charset="-122"/>
            </a:endParaRPr>
          </a:p>
        </p:txBody>
      </p:sp>
      <p:sp>
        <p:nvSpPr>
          <p:cNvPr id="24" name="Rectangle 23"/>
          <p:cNvSpPr/>
          <p:nvPr/>
        </p:nvSpPr>
        <p:spPr>
          <a:xfrm>
            <a:off x="1508760" y="3063240"/>
            <a:ext cx="251460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客户端</a:t>
            </a:r>
            <a:endParaRPr sz="900" b="0">
              <a:solidFill>
                <a:srgbClr val="252B36"/>
              </a:solidFill>
              <a:latin typeface="微软雅黑" panose="020B0503020204020204" charset="-122"/>
            </a:endParaRPr>
          </a:p>
        </p:txBody>
      </p:sp>
      <p:sp>
        <p:nvSpPr>
          <p:cNvPr id="25" name="Rectangle 24"/>
          <p:cNvSpPr/>
          <p:nvPr/>
        </p:nvSpPr>
        <p:spPr>
          <a:xfrm>
            <a:off x="4160520" y="3063240"/>
            <a:ext cx="393192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H3C / 联想 / 华为，不低于 Z14 G2 / 10 台 / 预装国产系统</a:t>
            </a:r>
            <a:endParaRPr sz="900" b="0">
              <a:solidFill>
                <a:srgbClr val="252B36"/>
              </a:solidFill>
              <a:latin typeface="微软雅黑" panose="020B0503020204020204" charset="-122"/>
            </a:endParaRPr>
          </a:p>
        </p:txBody>
      </p:sp>
      <p:sp>
        <p:nvSpPr>
          <p:cNvPr id="26" name="Rectangle 25"/>
          <p:cNvSpPr/>
          <p:nvPr/>
        </p:nvSpPr>
        <p:spPr>
          <a:xfrm>
            <a:off x="8229600" y="3063240"/>
            <a:ext cx="352044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现场录入、审批、查询</a:t>
            </a:r>
            <a:endParaRPr sz="900" b="0">
              <a:solidFill>
                <a:srgbClr val="252B36"/>
              </a:solidFill>
              <a:latin typeface="微软雅黑" panose="020B0503020204020204" charset="-122"/>
            </a:endParaRPr>
          </a:p>
        </p:txBody>
      </p:sp>
      <p:sp>
        <p:nvSpPr>
          <p:cNvPr id="27" name="Rectangle 26"/>
          <p:cNvSpPr/>
          <p:nvPr/>
        </p:nvSpPr>
        <p:spPr>
          <a:xfrm>
            <a:off x="411480" y="3419856"/>
            <a:ext cx="9144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基础软件</a:t>
            </a:r>
            <a:endParaRPr sz="900" b="0">
              <a:solidFill>
                <a:srgbClr val="252B36"/>
              </a:solidFill>
              <a:latin typeface="微软雅黑" panose="020B0503020204020204" charset="-122"/>
            </a:endParaRPr>
          </a:p>
        </p:txBody>
      </p:sp>
      <p:sp>
        <p:nvSpPr>
          <p:cNvPr id="28" name="Rectangle 27"/>
          <p:cNvSpPr/>
          <p:nvPr/>
        </p:nvSpPr>
        <p:spPr>
          <a:xfrm>
            <a:off x="1508760" y="3419856"/>
            <a:ext cx="25146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服务器操作系统</a:t>
            </a:r>
            <a:endParaRPr sz="900" b="0">
              <a:solidFill>
                <a:srgbClr val="252B36"/>
              </a:solidFill>
              <a:latin typeface="微软雅黑" panose="020B0503020204020204" charset="-122"/>
            </a:endParaRPr>
          </a:p>
        </p:txBody>
      </p:sp>
      <p:sp>
        <p:nvSpPr>
          <p:cNvPr id="29" name="Rectangle 28"/>
          <p:cNvSpPr/>
          <p:nvPr/>
        </p:nvSpPr>
        <p:spPr>
          <a:xfrm>
            <a:off x="4160520" y="3419856"/>
            <a:ext cx="3931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银河麒麟 V10 / 4 套</a:t>
            </a:r>
            <a:endParaRPr sz="900" b="0">
              <a:solidFill>
                <a:srgbClr val="252B36"/>
              </a:solidFill>
              <a:latin typeface="微软雅黑" panose="020B0503020204020204" charset="-122"/>
            </a:endParaRPr>
          </a:p>
        </p:txBody>
      </p:sp>
      <p:sp>
        <p:nvSpPr>
          <p:cNvPr id="30" name="Rectangle 29"/>
          <p:cNvSpPr/>
          <p:nvPr/>
        </p:nvSpPr>
        <p:spPr>
          <a:xfrm>
            <a:off x="8229600" y="3419856"/>
            <a:ext cx="35204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适配全部服务器，保障稳定与国产化</a:t>
            </a:r>
            <a:endParaRPr sz="900" b="0">
              <a:solidFill>
                <a:srgbClr val="252B36"/>
              </a:solidFill>
              <a:latin typeface="微软雅黑" panose="020B0503020204020204" charset="-122"/>
            </a:endParaRPr>
          </a:p>
        </p:txBody>
      </p:sp>
      <p:sp>
        <p:nvSpPr>
          <p:cNvPr id="31" name="Rectangle 30"/>
          <p:cNvSpPr/>
          <p:nvPr/>
        </p:nvSpPr>
        <p:spPr>
          <a:xfrm>
            <a:off x="411480" y="3776472"/>
            <a:ext cx="91440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基础软件</a:t>
            </a:r>
            <a:endParaRPr sz="900" b="0">
              <a:solidFill>
                <a:srgbClr val="252B36"/>
              </a:solidFill>
              <a:latin typeface="微软雅黑" panose="020B0503020204020204" charset="-122"/>
            </a:endParaRPr>
          </a:p>
        </p:txBody>
      </p:sp>
      <p:sp>
        <p:nvSpPr>
          <p:cNvPr id="32" name="Rectangle 31"/>
          <p:cNvSpPr/>
          <p:nvPr/>
        </p:nvSpPr>
        <p:spPr>
          <a:xfrm>
            <a:off x="1508760" y="3776472"/>
            <a:ext cx="251460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终端操作系统</a:t>
            </a:r>
            <a:endParaRPr sz="900" b="0">
              <a:solidFill>
                <a:srgbClr val="252B36"/>
              </a:solidFill>
              <a:latin typeface="微软雅黑" panose="020B0503020204020204" charset="-122"/>
            </a:endParaRPr>
          </a:p>
        </p:txBody>
      </p:sp>
      <p:sp>
        <p:nvSpPr>
          <p:cNvPr id="33" name="Rectangle 32"/>
          <p:cNvSpPr/>
          <p:nvPr/>
        </p:nvSpPr>
        <p:spPr>
          <a:xfrm>
            <a:off x="4160520" y="3776472"/>
            <a:ext cx="393192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国产自主可控 / 10 套</a:t>
            </a:r>
            <a:endParaRPr sz="900" b="0">
              <a:solidFill>
                <a:srgbClr val="252B36"/>
              </a:solidFill>
              <a:latin typeface="微软雅黑" panose="020B0503020204020204" charset="-122"/>
            </a:endParaRPr>
          </a:p>
        </p:txBody>
      </p:sp>
      <p:sp>
        <p:nvSpPr>
          <p:cNvPr id="34" name="Rectangle 33"/>
          <p:cNvSpPr/>
          <p:nvPr/>
        </p:nvSpPr>
        <p:spPr>
          <a:xfrm>
            <a:off x="8229600" y="3776472"/>
            <a:ext cx="352044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适配客户端，满足国产化要求</a:t>
            </a:r>
            <a:endParaRPr sz="900" b="0">
              <a:solidFill>
                <a:srgbClr val="252B36"/>
              </a:solidFill>
              <a:latin typeface="微软雅黑" panose="020B0503020204020204" charset="-122"/>
            </a:endParaRPr>
          </a:p>
        </p:txBody>
      </p:sp>
      <p:sp>
        <p:nvSpPr>
          <p:cNvPr id="35" name="Rectangle 34"/>
          <p:cNvSpPr/>
          <p:nvPr/>
        </p:nvSpPr>
        <p:spPr>
          <a:xfrm>
            <a:off x="411480" y="4133087"/>
            <a:ext cx="9144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基础软件</a:t>
            </a:r>
            <a:endParaRPr sz="900" b="0">
              <a:solidFill>
                <a:srgbClr val="252B36"/>
              </a:solidFill>
              <a:latin typeface="微软雅黑" panose="020B0503020204020204" charset="-122"/>
            </a:endParaRPr>
          </a:p>
        </p:txBody>
      </p:sp>
      <p:sp>
        <p:nvSpPr>
          <p:cNvPr id="36" name="Rectangle 35"/>
          <p:cNvSpPr/>
          <p:nvPr/>
        </p:nvSpPr>
        <p:spPr>
          <a:xfrm>
            <a:off x="1508760" y="4133087"/>
            <a:ext cx="25146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达梦数据库 V8</a:t>
            </a:r>
            <a:endParaRPr sz="900" b="0">
              <a:solidFill>
                <a:srgbClr val="252B36"/>
              </a:solidFill>
              <a:latin typeface="微软雅黑" panose="020B0503020204020204" charset="-122"/>
            </a:endParaRPr>
          </a:p>
        </p:txBody>
      </p:sp>
      <p:sp>
        <p:nvSpPr>
          <p:cNvPr id="37" name="Rectangle 36"/>
          <p:cNvSpPr/>
          <p:nvPr/>
        </p:nvSpPr>
        <p:spPr>
          <a:xfrm>
            <a:off x="4160520" y="4133087"/>
            <a:ext cx="3931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2 套；连接数上限 1000；缓存 16GB；字符集 UTF8mb4</a:t>
            </a:r>
            <a:endParaRPr sz="900" b="0">
              <a:solidFill>
                <a:srgbClr val="252B36"/>
              </a:solidFill>
              <a:latin typeface="微软雅黑" panose="020B0503020204020204" charset="-122"/>
            </a:endParaRPr>
          </a:p>
        </p:txBody>
      </p:sp>
      <p:sp>
        <p:nvSpPr>
          <p:cNvPr id="38" name="Rectangle 37"/>
          <p:cNvSpPr/>
          <p:nvPr/>
        </p:nvSpPr>
        <p:spPr>
          <a:xfrm>
            <a:off x="8229600" y="4133087"/>
            <a:ext cx="35204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存储监造记录、问题、审批等核心数据</a:t>
            </a:r>
            <a:endParaRPr sz="900" b="0">
              <a:solidFill>
                <a:srgbClr val="252B36"/>
              </a:solidFill>
              <a:latin typeface="微软雅黑" panose="020B0503020204020204" charset="-122"/>
            </a:endParaRPr>
          </a:p>
        </p:txBody>
      </p:sp>
      <p:sp>
        <p:nvSpPr>
          <p:cNvPr id="39" name="Rectangle 38"/>
          <p:cNvSpPr/>
          <p:nvPr/>
        </p:nvSpPr>
        <p:spPr>
          <a:xfrm>
            <a:off x="411480" y="4489704"/>
            <a:ext cx="91440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基础软件</a:t>
            </a:r>
            <a:endParaRPr sz="900" b="0">
              <a:solidFill>
                <a:srgbClr val="252B36"/>
              </a:solidFill>
              <a:latin typeface="微软雅黑" panose="020B0503020204020204" charset="-122"/>
            </a:endParaRPr>
          </a:p>
        </p:txBody>
      </p:sp>
      <p:sp>
        <p:nvSpPr>
          <p:cNvPr id="40" name="Rectangle 39"/>
          <p:cNvSpPr/>
          <p:nvPr/>
        </p:nvSpPr>
        <p:spPr>
          <a:xfrm>
            <a:off x="1508760" y="4489704"/>
            <a:ext cx="251460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Redis 6.0</a:t>
            </a:r>
            <a:endParaRPr sz="900" b="0">
              <a:solidFill>
                <a:srgbClr val="252B36"/>
              </a:solidFill>
              <a:latin typeface="微软雅黑" panose="020B0503020204020204" charset="-122"/>
            </a:endParaRPr>
          </a:p>
        </p:txBody>
      </p:sp>
      <p:sp>
        <p:nvSpPr>
          <p:cNvPr id="41" name="Rectangle 40"/>
          <p:cNvSpPr/>
          <p:nvPr/>
        </p:nvSpPr>
        <p:spPr>
          <a:xfrm>
            <a:off x="4160520" y="4489704"/>
            <a:ext cx="393192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内存 8GB；RDB+AOF</a:t>
            </a:r>
            <a:endParaRPr sz="900" b="0">
              <a:solidFill>
                <a:srgbClr val="252B36"/>
              </a:solidFill>
              <a:latin typeface="微软雅黑" panose="020B0503020204020204" charset="-122"/>
            </a:endParaRPr>
          </a:p>
        </p:txBody>
      </p:sp>
      <p:sp>
        <p:nvSpPr>
          <p:cNvPr id="42" name="Rectangle 41"/>
          <p:cNvSpPr/>
          <p:nvPr/>
        </p:nvSpPr>
        <p:spPr>
          <a:xfrm>
            <a:off x="8229600" y="4489704"/>
            <a:ext cx="352044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高频访问数据秒级响应</a:t>
            </a:r>
            <a:endParaRPr sz="900" b="0">
              <a:solidFill>
                <a:srgbClr val="252B36"/>
              </a:solidFill>
              <a:latin typeface="微软雅黑" panose="020B0503020204020204" charset="-122"/>
            </a:endParaRPr>
          </a:p>
        </p:txBody>
      </p:sp>
      <p:sp>
        <p:nvSpPr>
          <p:cNvPr id="43" name="Rectangle 42"/>
          <p:cNvSpPr/>
          <p:nvPr/>
        </p:nvSpPr>
        <p:spPr>
          <a:xfrm>
            <a:off x="411480" y="4846320"/>
            <a:ext cx="9144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安全</a:t>
            </a:r>
            <a:endParaRPr sz="900" b="0">
              <a:solidFill>
                <a:srgbClr val="252B36"/>
              </a:solidFill>
              <a:latin typeface="微软雅黑" panose="020B0503020204020204" charset="-122"/>
            </a:endParaRPr>
          </a:p>
        </p:txBody>
      </p:sp>
      <p:sp>
        <p:nvSpPr>
          <p:cNvPr id="44" name="Rectangle 43"/>
          <p:cNvSpPr/>
          <p:nvPr/>
        </p:nvSpPr>
        <p:spPr>
          <a:xfrm>
            <a:off x="1508760" y="4846320"/>
            <a:ext cx="25146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安全服务</a:t>
            </a:r>
            <a:endParaRPr sz="900" b="0">
              <a:solidFill>
                <a:srgbClr val="252B36"/>
              </a:solidFill>
              <a:latin typeface="微软雅黑" panose="020B0503020204020204" charset="-122"/>
            </a:endParaRPr>
          </a:p>
        </p:txBody>
      </p:sp>
      <p:sp>
        <p:nvSpPr>
          <p:cNvPr id="45" name="Rectangle 44"/>
          <p:cNvSpPr/>
          <p:nvPr/>
        </p:nvSpPr>
        <p:spPr>
          <a:xfrm>
            <a:off x="4160520" y="4846320"/>
            <a:ext cx="3931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等保测评 + 第三方代码安全检测 + 漏洞扫描 / 1 套</a:t>
            </a:r>
            <a:endParaRPr sz="900" b="0">
              <a:solidFill>
                <a:srgbClr val="252B36"/>
              </a:solidFill>
              <a:latin typeface="微软雅黑" panose="020B0503020204020204" charset="-122"/>
            </a:endParaRPr>
          </a:p>
        </p:txBody>
      </p:sp>
      <p:sp>
        <p:nvSpPr>
          <p:cNvPr id="46" name="Rectangle 45"/>
          <p:cNvSpPr/>
          <p:nvPr/>
        </p:nvSpPr>
        <p:spPr>
          <a:xfrm>
            <a:off x="8229600" y="4846320"/>
            <a:ext cx="35204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满足网络安全要求</a:t>
            </a:r>
            <a:endParaRPr sz="900" b="0">
              <a:solidFill>
                <a:srgbClr val="252B36"/>
              </a:solidFill>
              <a:latin typeface="微软雅黑" panose="020B0503020204020204" charset="-122"/>
            </a:endParaRPr>
          </a:p>
        </p:txBody>
      </p:sp>
      <p:sp>
        <p:nvSpPr>
          <p:cNvPr id="47" name="Rectangle 46"/>
          <p:cNvSpPr/>
          <p:nvPr/>
        </p:nvSpPr>
        <p:spPr>
          <a:xfrm>
            <a:off x="411480" y="5202936"/>
            <a:ext cx="91440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安全</a:t>
            </a:r>
            <a:endParaRPr sz="900" b="0">
              <a:solidFill>
                <a:srgbClr val="252B36"/>
              </a:solidFill>
              <a:latin typeface="微软雅黑" panose="020B0503020204020204" charset="-122"/>
            </a:endParaRPr>
          </a:p>
        </p:txBody>
      </p:sp>
      <p:sp>
        <p:nvSpPr>
          <p:cNvPr id="48" name="Rectangle 47"/>
          <p:cNvSpPr/>
          <p:nvPr/>
        </p:nvSpPr>
        <p:spPr>
          <a:xfrm>
            <a:off x="1508760" y="5202936"/>
            <a:ext cx="251460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容灾备份</a:t>
            </a:r>
            <a:endParaRPr sz="900" b="0">
              <a:solidFill>
                <a:srgbClr val="252B36"/>
              </a:solidFill>
              <a:latin typeface="微软雅黑" panose="020B0503020204020204" charset="-122"/>
            </a:endParaRPr>
          </a:p>
        </p:txBody>
      </p:sp>
      <p:sp>
        <p:nvSpPr>
          <p:cNvPr id="49" name="Rectangle 48"/>
          <p:cNvSpPr/>
          <p:nvPr/>
        </p:nvSpPr>
        <p:spPr>
          <a:xfrm>
            <a:off x="4160520" y="5202936"/>
            <a:ext cx="393192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本地全量 + 异地增量 + DM DataGuard 主备切换</a:t>
            </a:r>
            <a:endParaRPr sz="900" b="0">
              <a:solidFill>
                <a:srgbClr val="252B36"/>
              </a:solidFill>
              <a:latin typeface="微软雅黑" panose="020B0503020204020204" charset="-122"/>
            </a:endParaRPr>
          </a:p>
        </p:txBody>
      </p:sp>
      <p:sp>
        <p:nvSpPr>
          <p:cNvPr id="50" name="Rectangle 49"/>
          <p:cNvSpPr/>
          <p:nvPr/>
        </p:nvSpPr>
        <p:spPr>
          <a:xfrm>
            <a:off x="8229600" y="5202936"/>
            <a:ext cx="3520440" cy="356616"/>
          </a:xfrm>
          <a:prstGeom prst="rect">
            <a:avLst/>
          </a:prstGeom>
          <a:solidFill>
            <a:srgbClr val="F9FBFE"/>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保障数据零丢失和业务连续性</a:t>
            </a:r>
            <a:endParaRPr sz="900" b="0">
              <a:solidFill>
                <a:srgbClr val="252B36"/>
              </a:solidFill>
              <a:latin typeface="微软雅黑" panose="020B0503020204020204" charset="-122"/>
            </a:endParaRPr>
          </a:p>
        </p:txBody>
      </p:sp>
      <p:sp>
        <p:nvSpPr>
          <p:cNvPr id="51" name="Rectangle 50"/>
          <p:cNvSpPr/>
          <p:nvPr/>
        </p:nvSpPr>
        <p:spPr>
          <a:xfrm>
            <a:off x="411480" y="5559552"/>
            <a:ext cx="9144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网络</a:t>
            </a:r>
            <a:endParaRPr sz="900" b="0">
              <a:solidFill>
                <a:srgbClr val="252B36"/>
              </a:solidFill>
              <a:latin typeface="微软雅黑" panose="020B0503020204020204" charset="-122"/>
            </a:endParaRPr>
          </a:p>
        </p:txBody>
      </p:sp>
      <p:sp>
        <p:nvSpPr>
          <p:cNvPr id="52" name="Rectangle 51"/>
          <p:cNvSpPr/>
          <p:nvPr/>
        </p:nvSpPr>
        <p:spPr>
          <a:xfrm>
            <a:off x="1508760" y="5559552"/>
            <a:ext cx="251460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防火墙 / VPN</a:t>
            </a:r>
            <a:endParaRPr sz="900" b="0">
              <a:solidFill>
                <a:srgbClr val="252B36"/>
              </a:solidFill>
              <a:latin typeface="微软雅黑" panose="020B0503020204020204" charset="-122"/>
            </a:endParaRPr>
          </a:p>
        </p:txBody>
      </p:sp>
      <p:sp>
        <p:nvSpPr>
          <p:cNvPr id="53" name="Rectangle 52"/>
          <p:cNvSpPr/>
          <p:nvPr/>
        </p:nvSpPr>
        <p:spPr>
          <a:xfrm>
            <a:off x="4160520" y="5559552"/>
            <a:ext cx="393192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开放 80/443/3306；办公 IP + VPN IP；IPSec VPN；三重认证</a:t>
            </a:r>
            <a:endParaRPr sz="900" b="0">
              <a:solidFill>
                <a:srgbClr val="252B36"/>
              </a:solidFill>
              <a:latin typeface="微软雅黑" panose="020B0503020204020204" charset="-122"/>
            </a:endParaRPr>
          </a:p>
        </p:txBody>
      </p:sp>
      <p:sp>
        <p:nvSpPr>
          <p:cNvPr id="54" name="Rectangle 53"/>
          <p:cNvSpPr/>
          <p:nvPr/>
        </p:nvSpPr>
        <p:spPr>
          <a:xfrm>
            <a:off x="8229600" y="5559552"/>
            <a:ext cx="3520440" cy="356616"/>
          </a:xfrm>
          <a:prstGeom prst="rect">
            <a:avLst/>
          </a:prstGeom>
          <a:solidFill>
            <a:srgbClr val="FFFFFF"/>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900" b="0">
                <a:solidFill>
                  <a:srgbClr val="252B36"/>
                </a:solidFill>
                <a:latin typeface="微软雅黑" panose="020B0503020204020204" charset="-122"/>
              </a:rPr>
              <a:t>边界防护与远程安全接入</a:t>
            </a:r>
            <a:endParaRPr sz="900" b="0">
              <a:solidFill>
                <a:srgbClr val="252B36"/>
              </a:solidFill>
              <a:latin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软硬件验收标准</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按硬件、基础软件、安全与保障、网络四类对象给出可落地的判定条件。</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34</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75DAD"/>
                </a:solidFill>
                <a:latin typeface="微软雅黑" panose="020B0503020204020204" charset="-122"/>
              </a:rPr>
              <a:t>本页核心：验收必须是可检查、可签字、可复核的标准，不是“差不多能用”。</a:t>
            </a:r>
            <a:endParaRPr sz="1250" b="0">
              <a:solidFill>
                <a:srgbClr val="275DAD"/>
              </a:solidFill>
              <a:latin typeface="微软雅黑" panose="020B0503020204020204" charset="-122"/>
            </a:endParaRPr>
          </a:p>
        </p:txBody>
      </p:sp>
      <p:sp>
        <p:nvSpPr>
          <p:cNvPr id="7" name="Rounded Rectangle 6"/>
          <p:cNvSpPr/>
          <p:nvPr/>
        </p:nvSpPr>
        <p:spPr>
          <a:xfrm>
            <a:off x="502920" y="1627632"/>
            <a:ext cx="5120640" cy="365760"/>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硬件设备</a:t>
            </a:r>
            <a:endParaRPr sz="1200" b="1">
              <a:solidFill>
                <a:srgbClr val="FFFFFF"/>
              </a:solidFill>
              <a:latin typeface="微软雅黑" panose="020B0503020204020204" charset="-122"/>
            </a:endParaRPr>
          </a:p>
        </p:txBody>
      </p:sp>
      <p:sp>
        <p:nvSpPr>
          <p:cNvPr id="8" name="Rounded Rectangle 7"/>
          <p:cNvSpPr/>
          <p:nvPr/>
        </p:nvSpPr>
        <p:spPr>
          <a:xfrm>
            <a:off x="502920" y="2011680"/>
            <a:ext cx="5120640" cy="1572768"/>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90" b="0">
                <a:solidFill>
                  <a:srgbClr val="252B36"/>
                </a:solidFill>
                <a:latin typeface="微软雅黑" panose="020B0503020204020204" charset="-122"/>
              </a:rPr>
              <a:t>• 服务器数量、CPU、内存、磁盘、操作系统版本与清单一致</a:t>
            </a:r>
            <a:endParaRPr sz="1090" b="0">
              <a:solidFill>
                <a:srgbClr val="252B36"/>
              </a:solidFill>
              <a:latin typeface="微软雅黑" panose="020B0503020204020204" charset="-122"/>
            </a:endParaRPr>
          </a:p>
          <a:p>
            <a:pPr algn="l">
              <a:spcAft>
                <a:spcPts val="200"/>
              </a:spcAft>
            </a:pPr>
            <a:r>
              <a:rPr sz="1090" b="0">
                <a:solidFill>
                  <a:srgbClr val="252B36"/>
                </a:solidFill>
                <a:latin typeface="微软雅黑" panose="020B0503020204020204" charset="-122"/>
              </a:rPr>
              <a:t>• 平台/中间件/领域服务器均可正常上电、联网、安装部署，无硬件故障告警</a:t>
            </a:r>
            <a:endParaRPr sz="1090" b="0">
              <a:solidFill>
                <a:srgbClr val="252B36"/>
              </a:solidFill>
              <a:latin typeface="微软雅黑" panose="020B0503020204020204" charset="-122"/>
            </a:endParaRPr>
          </a:p>
          <a:p>
            <a:pPr algn="l">
              <a:spcAft>
                <a:spcPts val="200"/>
              </a:spcAft>
            </a:pPr>
            <a:r>
              <a:rPr sz="1090" b="0">
                <a:solidFill>
                  <a:srgbClr val="252B36"/>
                </a:solidFill>
                <a:latin typeface="微软雅黑" panose="020B0503020204020204" charset="-122"/>
              </a:rPr>
              <a:t>• 客户端达到约定品牌和性能标准，可正常登录系统、录入数据、审批业务</a:t>
            </a:r>
            <a:endParaRPr sz="1090" b="0">
              <a:solidFill>
                <a:srgbClr val="252B36"/>
              </a:solidFill>
              <a:latin typeface="微软雅黑" panose="020B0503020204020204" charset="-122"/>
            </a:endParaRPr>
          </a:p>
        </p:txBody>
      </p:sp>
      <p:sp>
        <p:nvSpPr>
          <p:cNvPr id="9" name="Rounded Rectangle 8"/>
          <p:cNvSpPr/>
          <p:nvPr/>
        </p:nvSpPr>
        <p:spPr>
          <a:xfrm>
            <a:off x="5989320" y="1627632"/>
            <a:ext cx="5120640" cy="365760"/>
          </a:xfrm>
          <a:prstGeom prst="roundRect">
            <a:avLst/>
          </a:prstGeom>
          <a:solidFill>
            <a:srgbClr val="108CBA"/>
          </a:solidFill>
          <a:ln w="12700">
            <a:solidFill>
              <a:srgbClr val="108CB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基础软件</a:t>
            </a:r>
            <a:endParaRPr sz="1200" b="1">
              <a:solidFill>
                <a:srgbClr val="FFFFFF"/>
              </a:solidFill>
              <a:latin typeface="微软雅黑" panose="020B0503020204020204" charset="-122"/>
            </a:endParaRPr>
          </a:p>
        </p:txBody>
      </p:sp>
      <p:sp>
        <p:nvSpPr>
          <p:cNvPr id="10" name="Rounded Rectangle 9"/>
          <p:cNvSpPr/>
          <p:nvPr/>
        </p:nvSpPr>
        <p:spPr>
          <a:xfrm>
            <a:off x="5989320" y="2011680"/>
            <a:ext cx="5120640" cy="1572768"/>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90" b="0">
                <a:solidFill>
                  <a:srgbClr val="252B36"/>
                </a:solidFill>
                <a:latin typeface="微软雅黑" panose="020B0503020204020204" charset="-122"/>
              </a:rPr>
              <a:t>• 银河麒麟 V10、终端国产操作系统按清单安装完成，兼容客户端与服务器硬件</a:t>
            </a:r>
            <a:endParaRPr sz="1090" b="0">
              <a:solidFill>
                <a:srgbClr val="252B36"/>
              </a:solidFill>
              <a:latin typeface="微软雅黑" panose="020B0503020204020204" charset="-122"/>
            </a:endParaRPr>
          </a:p>
          <a:p>
            <a:pPr algn="l">
              <a:spcAft>
                <a:spcPts val="200"/>
              </a:spcAft>
            </a:pPr>
            <a:r>
              <a:rPr sz="1090" b="0">
                <a:solidFill>
                  <a:srgbClr val="252B36"/>
                </a:solidFill>
                <a:latin typeface="微软雅黑" panose="020B0503020204020204" charset="-122"/>
              </a:rPr>
              <a:t>• 达梦数据库 V8 安装成功，连接、读写、备份恢复均正常；Redis 工作正常</a:t>
            </a:r>
            <a:endParaRPr sz="1090" b="0">
              <a:solidFill>
                <a:srgbClr val="252B36"/>
              </a:solidFill>
              <a:latin typeface="微软雅黑" panose="020B0503020204020204" charset="-122"/>
            </a:endParaRPr>
          </a:p>
          <a:p>
            <a:pPr algn="l">
              <a:spcAft>
                <a:spcPts val="200"/>
              </a:spcAft>
            </a:pPr>
            <a:r>
              <a:rPr sz="1090" b="0">
                <a:solidFill>
                  <a:srgbClr val="252B36"/>
                </a:solidFill>
                <a:latin typeface="微软雅黑" panose="020B0503020204020204" charset="-122"/>
              </a:rPr>
              <a:t>• 应用系统关键流程跑通，数据库、缓存、中间件、应用之间联通稳定</a:t>
            </a:r>
            <a:endParaRPr sz="1090" b="0">
              <a:solidFill>
                <a:srgbClr val="252B36"/>
              </a:solidFill>
              <a:latin typeface="微软雅黑" panose="020B0503020204020204" charset="-122"/>
            </a:endParaRPr>
          </a:p>
        </p:txBody>
      </p:sp>
      <p:sp>
        <p:nvSpPr>
          <p:cNvPr id="11" name="Rounded Rectangle 10"/>
          <p:cNvSpPr/>
          <p:nvPr/>
        </p:nvSpPr>
        <p:spPr>
          <a:xfrm>
            <a:off x="502920" y="3767328"/>
            <a:ext cx="5120640" cy="365760"/>
          </a:xfrm>
          <a:prstGeom prst="roundRect">
            <a:avLst/>
          </a:prstGeom>
          <a:solidFill>
            <a:srgbClr val="228057"/>
          </a:solidFill>
          <a:ln w="12700">
            <a:solidFill>
              <a:srgbClr val="22805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安全与保障服务</a:t>
            </a:r>
            <a:endParaRPr sz="1200" b="1">
              <a:solidFill>
                <a:srgbClr val="FFFFFF"/>
              </a:solidFill>
              <a:latin typeface="微软雅黑" panose="020B0503020204020204" charset="-122"/>
            </a:endParaRPr>
          </a:p>
        </p:txBody>
      </p:sp>
      <p:sp>
        <p:nvSpPr>
          <p:cNvPr id="12" name="Rounded Rectangle 11"/>
          <p:cNvSpPr/>
          <p:nvPr/>
        </p:nvSpPr>
        <p:spPr>
          <a:xfrm>
            <a:off x="502920" y="4151376"/>
            <a:ext cx="5120640" cy="1572768"/>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90" b="0">
                <a:solidFill>
                  <a:srgbClr val="252B36"/>
                </a:solidFill>
                <a:latin typeface="微软雅黑" panose="020B0503020204020204" charset="-122"/>
              </a:rPr>
              <a:t>• 等保测评、代码安全检测、漏洞扫描报告齐全，问题清单有整改闭环记录</a:t>
            </a:r>
            <a:endParaRPr sz="1090" b="0">
              <a:solidFill>
                <a:srgbClr val="252B36"/>
              </a:solidFill>
              <a:latin typeface="微软雅黑" panose="020B0503020204020204" charset="-122"/>
            </a:endParaRPr>
          </a:p>
          <a:p>
            <a:pPr algn="l">
              <a:spcAft>
                <a:spcPts val="200"/>
              </a:spcAft>
            </a:pPr>
            <a:r>
              <a:rPr sz="1090" b="0">
                <a:solidFill>
                  <a:srgbClr val="252B36"/>
                </a:solidFill>
                <a:latin typeface="微软雅黑" panose="020B0503020204020204" charset="-122"/>
              </a:rPr>
              <a:t>• 本地全量、异地增量备份可执行；主备切换演练通过，恢复时效满足方案要求</a:t>
            </a:r>
            <a:endParaRPr sz="1090" b="0">
              <a:solidFill>
                <a:srgbClr val="252B36"/>
              </a:solidFill>
              <a:latin typeface="微软雅黑" panose="020B0503020204020204" charset="-122"/>
            </a:endParaRPr>
          </a:p>
          <a:p>
            <a:pPr algn="l">
              <a:spcAft>
                <a:spcPts val="200"/>
              </a:spcAft>
            </a:pPr>
            <a:r>
              <a:rPr sz="1090" b="0">
                <a:solidFill>
                  <a:srgbClr val="252B36"/>
                </a:solidFill>
                <a:latin typeface="微软雅黑" panose="020B0503020204020204" charset="-122"/>
              </a:rPr>
              <a:t>• 高风险问题清零或经甲方书面确认处理方案后方可上线</a:t>
            </a:r>
            <a:endParaRPr sz="1090" b="0">
              <a:solidFill>
                <a:srgbClr val="252B36"/>
              </a:solidFill>
              <a:latin typeface="微软雅黑" panose="020B0503020204020204" charset="-122"/>
            </a:endParaRPr>
          </a:p>
        </p:txBody>
      </p:sp>
      <p:sp>
        <p:nvSpPr>
          <p:cNvPr id="13" name="Rounded Rectangle 12"/>
          <p:cNvSpPr/>
          <p:nvPr/>
        </p:nvSpPr>
        <p:spPr>
          <a:xfrm>
            <a:off x="5989320" y="3767328"/>
            <a:ext cx="5120640" cy="365760"/>
          </a:xfrm>
          <a:prstGeom prst="roundRect">
            <a:avLst/>
          </a:prstGeom>
          <a:solidFill>
            <a:srgbClr val="A97117"/>
          </a:solidFill>
          <a:ln w="12700">
            <a:solidFill>
              <a:srgbClr val="A9711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网络接入方案</a:t>
            </a:r>
            <a:endParaRPr sz="1200" b="1">
              <a:solidFill>
                <a:srgbClr val="FFFFFF"/>
              </a:solidFill>
              <a:latin typeface="微软雅黑" panose="020B0503020204020204" charset="-122"/>
            </a:endParaRPr>
          </a:p>
        </p:txBody>
      </p:sp>
      <p:sp>
        <p:nvSpPr>
          <p:cNvPr id="14" name="Rounded Rectangle 13"/>
          <p:cNvSpPr/>
          <p:nvPr/>
        </p:nvSpPr>
        <p:spPr>
          <a:xfrm>
            <a:off x="5989320" y="4151376"/>
            <a:ext cx="5120640" cy="1572768"/>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090" b="0">
                <a:solidFill>
                  <a:srgbClr val="252B36"/>
                </a:solidFill>
                <a:latin typeface="微软雅黑" panose="020B0503020204020204" charset="-122"/>
              </a:rPr>
              <a:t>• 防火墙已按要求仅开放必要端口，办公 IP 与 VPN 接入策略生效</a:t>
            </a:r>
            <a:endParaRPr sz="1090" b="0">
              <a:solidFill>
                <a:srgbClr val="252B36"/>
              </a:solidFill>
              <a:latin typeface="微软雅黑" panose="020B0503020204020204" charset="-122"/>
            </a:endParaRPr>
          </a:p>
          <a:p>
            <a:pPr algn="l">
              <a:spcAft>
                <a:spcPts val="200"/>
              </a:spcAft>
            </a:pPr>
            <a:r>
              <a:rPr sz="1090" b="0">
                <a:solidFill>
                  <a:srgbClr val="252B36"/>
                </a:solidFill>
                <a:latin typeface="微软雅黑" panose="020B0503020204020204" charset="-122"/>
              </a:rPr>
              <a:t>• IPSec VPN 可从电脑/手机客户端接入，账号+密码+动态令牌认证有效</a:t>
            </a:r>
            <a:endParaRPr sz="1090" b="0">
              <a:solidFill>
                <a:srgbClr val="252B36"/>
              </a:solidFill>
              <a:latin typeface="微软雅黑" panose="020B0503020204020204" charset="-122"/>
            </a:endParaRPr>
          </a:p>
          <a:p>
            <a:pPr algn="l">
              <a:spcAft>
                <a:spcPts val="200"/>
              </a:spcAft>
            </a:pPr>
            <a:r>
              <a:rPr sz="1090" b="0">
                <a:solidFill>
                  <a:srgbClr val="252B36"/>
                </a:solidFill>
                <a:latin typeface="微软雅黑" panose="020B0503020204020204" charset="-122"/>
              </a:rPr>
              <a:t>• 单账号同时在线设备限制、生效日志和远程访问稳定性均符合设计要求</a:t>
            </a:r>
            <a:endParaRPr sz="1090" b="0">
              <a:solidFill>
                <a:srgbClr val="252B36"/>
              </a:solidFill>
              <a:latin typeface="微软雅黑" panose="020B0503020204020204" charset="-122"/>
            </a:endParaRPr>
          </a:p>
        </p:txBody>
      </p:sp>
      <p:sp>
        <p:nvSpPr>
          <p:cNvPr id="15" name="Rounded Rectangle 14"/>
          <p:cNvSpPr/>
          <p:nvPr/>
        </p:nvSpPr>
        <p:spPr>
          <a:xfrm>
            <a:off x="502920" y="5870448"/>
            <a:ext cx="11109960" cy="384048"/>
          </a:xfrm>
          <a:prstGeom prst="roundRect">
            <a:avLst/>
          </a:prstGeom>
          <a:solidFill>
            <a:srgbClr val="F4F7FC"/>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50" b="0">
                <a:solidFill>
                  <a:srgbClr val="122D57"/>
                </a:solidFill>
                <a:latin typeface="微软雅黑" panose="020B0503020204020204" charset="-122"/>
              </a:rPr>
              <a:t>验收闭环建议：到货验收 → 安装验收 → 联调验收 → 业务验收 → 安全验收 → 交付签字。</a:t>
            </a:r>
            <a:endParaRPr sz="1150" b="0">
              <a:solidFill>
                <a:srgbClr val="122D57"/>
              </a:solidFill>
              <a:latin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二期规划说明</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防造假管理、数据信息资源库及 AI 识别功能继续明确放在二期，不纳入一期上线范围。</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35</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B03737"/>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B03737"/>
                </a:solidFill>
                <a:latin typeface="微软雅黑" panose="020B0503020204020204" charset="-122"/>
              </a:rPr>
              <a:t>本页核心：二期不是不做，而是要建立在一期主链跑通、真实数据沉淀和底座稳定的前提下再做。</a:t>
            </a:r>
            <a:endParaRPr sz="1250" b="0">
              <a:solidFill>
                <a:srgbClr val="B03737"/>
              </a:solidFill>
              <a:latin typeface="微软雅黑" panose="020B0503020204020204" charset="-122"/>
            </a:endParaRPr>
          </a:p>
        </p:txBody>
      </p:sp>
      <p:sp>
        <p:nvSpPr>
          <p:cNvPr id="7" name="Rounded Rectangle 6"/>
          <p:cNvSpPr/>
          <p:nvPr/>
        </p:nvSpPr>
        <p:spPr>
          <a:xfrm>
            <a:off x="502920" y="1627632"/>
            <a:ext cx="5303520" cy="310896"/>
          </a:xfrm>
          <a:prstGeom prst="roundRect">
            <a:avLst/>
          </a:prstGeom>
          <a:solidFill>
            <a:srgbClr val="B03737"/>
          </a:solidFill>
          <a:ln w="12700">
            <a:solidFill>
              <a:srgbClr val="B0373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二期模块</a:t>
            </a:r>
            <a:endParaRPr sz="1200" b="1">
              <a:solidFill>
                <a:srgbClr val="FFFFFF"/>
              </a:solidFill>
              <a:latin typeface="微软雅黑" panose="020B0503020204020204" charset="-122"/>
            </a:endParaRPr>
          </a:p>
        </p:txBody>
      </p:sp>
      <p:sp>
        <p:nvSpPr>
          <p:cNvPr id="8" name="Rounded Rectangle 7"/>
          <p:cNvSpPr/>
          <p:nvPr/>
        </p:nvSpPr>
        <p:spPr>
          <a:xfrm>
            <a:off x="502920" y="2011680"/>
            <a:ext cx="5303520" cy="20116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0">
                <a:solidFill>
                  <a:srgbClr val="252B36"/>
                </a:solidFill>
                <a:latin typeface="微软雅黑" panose="020B0503020204020204" charset="-122"/>
              </a:rPr>
              <a:t>• 防造假管理：聚焦原材料质量证明书、第三方复验报告、仪器仪表检定校准证书的真实性核验，覆盖签字比对、印章识别、二维码扫描三类能力。</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数据信息资源库及 AI 识别功能：收录法律法规要求、国家技术标准、质量体系要求等数据，并对接第三方工具做知识联查和识别增强。</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原需求已给出方向：建议在平台上线运行后再建立签字、印章管理库并接入资源库 / AI 能力。</a:t>
            </a:r>
            <a:endParaRPr sz="1100" b="0">
              <a:solidFill>
                <a:srgbClr val="252B36"/>
              </a:solidFill>
              <a:latin typeface="微软雅黑" panose="020B0503020204020204" charset="-122"/>
            </a:endParaRPr>
          </a:p>
        </p:txBody>
      </p:sp>
      <p:sp>
        <p:nvSpPr>
          <p:cNvPr id="9" name="Rounded Rectangle 8"/>
          <p:cNvSpPr/>
          <p:nvPr/>
        </p:nvSpPr>
        <p:spPr>
          <a:xfrm>
            <a:off x="5989320" y="1627632"/>
            <a:ext cx="5623560" cy="310896"/>
          </a:xfrm>
          <a:prstGeom prst="round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放到二期的 3 条核心原因</a:t>
            </a:r>
            <a:endParaRPr sz="1200" b="1">
              <a:solidFill>
                <a:srgbClr val="FFFFFF"/>
              </a:solidFill>
              <a:latin typeface="微软雅黑" panose="020B0503020204020204" charset="-122"/>
            </a:endParaRPr>
          </a:p>
        </p:txBody>
      </p:sp>
      <p:sp>
        <p:nvSpPr>
          <p:cNvPr id="10" name="Rounded Rectangle 9"/>
          <p:cNvSpPr/>
          <p:nvPr/>
        </p:nvSpPr>
        <p:spPr>
          <a:xfrm>
            <a:off x="5989320" y="2011680"/>
            <a:ext cx="5623560" cy="201168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0">
                <a:solidFill>
                  <a:srgbClr val="252B36"/>
                </a:solidFill>
                <a:latin typeface="微软雅黑" panose="020B0503020204020204" charset="-122"/>
              </a:rPr>
              <a:t>• 一期优先级：先把“基础建模→执行准备→监督执行→交付收口”主业务链闭环跑通，确保 15 个主链模块和 10 个一期支撑模块真正可用。</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数据基础：AI 识别和防造假依赖一期沉淀的大量真实文件模板、质量记录、验收单据、放行单、法规标准等数据；无真实数据支撑，能力很容易流于展示。</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成本与风险控制：先验证核心业务流程的适配性，二期再基于运行反馈优化识别逻辑，并直接复用一期软硬件底座，避免重复投入。</a:t>
            </a:r>
            <a:endParaRPr sz="1100" b="0">
              <a:solidFill>
                <a:srgbClr val="252B36"/>
              </a:solidFill>
              <a:latin typeface="微软雅黑" panose="020B0503020204020204" charset="-122"/>
            </a:endParaRPr>
          </a:p>
        </p:txBody>
      </p:sp>
      <p:sp>
        <p:nvSpPr>
          <p:cNvPr id="11" name="Rounded Rectangle 10"/>
          <p:cNvSpPr/>
          <p:nvPr/>
        </p:nvSpPr>
        <p:spPr>
          <a:xfrm>
            <a:off x="502920" y="4315968"/>
            <a:ext cx="11109960" cy="310896"/>
          </a:xfrm>
          <a:prstGeom prst="roundRect">
            <a:avLst/>
          </a:prstGeom>
          <a:solidFill>
            <a:srgbClr val="5C667A"/>
          </a:solidFill>
          <a:ln w="12700">
            <a:solidFill>
              <a:srgbClr val="5C667A"/>
            </a:solidFill>
          </a:ln>
        </p:spPr>
        <p:style>
          <a:lnRef idx="1">
            <a:schemeClr val="accent1"/>
          </a:lnRef>
          <a:fillRef idx="3">
            <a:schemeClr val="accent1"/>
          </a:fillRef>
          <a:effectRef idx="2">
            <a:schemeClr val="accent1"/>
          </a:effectRef>
          <a:fontRef idx="minor">
            <a:schemeClr val="lt1"/>
          </a:fontRef>
        </p:style>
        <p:txBody>
          <a:bodyPr wrap="square" lIns="54864" tIns="27432" rIns="36576" bIns="27432" rtlCol="0" anchor="ctr"/>
          <a:lstStyle/>
          <a:p>
            <a:pPr algn="l">
              <a:spcAft>
                <a:spcPts val="200"/>
              </a:spcAft>
            </a:pPr>
            <a:r>
              <a:rPr sz="1200" b="1">
                <a:solidFill>
                  <a:srgbClr val="FFFFFF"/>
                </a:solidFill>
                <a:latin typeface="微软雅黑" panose="020B0503020204020204" charset="-122"/>
              </a:rPr>
              <a:t>二期价值前置说明</a:t>
            </a:r>
            <a:endParaRPr sz="1200" b="1">
              <a:solidFill>
                <a:srgbClr val="FFFFFF"/>
              </a:solidFill>
              <a:latin typeface="微软雅黑" panose="020B0503020204020204" charset="-122"/>
            </a:endParaRPr>
          </a:p>
        </p:txBody>
      </p:sp>
      <p:sp>
        <p:nvSpPr>
          <p:cNvPr id="12" name="Rounded Rectangle 11"/>
          <p:cNvSpPr/>
          <p:nvPr/>
        </p:nvSpPr>
        <p:spPr>
          <a:xfrm>
            <a:off x="502920" y="4700016"/>
            <a:ext cx="11109960" cy="135331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00" b="0">
                <a:solidFill>
                  <a:srgbClr val="252B36"/>
                </a:solidFill>
                <a:latin typeface="微软雅黑" panose="020B0503020204020204" charset="-122"/>
              </a:rPr>
              <a:t>• 一期上线后，平台将沉淀签字样本、印章模板、二维码备案字段、质量证明文件版式、检测报告字段、验收/放行记录等真实业务数据。</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二期在此基础上接入防造假和资源库 / AI 识别功能，优先做“自动初筛 + 人工复核”，减少人工逐份核验工作，缩短文件审核与标准查询时间。</a:t>
            </a:r>
            <a:endParaRPr sz="1100" b="0">
              <a:solidFill>
                <a:srgbClr val="252B36"/>
              </a:solidFill>
              <a:latin typeface="微软雅黑" panose="020B0503020204020204" charset="-122"/>
            </a:endParaRPr>
          </a:p>
          <a:p>
            <a:pPr algn="l">
              <a:spcAft>
                <a:spcPts val="200"/>
              </a:spcAft>
            </a:pPr>
            <a:r>
              <a:rPr sz="1100" b="0">
                <a:solidFill>
                  <a:srgbClr val="252B36"/>
                </a:solidFill>
                <a:latin typeface="微软雅黑" panose="020B0503020204020204" charset="-122"/>
              </a:rPr>
              <a:t>• 换句话说：二期价值很明确，但必须建立在一期真实运行和数据标准化基础之上，不能脱离一期单独硬上。</a:t>
            </a:r>
            <a:endParaRPr sz="1100" b="0">
              <a:solidFill>
                <a:srgbClr val="252B36"/>
              </a:solidFill>
              <a:latin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21792"/>
          </a:xfrm>
          <a:prstGeom prst="rect">
            <a:avLst/>
          </a:prstGeom>
          <a:solidFill>
            <a:srgbClr val="122D57"/>
          </a:solidFill>
          <a:ln w="12700">
            <a:solidFill>
              <a:srgbClr val="122D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9784080" cy="384048"/>
          </a:xfrm>
          <a:prstGeom prst="rect">
            <a:avLst/>
          </a:prstGeom>
          <a:noFill/>
        </p:spPr>
        <p:txBody>
          <a:bodyPr wrap="square" lIns="73152" rIns="73152" anchor="ctr">
            <a:spAutoFit/>
          </a:bodyPr>
          <a:lstStyle/>
          <a:p>
            <a:pPr algn="l">
              <a:spcAft>
                <a:spcPts val="200"/>
              </a:spcAft>
            </a:pPr>
            <a:r>
              <a:rPr sz="2400" b="1">
                <a:solidFill>
                  <a:srgbClr val="FFFFFF"/>
                </a:solidFill>
                <a:latin typeface="微软雅黑" panose="020B0503020204020204" charset="-122"/>
              </a:rPr>
              <a:t>汇报收口</a:t>
            </a:r>
            <a:endParaRPr sz="2400" b="1">
              <a:solidFill>
                <a:srgbClr val="FFFFFF"/>
              </a:solidFill>
              <a:latin typeface="微软雅黑" panose="020B0503020204020204" charset="-122"/>
            </a:endParaRPr>
          </a:p>
        </p:txBody>
      </p:sp>
      <p:sp>
        <p:nvSpPr>
          <p:cNvPr id="4" name="TextBox 3"/>
          <p:cNvSpPr txBox="1"/>
          <p:nvPr/>
        </p:nvSpPr>
        <p:spPr>
          <a:xfrm>
            <a:off x="502920" y="704088"/>
            <a:ext cx="10607040" cy="292608"/>
          </a:xfrm>
          <a:prstGeom prst="rect">
            <a:avLst/>
          </a:prstGeom>
          <a:noFill/>
        </p:spPr>
        <p:txBody>
          <a:bodyPr wrap="square" lIns="73152" rIns="73152" anchor="t">
            <a:spAutoFit/>
          </a:bodyPr>
          <a:lstStyle/>
          <a:p>
            <a:pPr algn="l">
              <a:spcAft>
                <a:spcPts val="200"/>
              </a:spcAft>
            </a:pPr>
            <a:r>
              <a:rPr sz="1180" b="0">
                <a:solidFill>
                  <a:srgbClr val="636C7C"/>
                </a:solidFill>
                <a:latin typeface="微软雅黑" panose="020B0503020204020204" charset="-122"/>
              </a:rPr>
              <a:t>把主链、支撑、SOP、软硬件和二期口径收成三句结论，便于甲方做决策。</a:t>
            </a:r>
            <a:endParaRPr sz="1180" b="0">
              <a:solidFill>
                <a:srgbClr val="636C7C"/>
              </a:solidFill>
              <a:latin typeface="微软雅黑" panose="020B0503020204020204" charset="-122"/>
            </a:endParaRPr>
          </a:p>
        </p:txBody>
      </p:sp>
      <p:sp>
        <p:nvSpPr>
          <p:cNvPr id="5" name="Rounded Rectangle 4"/>
          <p:cNvSpPr/>
          <p:nvPr/>
        </p:nvSpPr>
        <p:spPr>
          <a:xfrm>
            <a:off x="11292840" y="109728"/>
            <a:ext cx="502920" cy="329184"/>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200"/>
              </a:spcAft>
            </a:pPr>
            <a:r>
              <a:rPr sz="1300" b="1">
                <a:solidFill>
                  <a:srgbClr val="FFFFFF"/>
                </a:solidFill>
                <a:latin typeface="微软雅黑" panose="020B0503020204020204" charset="-122"/>
              </a:rPr>
              <a:t>36</a:t>
            </a:r>
            <a:endParaRPr sz="1300" b="1">
              <a:solidFill>
                <a:srgbClr val="FFFFFF"/>
              </a:solidFill>
              <a:latin typeface="微软雅黑" panose="020B0503020204020204" charset="-122"/>
            </a:endParaRPr>
          </a:p>
        </p:txBody>
      </p:sp>
      <p:sp>
        <p:nvSpPr>
          <p:cNvPr id="6" name="Rounded Rectangle 5"/>
          <p:cNvSpPr/>
          <p:nvPr/>
        </p:nvSpPr>
        <p:spPr>
          <a:xfrm>
            <a:off x="502920" y="932688"/>
            <a:ext cx="11109960" cy="384048"/>
          </a:xfrm>
          <a:prstGeom prst="roundRect">
            <a:avLst/>
          </a:prstGeom>
          <a:solidFill>
            <a:srgbClr val="F4F7FC"/>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250" b="0">
                <a:solidFill>
                  <a:srgbClr val="275DAD"/>
                </a:solidFill>
                <a:latin typeface="微软雅黑" panose="020B0503020204020204" charset="-122"/>
              </a:rPr>
              <a:t>本页核心：这版 V4 的目的不是“介绍系统”，而是让甲方清楚知道一期做什么、怎么做、需要什么条件、为什么这样分期。</a:t>
            </a:r>
            <a:endParaRPr sz="1250" b="0">
              <a:solidFill>
                <a:srgbClr val="275DAD"/>
              </a:solidFill>
              <a:latin typeface="微软雅黑" panose="020B0503020204020204" charset="-122"/>
            </a:endParaRPr>
          </a:p>
        </p:txBody>
      </p:sp>
      <p:sp>
        <p:nvSpPr>
          <p:cNvPr id="7" name="Rounded Rectangle 6"/>
          <p:cNvSpPr/>
          <p:nvPr/>
        </p:nvSpPr>
        <p:spPr>
          <a:xfrm>
            <a:off x="777240" y="1737360"/>
            <a:ext cx="1965960" cy="384048"/>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业务闭环已讲清</a:t>
            </a:r>
            <a:endParaRPr sz="1200" b="1">
              <a:solidFill>
                <a:srgbClr val="FFFFFF"/>
              </a:solidFill>
              <a:latin typeface="微软雅黑" panose="020B0503020204020204" charset="-122"/>
            </a:endParaRPr>
          </a:p>
        </p:txBody>
      </p:sp>
      <p:sp>
        <p:nvSpPr>
          <p:cNvPr id="8" name="Rounded Rectangle 7"/>
          <p:cNvSpPr/>
          <p:nvPr/>
        </p:nvSpPr>
        <p:spPr>
          <a:xfrm>
            <a:off x="2907792" y="1737360"/>
            <a:ext cx="8229600" cy="566928"/>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40" b="0">
                <a:solidFill>
                  <a:srgbClr val="252B36"/>
                </a:solidFill>
                <a:latin typeface="微软雅黑" panose="020B0503020204020204" charset="-122"/>
              </a:rPr>
              <a:t>15 个主链模块已按业务先后和模块关系逐页拆开，流程图、按钮、角色、规则都回到原始需求。</a:t>
            </a:r>
            <a:endParaRPr sz="1140" b="0">
              <a:solidFill>
                <a:srgbClr val="252B36"/>
              </a:solidFill>
              <a:latin typeface="微软雅黑" panose="020B0503020204020204" charset="-122"/>
            </a:endParaRPr>
          </a:p>
        </p:txBody>
      </p:sp>
      <p:sp>
        <p:nvSpPr>
          <p:cNvPr id="9" name="Rounded Rectangle 8"/>
          <p:cNvSpPr/>
          <p:nvPr/>
        </p:nvSpPr>
        <p:spPr>
          <a:xfrm>
            <a:off x="777240" y="2761488"/>
            <a:ext cx="1965960" cy="384048"/>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项目落地路径已讲清</a:t>
            </a:r>
            <a:endParaRPr sz="1200" b="1">
              <a:solidFill>
                <a:srgbClr val="FFFFFF"/>
              </a:solidFill>
              <a:latin typeface="微软雅黑" panose="020B0503020204020204" charset="-122"/>
            </a:endParaRPr>
          </a:p>
        </p:txBody>
      </p:sp>
      <p:sp>
        <p:nvSpPr>
          <p:cNvPr id="10" name="Rounded Rectangle 9"/>
          <p:cNvSpPr/>
          <p:nvPr/>
        </p:nvSpPr>
        <p:spPr>
          <a:xfrm>
            <a:off x="2907792" y="2761488"/>
            <a:ext cx="8229600" cy="566928"/>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40" b="0">
                <a:solidFill>
                  <a:srgbClr val="252B36"/>
                </a:solidFill>
                <a:latin typeface="微软雅黑" panose="020B0503020204020204" charset="-122"/>
              </a:rPr>
              <a:t>开发 SOP 明确了建议周期、主责、配合、动作、输出物和 Gate，不再只列阶段名。</a:t>
            </a:r>
            <a:endParaRPr sz="1140" b="0">
              <a:solidFill>
                <a:srgbClr val="252B36"/>
              </a:solidFill>
              <a:latin typeface="微软雅黑" panose="020B0503020204020204" charset="-122"/>
            </a:endParaRPr>
          </a:p>
        </p:txBody>
      </p:sp>
      <p:sp>
        <p:nvSpPr>
          <p:cNvPr id="11" name="Rounded Rectangle 10"/>
          <p:cNvSpPr/>
          <p:nvPr/>
        </p:nvSpPr>
        <p:spPr>
          <a:xfrm>
            <a:off x="777240" y="3785616"/>
            <a:ext cx="1965960" cy="384048"/>
          </a:xfrm>
          <a:prstGeom prst="roundRect">
            <a:avLst/>
          </a:prstGeom>
          <a:solidFill>
            <a:srgbClr val="275DAD"/>
          </a:solidFill>
          <a:ln w="12700">
            <a:solidFill>
              <a:srgbClr val="275DAD"/>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200"/>
              </a:spcAft>
            </a:pPr>
            <a:r>
              <a:rPr sz="1200" b="1">
                <a:solidFill>
                  <a:srgbClr val="FFFFFF"/>
                </a:solidFill>
                <a:latin typeface="微软雅黑" panose="020B0503020204020204" charset="-122"/>
              </a:rPr>
              <a:t>交付条件已讲清</a:t>
            </a:r>
            <a:endParaRPr sz="1200" b="1">
              <a:solidFill>
                <a:srgbClr val="FFFFFF"/>
              </a:solidFill>
              <a:latin typeface="微软雅黑" panose="020B0503020204020204" charset="-122"/>
            </a:endParaRPr>
          </a:p>
        </p:txBody>
      </p:sp>
      <p:sp>
        <p:nvSpPr>
          <p:cNvPr id="12" name="Rounded Rectangle 11"/>
          <p:cNvSpPr/>
          <p:nvPr/>
        </p:nvSpPr>
        <p:spPr>
          <a:xfrm>
            <a:off x="2907792" y="3785616"/>
            <a:ext cx="8229600" cy="566928"/>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40" b="0">
                <a:solidFill>
                  <a:srgbClr val="252B36"/>
                </a:solidFill>
                <a:latin typeface="微软雅黑" panose="020B0503020204020204" charset="-122"/>
              </a:rPr>
              <a:t>软硬件入场时机、配置矩阵、验收标准直接对应硬件清单，二期范围也已明确收口。</a:t>
            </a:r>
            <a:endParaRPr sz="1140" b="0">
              <a:solidFill>
                <a:srgbClr val="252B36"/>
              </a:solidFill>
              <a:latin typeface="微软雅黑" panose="020B0503020204020204" charset="-122"/>
            </a:endParaRPr>
          </a:p>
        </p:txBody>
      </p:sp>
      <p:sp>
        <p:nvSpPr>
          <p:cNvPr id="13" name="Rounded Rectangle 12"/>
          <p:cNvSpPr/>
          <p:nvPr/>
        </p:nvSpPr>
        <p:spPr>
          <a:xfrm>
            <a:off x="777240" y="4956048"/>
            <a:ext cx="10332720" cy="960120"/>
          </a:xfrm>
          <a:prstGeom prst="roundRect">
            <a:avLst/>
          </a:prstGeom>
          <a:solidFill>
            <a:srgbClr val="F4F7FC"/>
          </a:solidFill>
          <a:ln w="12700">
            <a:solidFill>
              <a:srgbClr val="CDD6E2"/>
            </a:solidFill>
          </a:ln>
        </p:spPr>
        <p:style>
          <a:lnRef idx="1">
            <a:schemeClr val="accent1"/>
          </a:lnRef>
          <a:fillRef idx="3">
            <a:schemeClr val="accent1"/>
          </a:fillRef>
          <a:effectRef idx="2">
            <a:schemeClr val="accent1"/>
          </a:effectRef>
          <a:fontRef idx="minor">
            <a:schemeClr val="lt1"/>
          </a:fontRef>
        </p:style>
        <p:txBody>
          <a:bodyPr wrap="square" lIns="73152" rIns="73152" rtlCol="0" anchor="t"/>
          <a:lstStyle/>
          <a:p>
            <a:pPr algn="l">
              <a:spcAft>
                <a:spcPts val="200"/>
              </a:spcAft>
            </a:pPr>
            <a:r>
              <a:rPr sz="1160" b="0">
                <a:solidFill>
                  <a:srgbClr val="122D57"/>
                </a:solidFill>
                <a:latin typeface="微软雅黑" panose="020B0503020204020204" charset="-122"/>
              </a:rPr>
              <a:t>• 建议汇报口径：一期先上线 25 个模块，把监造主业务真正跑通并稳定运行；同步建设服务器、数据库、安全和网络底座；二期再把防造假和资源库 / AI 能力叠加上来。</a:t>
            </a:r>
            <a:endParaRPr sz="1160" b="0">
              <a:solidFill>
                <a:srgbClr val="122D57"/>
              </a:solidFill>
              <a:latin typeface="微软雅黑" panose="020B0503020204020204" charset="-122"/>
            </a:endParaRPr>
          </a:p>
          <a:p>
            <a:pPr algn="l">
              <a:spcAft>
                <a:spcPts val="200"/>
              </a:spcAft>
            </a:pPr>
            <a:r>
              <a:rPr sz="1160" b="0">
                <a:solidFill>
                  <a:srgbClr val="122D57"/>
                </a:solidFill>
                <a:latin typeface="微软雅黑" panose="020B0503020204020204" charset="-122"/>
              </a:rPr>
              <a:t>• 这样汇报给甲方，既能看到系统功能拆解，也能看到项目怎么落地、软硬件什么时候进场、为什么两项增强能力要放到二期。</a:t>
            </a:r>
            <a:endParaRPr sz="1160" b="0">
              <a:solidFill>
                <a:srgbClr val="122D57"/>
              </a:solidFill>
              <a:latin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351.36,&quot;left&quot;:57.95,&quot;top&quot;:123.84,&quot;width&quot;:836.9500000000002}"/>
</p:tagLst>
</file>

<file path=ppt/tags/tag2.xml><?xml version="1.0" encoding="utf-8"?>
<p:tagLst xmlns:p="http://schemas.openxmlformats.org/presentationml/2006/main">
  <p:tag name="KSO_WM_DIAGRAM_VIRTUALLY_FRAME" val="{&quot;height&quot;:351.36,&quot;left&quot;:57.95,&quot;top&quot;:123.84,&quot;width&quot;:836.9500000000002}"/>
</p:tagLst>
</file>

<file path=ppt/tags/tag3.xml><?xml version="1.0" encoding="utf-8"?>
<p:tagLst xmlns:p="http://schemas.openxmlformats.org/presentationml/2006/main">
  <p:tag name="KSO_WM_DIAGRAM_VIRTUALLY_FRAME" val="{&quot;height&quot;:351.36,&quot;left&quot;:57.95,&quot;top&quot;:123.84,&quot;width&quot;:836.9500000000002}"/>
</p:tagLst>
</file>

<file path=ppt/tags/tag4.xml><?xml version="1.0" encoding="utf-8"?>
<p:tagLst xmlns:p="http://schemas.openxmlformats.org/presentationml/2006/main">
  <p:tag name="KSO_WM_DIAGRAM_VIRTUALLY_FRAME" val="{&quot;height&quot;:351.36,&quot;left&quot;:57.95,&quot;top&quot;:123.84,&quot;width&quot;:836.9500000000002}"/>
</p:tagLst>
</file>

<file path=ppt/tags/tag5.xml><?xml version="1.0" encoding="utf-8"?>
<p:tagLst xmlns:p="http://schemas.openxmlformats.org/presentationml/2006/main">
  <p:tag name="KSO_WM_DIAGRAM_VIRTUALLY_FRAME" val="{&quot;height&quot;:351.36,&quot;left&quot;:57.95,&quot;top&quot;:123.84,&quot;width&quot;:836.9500000000002}"/>
</p:tagLst>
</file>

<file path=ppt/tags/tag6.xml><?xml version="1.0" encoding="utf-8"?>
<p:tagLst xmlns:p="http://schemas.openxmlformats.org/presentationml/2006/main">
  <p:tag name="KSO_WM_DIAGRAM_VIRTUALLY_FRAME" val="{&quot;height&quot;:351.36,&quot;left&quot;:57.95,&quot;top&quot;:123.84,&quot;width&quot;:836.9500000000002}"/>
</p:tagLst>
</file>

<file path=ppt/tags/tag7.xml><?xml version="1.0" encoding="utf-8"?>
<p:tagLst xmlns:p="http://schemas.openxmlformats.org/presentationml/2006/main">
  <p:tag name="KSO_WM_DIAGRAM_VIRTUALLY_FRAME" val="{&quot;height&quot;:351.36,&quot;left&quot;:57.95,&quot;top&quot;:123.84,&quot;width&quot;:836.9500000000002}"/>
</p:tagLst>
</file>

<file path=ppt/tags/tag8.xml><?xml version="1.0" encoding="utf-8"?>
<p:tagLst xmlns:p="http://schemas.openxmlformats.org/presentationml/2006/main">
  <p:tag name="KSO_WM_DIAGRAM_VIRTUALLY_FRAME" val="{&quot;height&quot;:351.36,&quot;left&quot;:57.95,&quot;top&quot;:123.84,&quot;width&quot;:836.9500000000002}"/>
</p:tagLst>
</file>

<file path=ppt/tags/tag9.xml><?xml version="1.0" encoding="utf-8"?>
<p:tagLst xmlns:p="http://schemas.openxmlformats.org/presentationml/2006/main">
  <p:tag name="KSO_WM_DIAGRAM_VIRTUALLY_FRAME" val="{&quot;height&quot;:351.36,&quot;left&quot;:57.95,&quot;top&quot;:123.84,&quot;width&quot;:836.9500000000002}"/>
</p:tagLst>
</file>

<file path=ppt/tags/tag10.xml><?xml version="1.0" encoding="utf-8"?>
<p:tagLst xmlns:p="http://schemas.openxmlformats.org/presentationml/2006/main">
  <p:tag name="KSO_WM_DIAGRAM_VIRTUALLY_FRAME" val="{&quot;height&quot;:351.36,&quot;left&quot;:57.95,&quot;top&quot;:123.84,&quot;width&quot;:836.950000000000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19777</Words>
  <Application>WPS 演示</Application>
  <PresentationFormat>On-screen Show (4:3)</PresentationFormat>
  <Paragraphs>1618</Paragraphs>
  <Slides>36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36</vt:i4>
      </vt:variant>
    </vt:vector>
  </HeadingPairs>
  <TitlesOfParts>
    <vt:vector size="44" baseType="lpstr">
      <vt:lpstr>Arial</vt:lpstr>
      <vt:lpstr>宋体</vt:lpstr>
      <vt:lpstr>Wingdings</vt:lpstr>
      <vt:lpstr>Arial</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不要说话</cp:lastModifiedBy>
  <cp:revision>6</cp:revision>
  <dcterms:created xsi:type="dcterms:W3CDTF">2013-01-27T09:14:00Z</dcterms:created>
  <dcterms:modified xsi:type="dcterms:W3CDTF">2026-04-08T16:30:49Z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86A1176B52144DC2A698A0E472E9C20E_12</vt:lpwstr>
  </property>
  <property fmtid="{D5CDD505-2E9C-101B-9397-08002B2CF9AE}" pid="3" name="KSOProductBuildVer">
    <vt:lpwstr>2052-12.1.0.25225</vt:lpwstr>
  </property>
</Properties>
</file>